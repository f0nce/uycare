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4ccd9f13cf24bd2" /><Relationship Type="http://schemas.openxmlformats.org/officeDocument/2006/relationships/extended-properties" Target="/docProps/app.xml" Id="R2d2d9337f7f74551" /><Relationship Type="http://schemas.openxmlformats.org/officeDocument/2006/relationships/officeDocument" Target="/ppt/presentation.xml" Id="R5664150aacf546aa" /></Relationships>
</file>

<file path=ppt/presentation.xml><?xml version="1.0" encoding="utf-8"?>
<p:presentation xmlns:p="http://schemas.openxmlformats.org/presentationml/2006/main">
  <p:sldMasterIdLst>
    <p:sldMasterId xmlns:r="http://schemas.openxmlformats.org/officeDocument/2006/relationships" id="2147483648" r:id="R5bc38b1e77604671"/>
  </p:sldMasterIdLst>
  <p:notesMasterIdLst>
    <p:notesMasterId xmlns:r="http://schemas.openxmlformats.org/officeDocument/2006/relationships" r:id="Rcf5bceb6c8d6463f"/>
  </p:notesMasterIdLst>
  <p:sldIdLst>
    <p:sldId xmlns:r="http://schemas.openxmlformats.org/officeDocument/2006/relationships" id="256" r:id="R73eb55eba9e247c0"/>
    <p:sldId xmlns:r="http://schemas.openxmlformats.org/officeDocument/2006/relationships" id="257" r:id="R26d96c5995c342da"/>
    <p:sldId xmlns:r="http://schemas.openxmlformats.org/officeDocument/2006/relationships" id="258" r:id="Rf55fb66a3eef45d7"/>
    <p:sldId xmlns:r="http://schemas.openxmlformats.org/officeDocument/2006/relationships" id="259" r:id="R97f7f16befb641d4"/>
    <p:sldId xmlns:r="http://schemas.openxmlformats.org/officeDocument/2006/relationships" id="260" r:id="R5425ddeeeb1a431f"/>
    <p:sldId xmlns:r="http://schemas.openxmlformats.org/officeDocument/2006/relationships" id="261" r:id="R004729dff1284446"/>
    <p:sldId xmlns:r="http://schemas.openxmlformats.org/officeDocument/2006/relationships" id="262" r:id="Rc68512433b574f4d"/>
    <p:sldId xmlns:r="http://schemas.openxmlformats.org/officeDocument/2006/relationships" id="263" r:id="R10f05d8dc5a540ae"/>
    <p:sldId xmlns:r="http://schemas.openxmlformats.org/officeDocument/2006/relationships" id="264" r:id="Rbe5bfa7416fd4b2c"/>
    <p:sldId xmlns:r="http://schemas.openxmlformats.org/officeDocument/2006/relationships" id="265" r:id="R9b5dc82356404b27"/>
    <p:sldId xmlns:r="http://schemas.openxmlformats.org/officeDocument/2006/relationships" id="266" r:id="Raf92a6ad3b5144e8"/>
    <p:sldId xmlns:r="http://schemas.openxmlformats.org/officeDocument/2006/relationships" id="267" r:id="Ra3bac7e11a6e49bd"/>
    <p:sldId xmlns:r="http://schemas.openxmlformats.org/officeDocument/2006/relationships" id="268" r:id="R98b9309745ad4120"/>
    <p:sldId xmlns:r="http://schemas.openxmlformats.org/officeDocument/2006/relationships" id="269" r:id="Rbb91bb70fa87427f"/>
    <p:sldId xmlns:r="http://schemas.openxmlformats.org/officeDocument/2006/relationships" id="270" r:id="R66d179ded5f74787"/>
    <p:sldId xmlns:r="http://schemas.openxmlformats.org/officeDocument/2006/relationships" id="271" r:id="R4a467c3b38224116"/>
    <p:sldId xmlns:r="http://schemas.openxmlformats.org/officeDocument/2006/relationships" id="272" r:id="R9631e1e287db4c6c"/>
    <p:sldId xmlns:r="http://schemas.openxmlformats.org/officeDocument/2006/relationships" id="273" r:id="R6baa9e14fd1a4101"/>
    <p:sldId xmlns:r="http://schemas.openxmlformats.org/officeDocument/2006/relationships" id="274" r:id="R3732bcc0ae4b4704"/>
    <p:sldId xmlns:r="http://schemas.openxmlformats.org/officeDocument/2006/relationships" id="275" r:id="Rb1141c72c9404ece"/>
    <p:sldId xmlns:r="http://schemas.openxmlformats.org/officeDocument/2006/relationships" id="276" r:id="R2320082ec12e486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d8335a612064598" /><Relationship Type="http://schemas.openxmlformats.org/officeDocument/2006/relationships/slideMaster" Target="/ppt/slideMasters/slideMaster1.xml" Id="R5bc38b1e77604671" /><Relationship Type="http://schemas.openxmlformats.org/officeDocument/2006/relationships/notesMaster" Target="/ppt/notesMasters/notesMaster1.xml" Id="Rcf5bceb6c8d6463f" /><Relationship Type="http://schemas.openxmlformats.org/officeDocument/2006/relationships/presProps" Target="/ppt/presProps.xml" Id="R35ed9c4ae59246ac" /><Relationship Type="http://schemas.openxmlformats.org/officeDocument/2006/relationships/tableStyles" Target="/ppt/tableStyles.xml" Id="Rd0024438512e4a94" /><Relationship Type="http://schemas.openxmlformats.org/officeDocument/2006/relationships/slide" Target="/ppt/slides/slide1.xml" Id="R73eb55eba9e247c0" /><Relationship Type="http://schemas.openxmlformats.org/officeDocument/2006/relationships/slide" Target="/ppt/slides/slide2.xml" Id="R26d96c5995c342da" /><Relationship Type="http://schemas.openxmlformats.org/officeDocument/2006/relationships/slide" Target="/ppt/slides/slide3.xml" Id="Rf55fb66a3eef45d7" /><Relationship Type="http://schemas.openxmlformats.org/officeDocument/2006/relationships/slide" Target="/ppt/slides/slide4.xml" Id="R97f7f16befb641d4" /><Relationship Type="http://schemas.openxmlformats.org/officeDocument/2006/relationships/slide" Target="/ppt/slides/slide5.xml" Id="R5425ddeeeb1a431f" /><Relationship Type="http://schemas.openxmlformats.org/officeDocument/2006/relationships/slide" Target="/ppt/slides/slide6.xml" Id="R004729dff1284446" /><Relationship Type="http://schemas.openxmlformats.org/officeDocument/2006/relationships/slide" Target="/ppt/slides/slide7.xml" Id="Rc68512433b574f4d" /><Relationship Type="http://schemas.openxmlformats.org/officeDocument/2006/relationships/slide" Target="/ppt/slides/slide8.xml" Id="R10f05d8dc5a540ae" /><Relationship Type="http://schemas.openxmlformats.org/officeDocument/2006/relationships/slide" Target="/ppt/slides/slide9.xml" Id="Rbe5bfa7416fd4b2c" /><Relationship Type="http://schemas.openxmlformats.org/officeDocument/2006/relationships/slide" Target="/ppt/slides/slide10.xml" Id="R9b5dc82356404b27" /><Relationship Type="http://schemas.openxmlformats.org/officeDocument/2006/relationships/slide" Target="/ppt/slides/slide11.xml" Id="Raf92a6ad3b5144e8" /><Relationship Type="http://schemas.openxmlformats.org/officeDocument/2006/relationships/slide" Target="/ppt/slides/slide12.xml" Id="Ra3bac7e11a6e49bd" /><Relationship Type="http://schemas.openxmlformats.org/officeDocument/2006/relationships/slide" Target="/ppt/slides/slide13.xml" Id="R98b9309745ad4120" /><Relationship Type="http://schemas.openxmlformats.org/officeDocument/2006/relationships/slide" Target="/ppt/slides/slide14.xml" Id="Rbb91bb70fa87427f" /><Relationship Type="http://schemas.openxmlformats.org/officeDocument/2006/relationships/slide" Target="/ppt/slides/slide15.xml" Id="R66d179ded5f74787" /><Relationship Type="http://schemas.openxmlformats.org/officeDocument/2006/relationships/slide" Target="/ppt/slides/slide16.xml" Id="R4a467c3b38224116" /><Relationship Type="http://schemas.openxmlformats.org/officeDocument/2006/relationships/slide" Target="/ppt/slides/slide17.xml" Id="R9631e1e287db4c6c" /><Relationship Type="http://schemas.openxmlformats.org/officeDocument/2006/relationships/slide" Target="/ppt/slides/slide18.xml" Id="R6baa9e14fd1a4101" /><Relationship Type="http://schemas.openxmlformats.org/officeDocument/2006/relationships/slide" Target="/ppt/slides/slide19.xml" Id="R3732bcc0ae4b4704" /><Relationship Type="http://schemas.openxmlformats.org/officeDocument/2006/relationships/slide" Target="/ppt/slides/slide20.xml" Id="Rb1141c72c9404ece" /><Relationship Type="http://schemas.openxmlformats.org/officeDocument/2006/relationships/slide" Target="/ppt/slides/slide21.xml" Id="R2320082ec12e486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106137a6c1b454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ca193e699cb43df" /><Relationship Type="http://schemas.openxmlformats.org/officeDocument/2006/relationships/notesMaster" Target="/ppt/notesMasters/notesMaster1.xml" Id="R6f34fb640e7b46f2" /></Relationships>
</file>

<file path=ppt/notesSlides/_rels/notesSlide2.xml.rels>&#65279;<?xml version="1.0" encoding="utf-8"?><Relationships xmlns="http://schemas.openxmlformats.org/package/2006/relationships"><Relationship Type="http://schemas.openxmlformats.org/officeDocument/2006/relationships/slide" Target="/ppt/slides/slide2.xml" Id="R52150b3ab441491c" /><Relationship Type="http://schemas.openxmlformats.org/officeDocument/2006/relationships/notesMaster" Target="/ppt/notesMasters/notesMaster1.xml" Id="Re83098958e434292" /></Relationships>
</file>

<file path=ppt/notesSlides/_rels/notesSlide3.xml.rels>&#65279;<?xml version="1.0" encoding="utf-8"?><Relationships xmlns="http://schemas.openxmlformats.org/package/2006/relationships"><Relationship Type="http://schemas.openxmlformats.org/officeDocument/2006/relationships/slide" Target="/ppt/slides/slide3.xml" Id="R49b3aa635b0946af" /><Relationship Type="http://schemas.openxmlformats.org/officeDocument/2006/relationships/notesMaster" Target="/ppt/notesMasters/notesMaster1.xml" Id="R8ba756d600fb43fb" /></Relationships>
</file>

<file path=ppt/notesSlides/_rels/notesSlide4.xml.rels>&#65279;<?xml version="1.0" encoding="utf-8"?><Relationships xmlns="http://schemas.openxmlformats.org/package/2006/relationships"><Relationship Type="http://schemas.openxmlformats.org/officeDocument/2006/relationships/slide" Target="/ppt/slides/slide4.xml" Id="Rf31068e4e1034246" /><Relationship Type="http://schemas.openxmlformats.org/officeDocument/2006/relationships/notesMaster" Target="/ppt/notesMasters/notesMaster1.xml" Id="R50a41015c3e8497c" /></Relationships>
</file>

<file path=ppt/notesSlides/_rels/notesSlide5.xml.rels>&#65279;<?xml version="1.0" encoding="utf-8"?><Relationships xmlns="http://schemas.openxmlformats.org/package/2006/relationships"><Relationship Type="http://schemas.openxmlformats.org/officeDocument/2006/relationships/slide" Target="/ppt/slides/slide5.xml" Id="R3b0a503626af4b92" /><Relationship Type="http://schemas.openxmlformats.org/officeDocument/2006/relationships/notesMaster" Target="/ppt/notesMasters/notesMaster1.xml" Id="Rffbf699405214479" /></Relationships>
</file>

<file path=ppt/notesSlides/_rels/notesSlide6.xml.rels>&#65279;<?xml version="1.0" encoding="utf-8"?><Relationships xmlns="http://schemas.openxmlformats.org/package/2006/relationships"><Relationship Type="http://schemas.openxmlformats.org/officeDocument/2006/relationships/slide" Target="/ppt/slides/slide6.xml" Id="R293337634a5c406c" /><Relationship Type="http://schemas.openxmlformats.org/officeDocument/2006/relationships/notesMaster" Target="/ppt/notesMasters/notesMaster1.xml" Id="R511f10ba68de44eb" /></Relationships>
</file>

<file path=ppt/notesSlides/_rels/notesSlide7.xml.rels>&#65279;<?xml version="1.0" encoding="utf-8"?><Relationships xmlns="http://schemas.openxmlformats.org/package/2006/relationships"><Relationship Type="http://schemas.openxmlformats.org/officeDocument/2006/relationships/slide" Target="/ppt/slides/slide7.xml" Id="Ra88c14b9fcd44725" /><Relationship Type="http://schemas.openxmlformats.org/officeDocument/2006/relationships/notesMaster" Target="/ppt/notesMasters/notesMaster1.xml" Id="R9b716236ed3f4452" /></Relationships>
</file>

<file path=ppt/notesSlides/_rels/notesSlide8.xml.rels>&#65279;<?xml version="1.0" encoding="utf-8"?><Relationships xmlns="http://schemas.openxmlformats.org/package/2006/relationships"><Relationship Type="http://schemas.openxmlformats.org/officeDocument/2006/relationships/slide" Target="/ppt/slides/slide8.xml" Id="R18a61dd104c84e72" /><Relationship Type="http://schemas.openxmlformats.org/officeDocument/2006/relationships/notesMaster" Target="/ppt/notesMasters/notesMaster1.xml" Id="Ra514af6309b04673" /></Relationships>
</file>

<file path=ppt/notesSlides/_rels/notesSlide9.xml.rels>&#65279;<?xml version="1.0" encoding="utf-8"?><Relationships xmlns="http://schemas.openxmlformats.org/package/2006/relationships"><Relationship Type="http://schemas.openxmlformats.org/officeDocument/2006/relationships/slide" Target="/ppt/slides/slide9.xml" Id="R4eb5e3b182154492" /><Relationship Type="http://schemas.openxmlformats.org/officeDocument/2006/relationships/notesMaster" Target="/ppt/notesMasters/notesMaster1.xml" Id="Rd5f4d4b7f14a454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a5646c701b0484d" /><Relationship Type="http://schemas.openxmlformats.org/officeDocument/2006/relationships/notesMaster" Target="/ppt/notesMasters/notesMaster1.xml" Id="Rb5362733b74e42e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c47bcb18583450c" /><Relationship Type="http://schemas.openxmlformats.org/officeDocument/2006/relationships/notesMaster" Target="/ppt/notesMasters/notesMaster1.xml" Id="R06e823c78dc44d7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d3e118f7f524e60" /><Relationship Type="http://schemas.openxmlformats.org/officeDocument/2006/relationships/notesMaster" Target="/ppt/notesMasters/notesMaster1.xml" Id="R3c8fdc77c80f49b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590315399b44993" /><Relationship Type="http://schemas.openxmlformats.org/officeDocument/2006/relationships/notesMaster" Target="/ppt/notesMasters/notesMaster1.xml" Id="Rd8521c2cbcd8479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849d3e8d66f4349" /><Relationship Type="http://schemas.openxmlformats.org/officeDocument/2006/relationships/notesMaster" Target="/ppt/notesMasters/notesMaster1.xml" Id="R40886e9f1e95446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057db74c32e4b32" /><Relationship Type="http://schemas.openxmlformats.org/officeDocument/2006/relationships/notesMaster" Target="/ppt/notesMasters/notesMaster1.xml" Id="Rd66022c4ac864c4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a5ddf700baa4384" /><Relationship Type="http://schemas.openxmlformats.org/officeDocument/2006/relationships/notesMaster" Target="/ppt/notesMasters/notesMaster1.xml" Id="R488866d1008d4ea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7b4563044c64d1a" /><Relationship Type="http://schemas.openxmlformats.org/officeDocument/2006/relationships/notesMaster" Target="/ppt/notesMasters/notesMaster1.xml" Id="R952ce3932ab349c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9766b92f6fd4412" /><Relationship Type="http://schemas.openxmlformats.org/officeDocument/2006/relationships/notesMaster" Target="/ppt/notesMasters/notesMaster1.xml" Id="Rff6efd6d2888414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c55caac3b924002" /><Relationship Type="http://schemas.openxmlformats.org/officeDocument/2006/relationships/notesMaster" Target="/ppt/notesMasters/notesMaster1.xml" Id="R352c845abaa5442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c7b36faa1474473" /><Relationship Type="http://schemas.openxmlformats.org/officeDocument/2006/relationships/notesMaster" Target="/ppt/notesMasters/notesMaster1.xml" Id="R1f98d76dfda8424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6c6768201af4242" /><Relationship Type="http://schemas.openxmlformats.org/officeDocument/2006/relationships/notesMaster" Target="/ppt/notesMasters/notesMaster1.xml" Id="R3f2c29418a2a4a9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the formal diploma title, team and supervisor. This is first pre-defense preparation, not a completed application.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team reports difficulty judging unfamiliar repair providers. This is a hypothesis. Official competitors already support parts of the idea. Avoid saying there is no service for finding masters. Validate local problems with actual discussions.</a:t>
            </a:r>
          </a:p>
          <a:p xmlns:a="http://schemas.openxmlformats.org/drawingml/2006/main">
            <a:r>
              <a:t/>
            </a:r>
          </a:p>
          <a:p xmlns:a="http://schemas.openxmlformats.org/drawingml/2006/main">
            <a:r>
              <a:t>Sources accessed 21 October 2026:</a:t>
            </a:r>
          </a:p>
          <a:p xmlns:a="http://schemas.openxmlformats.org/drawingml/2006/main">
            <a:r>
              <a:t>S11 Service marketplace homepage https://profi.kz/</a:t>
            </a:r>
          </a:p>
          <a:p xmlns:a="http://schemas.openxmlformats.org/drawingml/2006/main">
            <a:r>
              <a:t>S12 How Taskrabbit Works https://www.taskrabbit.com/how-it-works</a:t>
            </a:r>
          </a:p>
          <a:p xmlns:a="http://schemas.openxmlformats.org/drawingml/2006/main">
            <a:r>
              <a:t>S13 How it works https://www.airtasker.com/au/how-it-works/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distinct private-property and shared-area scenarios. OSI/KSK membership is an authorization model, not legal certification. The aim includes implementation and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team chose repair on demand. Payments inside the application are not needed for the initial MVP. Flutter is fixed. The prototype is HTML interaction design, not the final client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interviews or client agreement exist yet. The requirement remains open. Target five discussions across three user perspectives; use neutral questions about the most recent real repair. Retain consented anonymised findings and link changes to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report contains 23 used sources, including eight published scientific papers and two additional research reports. These five sources change governance and evaluation decisions. Their settings do not directly validate Kazakhstan repair demand.</a:t>
            </a:r>
          </a:p>
          <a:p xmlns:a="http://schemas.openxmlformats.org/drawingml/2006/main">
            <a:r>
              <a:t/>
            </a:r>
          </a:p>
          <a:p xmlns:a="http://schemas.openxmlformats.org/drawingml/2006/main">
            <a:r>
              <a:t>Sources accessed 21 October 2026:</a:t>
            </a:r>
          </a:p>
          <a:p xmlns:a="http://schemas.openxmlformats.org/drawingml/2006/main">
            <a:r>
              <a:t>S01 HRM models of online labor platforms: Strategies of market and corporate logics https://doi.org/10.3389/fsoc.2022.980301</a:t>
            </a:r>
          </a:p>
          <a:p xmlns:a="http://schemas.openxmlformats.org/drawingml/2006/main">
            <a:r>
              <a:t>S02 Red flags, sob stories, and scams: The contested meaning of governance on carework labor platforms https://doi.org/10.1177/14614448221099233</a:t>
            </a:r>
          </a:p>
          <a:p xmlns:a="http://schemas.openxmlformats.org/drawingml/2006/main">
            <a:r>
              <a:t>S03 Datasheets for Datasets https://doi.org/10.1145/3458723</a:t>
            </a:r>
          </a:p>
          <a:p xmlns:a="http://schemas.openxmlformats.org/drawingml/2006/main">
            <a:r>
              <a:t>S04 Leakage and the reproducibility crisis in machine-learning-based science https://doi.org/10.1016/j.patter.2023.100804</a:t>
            </a:r>
          </a:p>
          <a:p xmlns:a="http://schemas.openxmlformats.org/drawingml/2006/main">
            <a:r>
              <a:t>S05 Recent Advancements and Challenges of Turkic Central Asian Language Processing https://aclanthology.org/2025.loreslm-1.25/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foundational papers explain the representations behind later models. SetFit and E5 are additional research reports, not counted toward the minimum eight published scientific works. General benchmark results do not establish UyCare accuracy.</a:t>
            </a:r>
          </a:p>
          <a:p xmlns:a="http://schemas.openxmlformats.org/drawingml/2006/main">
            <a:r>
              <a:t/>
            </a:r>
          </a:p>
          <a:p xmlns:a="http://schemas.openxmlformats.org/drawingml/2006/main">
            <a:r>
              <a:t>Sources accessed 21 October 2026:</a:t>
            </a:r>
          </a:p>
          <a:p xmlns:a="http://schemas.openxmlformats.org/drawingml/2006/main">
            <a:r>
              <a:t>S06 MTEB: Massive Text Embedding Benchmark https://aclanthology.org/2023.eacl-main.148/</a:t>
            </a:r>
          </a:p>
          <a:p xmlns:a="http://schemas.openxmlformats.org/drawingml/2006/main">
            <a:r>
              <a:t>S07 Unsupervised Cross-lingual Representation Learning at Scale https://aclanthology.org/2020.acl-main.747/</a:t>
            </a:r>
          </a:p>
          <a:p xmlns:a="http://schemas.openxmlformats.org/drawingml/2006/main">
            <a:r>
              <a:t>S08 Sentence-BERT: Sentence Embeddings using Siamese BERT-Networks https://aclanthology.org/D19-1410/</a:t>
            </a:r>
          </a:p>
          <a:p xmlns:a="http://schemas.openxmlformats.org/drawingml/2006/main">
            <a:r>
              <a:t>S09 Efficient Few-Shot Learning Without Prompts https://arxiv.org/abs/2209.11055</a:t>
            </a:r>
          </a:p>
          <a:p xmlns:a="http://schemas.openxmlformats.org/drawingml/2006/main">
            <a:r>
              <a:t>S10 Multilingual E5 Text Embeddings: A Technical Report https://arxiv.org/abs/2402.05672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product descriptions, accessed 21 October 2026. The report uses ten criteria in total. Not established means unverified by the reviewed page, not absence. UyCare is proposed, not deployed.</a:t>
            </a:r>
          </a:p>
          <a:p xmlns:a="http://schemas.openxmlformats.org/drawingml/2006/main">
            <a:r>
              <a:t/>
            </a:r>
          </a:p>
          <a:p xmlns:a="http://schemas.openxmlformats.org/drawingml/2006/main">
            <a:r>
              <a:t>Sources accessed 21 October 2026:</a:t>
            </a:r>
          </a:p>
          <a:p xmlns:a="http://schemas.openxmlformats.org/drawingml/2006/main">
            <a:r>
              <a:t>S11 Service marketplace homepage https://profi.kz/</a:t>
            </a:r>
          </a:p>
          <a:p xmlns:a="http://schemas.openxmlformats.org/drawingml/2006/main">
            <a:r>
              <a:t>S12 How Taskrabbit Works https://www.taskrabbit.com/how-it-works</a:t>
            </a:r>
          </a:p>
          <a:p xmlns:a="http://schemas.openxmlformats.org/drawingml/2006/main">
            <a:r>
              <a:t>S13 How it works https://www.airtasker.com/au/how-it-works/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comparison does not assume that international products operate in Kazakhstan. Portfolio, chat and payment are only marked when explicitly supported by the reviewed page. The OSI/KSK and category-model row is unverified across reviewed pages.</a:t>
            </a:r>
          </a:p>
          <a:p xmlns:a="http://schemas.openxmlformats.org/drawingml/2006/main">
            <a:r>
              <a:t/>
            </a:r>
          </a:p>
          <a:p xmlns:a="http://schemas.openxmlformats.org/drawingml/2006/main">
            <a:r>
              <a:t>Sources accessed 21 October 2026:</a:t>
            </a:r>
          </a:p>
          <a:p xmlns:a="http://schemas.openxmlformats.org/drawingml/2006/main">
            <a:r>
              <a:t>S11 Service marketplace homepage https://profi.kz/</a:t>
            </a:r>
          </a:p>
          <a:p xmlns:a="http://schemas.openxmlformats.org/drawingml/2006/main">
            <a:r>
              <a:t>S12 How Taskrabbit Works https://www.taskrabbit.com/how-it-works</a:t>
            </a:r>
          </a:p>
          <a:p xmlns:a="http://schemas.openxmlformats.org/drawingml/2006/main">
            <a:r>
              <a:t>S13 How it works https://www.airtasker.com/au/how-it-works/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decisions each compare three alternatives in the report. Selection is an engineering judgement based on requirements, not a fabricated benchmark. MySQL and MongoDB also support transactions. Exact versions will be locked during implementation.</a:t>
            </a:r>
          </a:p>
          <a:p xmlns:a="http://schemas.openxmlformats.org/drawingml/2006/main">
            <a:r>
              <a:t/>
            </a:r>
          </a:p>
          <a:p xmlns:a="http://schemas.openxmlformats.org/drawingml/2006/main">
            <a:r>
              <a:t>Sources accessed 21 October 2026:</a:t>
            </a:r>
          </a:p>
          <a:p xmlns:a="http://schemas.openxmlformats.org/drawingml/2006/main">
            <a:r>
              <a:t>S14 Django REST framework https://www.django-rest-framework.org/</a:t>
            </a:r>
          </a:p>
          <a:p xmlns:a="http://schemas.openxmlformats.org/drawingml/2006/main">
            <a:r>
              <a:t>S15 About PostgreSQL https://www.postgresql.org/about/</a:t>
            </a:r>
          </a:p>
          <a:p xmlns:a="http://schemas.openxmlformats.org/drawingml/2006/main">
            <a:r>
              <a:t>S16 Django Channels https://channels.readthedocs.io/en/stable/</a:t>
            </a:r>
          </a:p>
          <a:p xmlns:a="http://schemas.openxmlformats.org/drawingml/2006/main">
            <a:r>
              <a:t>S17 FastAPI https://fastapi.tiangolo.com/</a:t>
            </a:r>
          </a:p>
          <a:p xmlns:a="http://schemas.openxmlformats.org/drawingml/2006/main">
            <a:r>
              <a:t>S18 NestJS documentation https://docs.nestjs.com/</a:t>
            </a:r>
          </a:p>
          <a:p xmlns:a="http://schemas.openxmlformats.org/drawingml/2006/main">
            <a:r>
              <a:t>S19 Introduction to InnoDB https://dev.mysql.com/doc/refman/8.4/en/innodb-introduction.html</a:t>
            </a:r>
          </a:p>
          <a:p xmlns:a="http://schemas.openxmlformats.org/drawingml/2006/main">
            <a:r>
              <a:t>S20 Transactions https://www.mongodb.com/docs/manual/core/transactions/</a:t>
            </a:r>
          </a:p>
          <a:p xmlns:a="http://schemas.openxmlformats.org/drawingml/2006/main">
            <a:r>
              <a:t>S21 Learn GraphQL https://graphql.org/learn/</a:t>
            </a:r>
          </a:p>
          <a:p xmlns:a="http://schemas.openxmlformats.org/drawingml/2006/main">
            <a:r>
              <a:t>S22 Introduction to gRPC https://grpc.io/docs/what-is-grpc/introduction/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repository defines 18 functional and 12 nonfunctional requirements, with priorities and tests. These are initial targets for review. A prototype action does not prove backend enforcement.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target system. The detailed context diagram is editable in diagrams/system-context.drawio. Payment and telephone calls remain outside the platform. Media storage is an external dependency.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Condensed actor view. The full editable UML use-case diagram includes profile/portfolio maintenance, reporting and membership moderation. Authentication and ownership are preconditions.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production architecture is a modular monolith. Persist messages before broadcast, authorize every object, and accept an offer in a database transaction. Optional Redis distributes chat events across processes; the database stores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prototype/index.html or the supplied preview. All profiles, offers and reviews are fictional. The browser stores only local demo state. The category assistant uses rules and must not be described as a trained classifier. Demonstrate the exception paths as well as the happy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dataset does not yet exist. The six labels are plumbing, electrical, heating/ventilation, appliance repair, furniture/carpentry and finishing. Russian and Kazakh are provisional evaluation languages, pending confirmation and data. A trained model is optional in the user flow, but the experiment must be reported honestly.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PostgreSQL for concurrency tests. Recruit five to eight users for a small controlled within-participant task comparison, alternating order and using matched fictional repair scenarios. The baseline is a prepared manual message workflow. Report individual outcomes and medians rather than claiming population-level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detailed responsibilities and dates are proposed. All students must make real, identifiable contributions and peer reviews. The final defense date is not yet confirmed. The YouTrack backlog contains 28 planned tasks, not imported live issues.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Discuss the highest risks honestly. The strongest mitigation is a bounded scope and early evidence collection. Do not claim that a planned fallback was already tested in production.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repository must remain f0nce/UyCare. A generated package cannot demonstrate historical progression or independent contribution. Use real task IDs after creating YouTrack, task branches, peer review and immutable submission tags. A preparation branch does not imply a reviewed main baseline.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Supervisor: Elvira Aitmukhambetovna. No substantive feedback has been supplied. Ask for review of scope, architecture, language/data plan and evaluation thresholds. Record actual comments and the changes they cause. The package is prepared for review but not evidence that all external rubric obligations have been fulfilled.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6dfb8d012554b0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b8da832e3e24a0b" /><Relationship Type="http://schemas.openxmlformats.org/officeDocument/2006/relationships/slideLayout" Target="/ppt/slideLayouts/slideLayout1.xml" Id="R400cc8af401547e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00cc8af401547e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55a658cb67c4267" /><Relationship Type="http://schemas.openxmlformats.org/officeDocument/2006/relationships/notesSlide" Target="/ppt/notesSlides/notesSlide1.xml" Id="Rff8e8a04275d429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d635605dee84bf9" /><Relationship Type="http://schemas.openxmlformats.org/officeDocument/2006/relationships/notesSlide" Target="/ppt/notesSlides/notesSlide2.xml" Id="Rfa301160ef224fb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8bd344cd273424a" /><Relationship Type="http://schemas.openxmlformats.org/officeDocument/2006/relationships/notesSlide" Target="/ppt/notesSlides/notesSlide3.xml" Id="Rfc2b804bf95f4f8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db4b8a40f294c68" /><Relationship Type="http://schemas.openxmlformats.org/officeDocument/2006/relationships/notesSlide" Target="/ppt/notesSlides/notesSlide4.xml" Id="R41d513afc6e9468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7ebd9115ecd4600" /><Relationship Type="http://schemas.openxmlformats.org/officeDocument/2006/relationships/notesSlide" Target="/ppt/notesSlides/notesSlide5.xml" Id="R4acd096687af4b0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b90c96708ce442e" /><Relationship Type="http://schemas.openxmlformats.org/officeDocument/2006/relationships/notesSlide" Target="/ppt/notesSlides/notesSlide6.xml" Id="R764c3512dfc14e0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d1b27162e864508" /><Relationship Type="http://schemas.openxmlformats.org/officeDocument/2006/relationships/notesSlide" Target="/ppt/notesSlides/notesSlide7.xml" Id="R935b92700bc041f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3aa9d2cebf24bec" /><Relationship Type="http://schemas.openxmlformats.org/officeDocument/2006/relationships/notesSlide" Target="/ppt/notesSlides/notesSlide8.xml" Id="R6f0289d830b64b4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9f398ed08ec40ae" /><Relationship Type="http://schemas.openxmlformats.org/officeDocument/2006/relationships/notesSlide" Target="/ppt/notesSlides/notesSlide9.xml" Id="Rc154ced9b8f9422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a5af072a1cd47b8" /><Relationship Type="http://schemas.openxmlformats.org/officeDocument/2006/relationships/notesSlide" Target="/ppt/notesSlides/notesSlide10.xml" Id="Rf291c8f22fd8406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793136c64fe45b8" /><Relationship Type="http://schemas.openxmlformats.org/officeDocument/2006/relationships/notesSlide" Target="/ppt/notesSlides/notesSlide11.xml" Id="Rd138f42ab03f42e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04d9a56a1924aa0" /><Relationship Type="http://schemas.openxmlformats.org/officeDocument/2006/relationships/notesSlide" Target="/ppt/notesSlides/notesSlide12.xml" Id="R9d0a473582484bf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f04c77c4d3d486b" /><Relationship Type="http://schemas.openxmlformats.org/officeDocument/2006/relationships/notesSlide" Target="/ppt/notesSlides/notesSlide13.xml" Id="R0b2a3fd7cc9345a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7831a045fa74de5" /><Relationship Type="http://schemas.openxmlformats.org/officeDocument/2006/relationships/notesSlide" Target="/ppt/notesSlides/notesSlide14.xml" Id="Ra841ad785ea34a5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f97c91ef8914f9b" /><Relationship Type="http://schemas.openxmlformats.org/officeDocument/2006/relationships/notesSlide" Target="/ppt/notesSlides/notesSlide15.xml" Id="R2ac5faebc6ee4ed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58ae72cd2d44ef3" /><Relationship Type="http://schemas.openxmlformats.org/officeDocument/2006/relationships/notesSlide" Target="/ppt/notesSlides/notesSlide16.xml" Id="Rabea612aad0848b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a95be638be54275" /><Relationship Type="http://schemas.openxmlformats.org/officeDocument/2006/relationships/notesSlide" Target="/ppt/notesSlides/notesSlide17.xml" Id="R0289adbef82b4c4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49f5502c32147bf" /><Relationship Type="http://schemas.openxmlformats.org/officeDocument/2006/relationships/notesSlide" Target="/ppt/notesSlides/notesSlide18.xml" Id="R0cb88e936bf346b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287918eda4b414f" /><Relationship Type="http://schemas.openxmlformats.org/officeDocument/2006/relationships/notesSlide" Target="/ppt/notesSlides/notesSlide19.xml" Id="Rb5dae46c0f4c468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4897a6da1494f68" /><Relationship Type="http://schemas.openxmlformats.org/officeDocument/2006/relationships/notesSlide" Target="/ppt/notesSlides/notesSlide20.xml" Id="Rc817071dc51a4bc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d4b46bc997a495b" /><Relationship Type="http://schemas.openxmlformats.org/officeDocument/2006/relationships/notesSlide" Target="/ppt/notesSlides/notesSlide21.xml" Id="R89dedfb629d6420e" /></Relationships>
</file>

<file path=ppt/slides/slide1.xml><?xml version="1.0" encoding="utf-8"?>
<p:sld xmlns:p="http://schemas.openxmlformats.org/presentationml/2006/main">
  <p:cSld>
    <p:bg>
      <p:bgPr>
        <a:solidFill xmlns:a="http://schemas.openxmlformats.org/drawingml/2006/main">
          <a:srgbClr val="FAFC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1491708-9060-4F4B-93ED-31FBBF6F2B8C}"/>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D34"/>
                </a:solidFill>
                <a:latin typeface="Arial"/>
                <a:ea typeface="Arial"/>
                <a:cs typeface="Arial"/>
              </a:defRPr>
            </a:pPr>
            <a:r>
              <a:rPr sz="3150" b="1">
                <a:solidFill>
                  <a:srgbClr val="183D34"/>
                </a:solidFill>
                <a:latin typeface="Arial"/>
                <a:ea typeface="Arial"/>
                <a:cs typeface="Arial"/>
              </a:rPr>
              <a:t>UyCare</a:t>
            </a:r>
          </a:p>
        </p:txBody>
      </p:sp>
      <p:sp>
        <p:nvSpPr>
          <p:cNvPr id="2" name="">
            <a:extLst xmlns:a="http://schemas.openxmlformats.org/drawingml/2006/main">
              <a:ext uri="{FF2B5EF4-FFF2-40B4-BE49-F238E27FC236}">
                <a16:creationId xmlns:a16="http://schemas.microsoft.com/office/drawing/2014/main" id="{D82EC9D1-5994-4D3A-8356-5A611DF55B4B}"/>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D7167"/>
                </a:solidFill>
                <a:latin typeface="Arial"/>
                <a:ea typeface="Arial"/>
                <a:cs typeface="Arial"/>
              </a:defRPr>
            </a:pPr>
            <a:r>
              <a:rPr sz="1125" b="0">
                <a:solidFill>
                  <a:srgbClr val="5D7167"/>
                </a:solidFill>
                <a:latin typeface="Arial"/>
                <a:ea typeface="Arial"/>
                <a:cs typeface="Arial"/>
              </a:rPr>
              <a:t>1</a:t>
            </a:r>
          </a:p>
        </p:txBody>
      </p:sp>
      <p:sp>
        <p:nvSpPr>
          <p:cNvPr id="3" name="">
            <a:extLst xmlns:a="http://schemas.openxmlformats.org/drawingml/2006/main">
              <a:ext uri="{FF2B5EF4-FFF2-40B4-BE49-F238E27FC236}">
                <a16:creationId xmlns:a16="http://schemas.microsoft.com/office/drawing/2014/main" id="{043FABA7-0695-44D3-AEDB-8D879470DE03}"/>
              </a:ext>
            </a:extLst>
          </p:cNvPr>
          <p:cNvSpPr>
            <a:spLocks xmlns:a="http://schemas.openxmlformats.org/drawingml/2006/main" noGrp="1"/>
          </p:cNvSpPr>
          <p:nvPr/>
        </p:nvSpPr>
        <p:spPr>
          <a:xfrm xmlns:a="http://schemas.openxmlformats.org/drawingml/2006/main">
            <a:off x="628650" y="1714500"/>
            <a:ext cx="10668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183D34"/>
                </a:solidFill>
                <a:latin typeface="Arial"/>
                <a:ea typeface="Arial"/>
                <a:cs typeface="Arial"/>
              </a:defRPr>
            </a:pPr>
            <a:r>
              <a:rPr sz="3150" b="0">
                <a:solidFill>
                  <a:srgbClr val="183D34"/>
                </a:solidFill>
                <a:latin typeface="Arial"/>
                <a:ea typeface="Arial"/>
                <a:cs typeface="Arial"/>
              </a:rPr>
              <a:t>Development of a Digital Platform for</a:t>
            </a:r>
          </a:p>
          <a:p xmlns:a="http://schemas.openxmlformats.org/drawingml/2006/main">
            <a:pPr>
              <a:defRPr sz="3150" b="0">
                <a:solidFill>
                  <a:srgbClr val="183D34"/>
                </a:solidFill>
                <a:latin typeface="Arial"/>
                <a:ea typeface="Arial"/>
                <a:cs typeface="Arial"/>
              </a:defRPr>
            </a:pPr>
            <a:r>
              <a:rPr sz="3150" b="0">
                <a:solidFill>
                  <a:srgbClr val="183D34"/>
                </a:solidFill>
                <a:latin typeface="Arial"/>
                <a:ea typeface="Arial"/>
                <a:cs typeface="Arial"/>
              </a:rPr>
              <a:t>Coordinating Repair and Maintenance Services</a:t>
            </a:r>
          </a:p>
          <a:p xmlns:a="http://schemas.openxmlformats.org/drawingml/2006/main">
            <a:pPr>
              <a:defRPr sz="3150" b="0">
                <a:solidFill>
                  <a:srgbClr val="183D34"/>
                </a:solidFill>
                <a:latin typeface="Arial"/>
                <a:ea typeface="Arial"/>
                <a:cs typeface="Arial"/>
              </a:defRPr>
            </a:pPr>
            <a:r>
              <a:rPr sz="3150" b="0">
                <a:solidFill>
                  <a:srgbClr val="183D34"/>
                </a:solidFill>
                <a:latin typeface="Arial"/>
                <a:ea typeface="Arial"/>
                <a:cs typeface="Arial"/>
              </a:rPr>
              <a:t>for Residential Complexes and Private Homes</a:t>
            </a:r>
          </a:p>
        </p:txBody>
      </p:sp>
      <p:sp>
        <p:nvSpPr>
          <p:cNvPr id="4" name="">
            <a:extLst xmlns:a="http://schemas.openxmlformats.org/drawingml/2006/main">
              <a:ext uri="{FF2B5EF4-FFF2-40B4-BE49-F238E27FC236}">
                <a16:creationId xmlns:a16="http://schemas.microsoft.com/office/drawing/2014/main" id="{95C58478-7905-47C2-8F9C-52B4CA9763EB}"/>
              </a:ext>
            </a:extLst>
          </p:cNvPr>
          <p:cNvSpPr>
            <a:spLocks xmlns:a="http://schemas.openxmlformats.org/drawingml/2006/main" noGrp="1"/>
          </p:cNvSpPr>
          <p:nvPr/>
        </p:nvSpPr>
        <p:spPr>
          <a:xfrm xmlns:a="http://schemas.openxmlformats.org/drawingml/2006/main">
            <a:off x="628650" y="4429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D34"/>
                </a:solidFill>
                <a:latin typeface="Arial"/>
                <a:ea typeface="Arial"/>
                <a:cs typeface="Arial"/>
              </a:defRPr>
            </a:pPr>
            <a:r>
              <a:rPr sz="1875" b="0">
                <a:solidFill>
                  <a:srgbClr val="183D34"/>
                </a:solidFill>
                <a:latin typeface="Arial"/>
                <a:ea typeface="Arial"/>
                <a:cs typeface="Arial"/>
              </a:rPr>
              <a:t>Akhmetov Kazbek  /  Uranov Daryn  /  Tazhibayev Marsel</a:t>
            </a:r>
          </a:p>
        </p:txBody>
      </p:sp>
      <p:sp>
        <p:nvSpPr>
          <p:cNvPr id="5" name="">
            <a:extLst xmlns:a="http://schemas.openxmlformats.org/drawingml/2006/main">
              <a:ext uri="{FF2B5EF4-FFF2-40B4-BE49-F238E27FC236}">
                <a16:creationId xmlns:a16="http://schemas.microsoft.com/office/drawing/2014/main" id="{AB90B242-6629-40F1-B455-157490F4DEA2}"/>
              </a:ext>
            </a:extLst>
          </p:cNvPr>
          <p:cNvSpPr>
            <a:spLocks xmlns:a="http://schemas.openxmlformats.org/drawingml/2006/main" noGrp="1"/>
          </p:cNvSpPr>
          <p:nvPr/>
        </p:nvSpPr>
        <p:spPr>
          <a:xfrm xmlns:a="http://schemas.openxmlformats.org/drawingml/2006/main">
            <a:off x="628650" y="51435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D7167"/>
                </a:solidFill>
                <a:latin typeface="Arial"/>
                <a:ea typeface="Arial"/>
                <a:cs typeface="Arial"/>
              </a:defRPr>
            </a:pPr>
            <a:r>
              <a:rPr sz="1725" b="0">
                <a:solidFill>
                  <a:srgbClr val="5D7167"/>
                </a:solidFill>
                <a:latin typeface="Arial"/>
                <a:ea typeface="Arial"/>
                <a:cs typeface="Arial"/>
              </a:rPr>
              <a:t>Supervisor: Elvira Aitmukhambetovna</a:t>
            </a:r>
          </a:p>
          <a:p xmlns:a="http://schemas.openxmlformats.org/drawingml/2006/main">
            <a:pPr>
              <a:defRPr sz="1725" b="0">
                <a:solidFill>
                  <a:srgbClr val="5D7167"/>
                </a:solidFill>
                <a:latin typeface="Arial"/>
                <a:ea typeface="Arial"/>
                <a:cs typeface="Arial"/>
              </a:defRPr>
            </a:pPr>
            <a:r>
              <a:rPr sz="1725" b="0">
                <a:solidFill>
                  <a:srgbClr val="5D7167"/>
                </a:solidFill>
                <a:latin typeface="Arial"/>
                <a:ea typeface="Arial"/>
                <a:cs typeface="Arial"/>
              </a:rPr>
              <a:t>First pre-defense preparation · 21 October 2026</a:t>
            </a:r>
          </a:p>
        </p:txBody>
      </p:sp>
    </p:spTree>
    <p:extLst>
      <p:ext uri="{BB962C8B-B14F-4D97-AF65-F5344CB8AC3E}">
        <p14:creationId xmlns:p14="http://schemas.microsoft.com/office/powerpoint/2010/main" val="1099899994"/>
      </p:ext>
    </p:extLst>
  </p:cSld>
</p:sld>
</file>

<file path=ppt/slides/slide2.xml><?xml version="1.0" encoding="utf-8"?>
<p:sld xmlns:p="http://schemas.openxmlformats.org/presentationml/2006/main">
  <p:cSld>
    <p:bg>
      <p:bgPr>
        <a:solidFill xmlns:a="http://schemas.openxmlformats.org/drawingml/2006/main">
          <a:srgbClr val="FAFC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A625696-967B-4B77-8A0D-B7C7FEE814D1}"/>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D34"/>
                </a:solidFill>
                <a:latin typeface="Arial"/>
                <a:ea typeface="Arial"/>
                <a:cs typeface="Arial"/>
              </a:defRPr>
            </a:pPr>
            <a:r>
              <a:rPr sz="3150" b="1">
                <a:solidFill>
                  <a:srgbClr val="183D34"/>
                </a:solidFill>
                <a:latin typeface="Arial"/>
                <a:ea typeface="Arial"/>
                <a:cs typeface="Arial"/>
              </a:rPr>
              <a:t>Problem and evidence</a:t>
            </a:r>
          </a:p>
        </p:txBody>
      </p:sp>
      <p:sp>
        <p:nvSpPr>
          <p:cNvPr id="2" name="">
            <a:extLst xmlns:a="http://schemas.openxmlformats.org/drawingml/2006/main">
              <a:ext uri="{FF2B5EF4-FFF2-40B4-BE49-F238E27FC236}">
                <a16:creationId xmlns:a16="http://schemas.microsoft.com/office/drawing/2014/main" id="{5FA32F01-8BF8-44DF-84FA-2003C0A93CEB}"/>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D7167"/>
                </a:solidFill>
                <a:latin typeface="Arial"/>
                <a:ea typeface="Arial"/>
                <a:cs typeface="Arial"/>
              </a:defRPr>
            </a:pPr>
            <a:r>
              <a:rPr sz="1125" b="0">
                <a:solidFill>
                  <a:srgbClr val="5D7167"/>
                </a:solidFill>
                <a:latin typeface="Arial"/>
                <a:ea typeface="Arial"/>
                <a:cs typeface="Arial"/>
              </a:rPr>
              <a:t>2</a:t>
            </a:r>
          </a:p>
        </p:txBody>
      </p:sp>
      <p:sp>
        <p:nvSpPr>
          <p:cNvPr id="3" name="">
            <a:extLst xmlns:a="http://schemas.openxmlformats.org/drawingml/2006/main">
              <a:ext uri="{FF2B5EF4-FFF2-40B4-BE49-F238E27FC236}">
                <a16:creationId xmlns:a16="http://schemas.microsoft.com/office/drawing/2014/main" id="{61BEF47A-F9F9-448B-B18A-D8234E2C744C}"/>
              </a:ext>
            </a:extLst>
          </p:cNvPr>
          <p:cNvSpPr>
            <a:spLocks xmlns:a="http://schemas.openxmlformats.org/drawingml/2006/main" noGrp="1"/>
          </p:cNvSpPr>
          <p:nvPr/>
        </p:nvSpPr>
        <p:spPr>
          <a:xfrm xmlns:a="http://schemas.openxmlformats.org/drawingml/2006/main">
            <a:off x="628650" y="1619250"/>
            <a:ext cx="5000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3D34"/>
                </a:solidFill>
                <a:latin typeface="Arial"/>
                <a:ea typeface="Arial"/>
                <a:cs typeface="Arial"/>
              </a:defRPr>
            </a:pPr>
            <a:r>
              <a:rPr sz="2250" b="1">
                <a:solidFill>
                  <a:srgbClr val="183D34"/>
                </a:solidFill>
                <a:latin typeface="Arial"/>
                <a:ea typeface="Arial"/>
                <a:cs typeface="Arial"/>
              </a:rPr>
              <a:t>Working problem</a:t>
            </a:r>
          </a:p>
        </p:txBody>
      </p:sp>
      <p:sp>
        <p:nvSpPr>
          <p:cNvPr id="4" name="">
            <a:extLst xmlns:a="http://schemas.openxmlformats.org/drawingml/2006/main">
              <a:ext uri="{FF2B5EF4-FFF2-40B4-BE49-F238E27FC236}">
                <a16:creationId xmlns:a16="http://schemas.microsoft.com/office/drawing/2014/main" id="{11A51C20-436D-4F7E-95AF-D90AC03777E8}"/>
              </a:ext>
            </a:extLst>
          </p:cNvPr>
          <p:cNvSpPr>
            <a:spLocks xmlns:a="http://schemas.openxmlformats.org/drawingml/2006/main" noGrp="1"/>
          </p:cNvSpPr>
          <p:nvPr/>
        </p:nvSpPr>
        <p:spPr>
          <a:xfrm xmlns:a="http://schemas.openxmlformats.org/drawingml/2006/main">
            <a:off x="628650" y="2257425"/>
            <a:ext cx="4953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D34"/>
                </a:solidFill>
                <a:latin typeface="Arial"/>
                <a:ea typeface="Arial"/>
                <a:cs typeface="Arial"/>
              </a:defRPr>
            </a:pPr>
            <a:r>
              <a:rPr sz="2100" b="0">
                <a:solidFill>
                  <a:srgbClr val="183D34"/>
                </a:solidFill>
                <a:latin typeface="Arial"/>
                <a:ea typeface="Arial"/>
                <a:cs typeface="Arial"/>
              </a:rPr>
              <a:t>Customers need to compare repair scope, price, availability and evidence of previous work.</a:t>
            </a:r>
          </a:p>
          <a:p xmlns:a="http://schemas.openxmlformats.org/drawingml/2006/main">
            <a:r>
              <a:t/>
            </a:r>
          </a:p>
          <a:p xmlns:a="http://schemas.openxmlformats.org/drawingml/2006/main">
            <a:pPr>
              <a:defRPr sz="2100" b="0">
                <a:solidFill>
                  <a:srgbClr val="183D34"/>
                </a:solidFill>
                <a:latin typeface="Arial"/>
                <a:ea typeface="Arial"/>
                <a:cs typeface="Arial"/>
              </a:defRPr>
            </a:pPr>
            <a:r>
              <a:rPr sz="2100" b="0">
                <a:solidFill>
                  <a:srgbClr val="183D34"/>
                </a:solidFill>
                <a:latin typeface="Arial"/>
                <a:ea typeface="Arial"/>
                <a:cs typeface="Arial"/>
              </a:rPr>
              <a:t>Agreements and progress can become fragmented across conversations.</a:t>
            </a:r>
          </a:p>
        </p:txBody>
      </p:sp>
      <p:sp>
        <p:nvSpPr>
          <p:cNvPr id="5" name="">
            <a:extLst xmlns:a="http://schemas.openxmlformats.org/drawingml/2006/main">
              <a:ext uri="{FF2B5EF4-FFF2-40B4-BE49-F238E27FC236}">
                <a16:creationId xmlns:a16="http://schemas.microsoft.com/office/drawing/2014/main" id="{7B438F7C-EFC3-4171-891C-9F8E28C2F1AF}"/>
              </a:ext>
            </a:extLst>
          </p:cNvPr>
          <p:cNvSpPr>
            <a:spLocks xmlns:a="http://schemas.openxmlformats.org/drawingml/2006/main" noGrp="1"/>
          </p:cNvSpPr>
          <p:nvPr/>
        </p:nvSpPr>
        <p:spPr>
          <a:xfrm xmlns:a="http://schemas.openxmlformats.org/drawingml/2006/main">
            <a:off x="6477000" y="1619250"/>
            <a:ext cx="5000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3D34"/>
                </a:solidFill>
                <a:latin typeface="Arial"/>
                <a:ea typeface="Arial"/>
                <a:cs typeface="Arial"/>
              </a:defRPr>
            </a:pPr>
            <a:r>
              <a:rPr sz="2250" b="1">
                <a:solidFill>
                  <a:srgbClr val="183D34"/>
                </a:solidFill>
                <a:latin typeface="Arial"/>
                <a:ea typeface="Arial"/>
                <a:cs typeface="Arial"/>
              </a:rPr>
              <a:t>What is established</a:t>
            </a:r>
          </a:p>
        </p:txBody>
      </p:sp>
      <p:sp>
        <p:nvSpPr>
          <p:cNvPr id="6" name="">
            <a:extLst xmlns:a="http://schemas.openxmlformats.org/drawingml/2006/main">
              <a:ext uri="{FF2B5EF4-FFF2-40B4-BE49-F238E27FC236}">
                <a16:creationId xmlns:a16="http://schemas.microsoft.com/office/drawing/2014/main" id="{6B2427B8-3673-4F7B-AEEF-E6FC19DB25F6}"/>
              </a:ext>
            </a:extLst>
          </p:cNvPr>
          <p:cNvSpPr>
            <a:spLocks xmlns:a="http://schemas.openxmlformats.org/drawingml/2006/main" noGrp="1"/>
          </p:cNvSpPr>
          <p:nvPr/>
        </p:nvSpPr>
        <p:spPr>
          <a:xfrm xmlns:a="http://schemas.openxmlformats.org/drawingml/2006/main">
            <a:off x="6477000" y="2257425"/>
            <a:ext cx="4953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D34"/>
                </a:solidFill>
                <a:latin typeface="Arial"/>
                <a:ea typeface="Arial"/>
                <a:cs typeface="Arial"/>
              </a:defRPr>
            </a:pPr>
            <a:r>
              <a:rPr sz="2100" b="0">
                <a:solidFill>
                  <a:srgbClr val="183D34"/>
                </a:solidFill>
                <a:latin typeface="Arial"/>
                <a:ea typeface="Arial"/>
                <a:cs typeface="Arial"/>
              </a:rPr>
              <a:t>Relevant marketplaces already exist.</a:t>
            </a:r>
          </a:p>
          <a:p xmlns:a="http://schemas.openxmlformats.org/drawingml/2006/main">
            <a:r>
              <a:t/>
            </a:r>
          </a:p>
          <a:p xmlns:a="http://schemas.openxmlformats.org/drawingml/2006/main">
            <a:pPr>
              <a:defRPr sz="2100" b="0">
                <a:solidFill>
                  <a:srgbClr val="183D34"/>
                </a:solidFill>
                <a:latin typeface="Arial"/>
                <a:ea typeface="Arial"/>
                <a:cs typeface="Arial"/>
              </a:defRPr>
            </a:pPr>
            <a:r>
              <a:rPr sz="2100" b="0">
                <a:solidFill>
                  <a:srgbClr val="183D34"/>
                </a:solidFill>
                <a:latin typeface="Arial"/>
                <a:ea typeface="Arial"/>
                <a:cs typeface="Arial"/>
              </a:rPr>
              <a:t>The proposed user problem has not yet been validated through local interviews.</a:t>
            </a:r>
          </a:p>
        </p:txBody>
      </p:sp>
      <p:sp>
        <p:nvSpPr>
          <p:cNvPr id="7" name="">
            <a:extLst xmlns:a="http://schemas.openxmlformats.org/drawingml/2006/main">
              <a:ext uri="{FF2B5EF4-FFF2-40B4-BE49-F238E27FC236}">
                <a16:creationId xmlns:a16="http://schemas.microsoft.com/office/drawing/2014/main" id="{251183C0-5EE4-4AE4-B072-E036FDB7694B}"/>
              </a:ext>
            </a:extLst>
          </p:cNvPr>
          <p:cNvSpPr>
            <a:spLocks xmlns:a="http://schemas.openxmlformats.org/drawingml/2006/main" noGrp="1"/>
          </p:cNvSpPr>
          <p:nvPr/>
        </p:nvSpPr>
        <p:spPr>
          <a:xfrm xmlns:a="http://schemas.openxmlformats.org/drawingml/2006/main">
            <a:off x="628650" y="573405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D34"/>
                </a:solidFill>
                <a:latin typeface="Arial"/>
                <a:ea typeface="Arial"/>
                <a:cs typeface="Arial"/>
              </a:defRPr>
            </a:pPr>
            <a:r>
              <a:rPr sz="1800" b="1">
                <a:solidFill>
                  <a:srgbClr val="183D34"/>
                </a:solidFill>
                <a:latin typeface="Arial"/>
                <a:ea typeface="Arial"/>
                <a:cs typeface="Arial"/>
              </a:rPr>
              <a:t>Research question: does UyCare improve defined coordination tasks for its target users?</a:t>
            </a:r>
          </a:p>
        </p:txBody>
      </p:sp>
    </p:spTree>
    <p:extLst>
      <p:ext uri="{BB962C8B-B14F-4D97-AF65-F5344CB8AC3E}">
        <p14:creationId xmlns:p14="http://schemas.microsoft.com/office/powerpoint/2010/main" val="1881679175"/>
      </p:ext>
    </p:extLst>
  </p:cSld>
</p:sld>
</file>

<file path=ppt/slides/slide3.xml><?xml version="1.0" encoding="utf-8"?>
<p:sld xmlns:p="http://schemas.openxmlformats.org/presentationml/2006/main">
  <p:cSld>
    <p:bg>
      <p:bgPr>
        <a:solidFill xmlns:a="http://schemas.openxmlformats.org/drawingml/2006/main">
          <a:srgbClr val="FAFC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A63E0DC-3FDB-4038-9538-86C96DEEADA4}"/>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D34"/>
                </a:solidFill>
                <a:latin typeface="Arial"/>
                <a:ea typeface="Arial"/>
                <a:cs typeface="Arial"/>
              </a:defRPr>
            </a:pPr>
            <a:r>
              <a:rPr sz="3150" b="1">
                <a:solidFill>
                  <a:srgbClr val="183D34"/>
                </a:solidFill>
                <a:latin typeface="Arial"/>
                <a:ea typeface="Arial"/>
                <a:cs typeface="Arial"/>
              </a:rPr>
              <a:t>Users and project aim</a:t>
            </a:r>
          </a:p>
        </p:txBody>
      </p:sp>
      <p:sp>
        <p:nvSpPr>
          <p:cNvPr id="2" name="">
            <a:extLst xmlns:a="http://schemas.openxmlformats.org/drawingml/2006/main">
              <a:ext uri="{FF2B5EF4-FFF2-40B4-BE49-F238E27FC236}">
                <a16:creationId xmlns:a16="http://schemas.microsoft.com/office/drawing/2014/main" id="{B2D37583-E888-40E6-A887-A9855FB72CF8}"/>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D7167"/>
                </a:solidFill>
                <a:latin typeface="Arial"/>
                <a:ea typeface="Arial"/>
                <a:cs typeface="Arial"/>
              </a:defRPr>
            </a:pPr>
            <a:r>
              <a:rPr sz="1125" b="0">
                <a:solidFill>
                  <a:srgbClr val="5D7167"/>
                </a:solidFill>
                <a:latin typeface="Arial"/>
                <a:ea typeface="Arial"/>
                <a:cs typeface="Arial"/>
              </a:rPr>
              <a:t>3</a:t>
            </a:r>
          </a:p>
        </p:txBody>
      </p:sp>
      <p:graphicFrame>
        <p:nvGraphicFramePr>
          <p:cNvPr id="8" name=""/>
          <p:cNvGraphicFramePr/>
          <p:nvPr/>
        </p:nvGraphicFramePr>
        <p:xfrm>
          <a:off xmlns:a="http://schemas.openxmlformats.org/drawingml/2006/main" x="609600" y="1428750"/>
          <a:ext xmlns:a="http://schemas.openxmlformats.org/drawingml/2006/main" cx="10972800" cy="3143250"/>
        </p:xfrm>
        <a:graphic xmlns:a="http://schemas.openxmlformats.org/drawingml/2006/main">
          <a:graphicData uri="http://schemas.openxmlformats.org/drawingml/2006/table">
            <a:tbl>
              <a:tblPr/>
              <a:tblGrid>
                <a:gridCol w="3524250"/>
                <a:gridCol w="7448550"/>
              </a:tblGrid>
              <a:tr h="628650">
                <a:tc>
                  <a:txBody>
                    <a:bodyPr>
                      <a:noAutofit/>
                    </a:bodyPr>
                    <a:lstStyle/>
                    <a:p>
                      <a:r>
                        <a:rPr sz="1875" b="1">
                          <a:solidFill>
                            <a:srgbClr val="FFFFFF"/>
                          </a:solidFill>
                          <a:latin typeface="Arial"/>
                          <a:ea typeface="Arial"/>
                          <a:cs typeface="Arial"/>
                        </a:rPr>
                        <a:t>User</a:t>
                      </a:r>
                    </a:p>
                  </a:txBody>
                  <a:tcPr marL="91440" marR="91440" marT="45720" marB="45720">
                    <a:solidFill>
                      <a:srgbClr val="2B5F4C"/>
                    </a:solidFill>
                  </a:tcPr>
                </a:tc>
                <a:tc>
                  <a:txBody>
                    <a:bodyPr>
                      <a:noAutofit/>
                    </a:bodyPr>
                    <a:lstStyle/>
                    <a:p>
                      <a:r>
                        <a:rPr sz="1875" b="1">
                          <a:solidFill>
                            <a:srgbClr val="FFFFFF"/>
                          </a:solidFill>
                          <a:latin typeface="Arial"/>
                          <a:ea typeface="Arial"/>
                          <a:cs typeface="Arial"/>
                        </a:rPr>
                        <a:t>Primary task</a:t>
                      </a:r>
                    </a:p>
                  </a:txBody>
                  <a:tcPr marL="91440" marR="91440" marT="45720" marB="45720">
                    <a:solidFill>
                      <a:srgbClr val="2B5F4C"/>
                    </a:solidFill>
                  </a:tcPr>
                </a:tc>
              </a:tr>
              <a:tr h="628650">
                <a:tc>
                  <a:txBody>
                    <a:bodyPr>
                      <a:noAutofit/>
                    </a:bodyPr>
                    <a:lstStyle/>
                    <a:p>
                      <a:r>
                        <a:rPr sz="1875" b="0">
                          <a:solidFill>
                            <a:srgbClr val="183D34"/>
                          </a:solidFill>
                          <a:latin typeface="Arial"/>
                          <a:ea typeface="Arial"/>
                          <a:cs typeface="Arial"/>
                        </a:rPr>
                        <a:t>Resident or homeowner</a:t>
                      </a:r>
                    </a:p>
                  </a:txBody>
                  <a:tcPr marL="91440" marR="91440" marT="45720" marB="45720">
                    <a:solidFill>
                      <a:srgbClr val="FFFFFF"/>
                    </a:solidFill>
                  </a:tcPr>
                </a:tc>
                <a:tc>
                  <a:txBody>
                    <a:bodyPr>
                      <a:noAutofit/>
                    </a:bodyPr>
                    <a:lstStyle/>
                    <a:p>
                      <a:r>
                        <a:rPr sz="1875" b="0">
                          <a:solidFill>
                            <a:srgbClr val="183D34"/>
                          </a:solidFill>
                          <a:latin typeface="Arial"/>
                          <a:ea typeface="Arial"/>
                          <a:cs typeface="Arial"/>
                        </a:rPr>
                        <a:t>Publish a repair request and select a provider</a:t>
                      </a:r>
                    </a:p>
                  </a:txBody>
                  <a:tcPr marL="91440" marR="91440" marT="45720" marB="45720">
                    <a:solidFill>
                      <a:srgbClr val="FFFFFF"/>
                    </a:solidFill>
                  </a:tcPr>
                </a:tc>
              </a:tr>
              <a:tr h="628650">
                <a:tc>
                  <a:txBody>
                    <a:bodyPr>
                      <a:noAutofit/>
                    </a:bodyPr>
                    <a:lstStyle/>
                    <a:p>
                      <a:r>
                        <a:rPr sz="1875" b="0">
                          <a:solidFill>
                            <a:srgbClr val="183D34"/>
                          </a:solidFill>
                          <a:latin typeface="Arial"/>
                          <a:ea typeface="Arial"/>
                          <a:cs typeface="Arial"/>
                        </a:rPr>
                        <a:t>OSI/KSK representative</a:t>
                      </a:r>
                    </a:p>
                  </a:txBody>
                  <a:tcPr marL="91440" marR="91440" marT="45720" marB="45720">
                    <a:solidFill>
                      <a:srgbClr val="EDF3E5"/>
                    </a:solidFill>
                  </a:tcPr>
                </a:tc>
                <a:tc>
                  <a:txBody>
                    <a:bodyPr>
                      <a:noAutofit/>
                    </a:bodyPr>
                    <a:lstStyle/>
                    <a:p>
                      <a:r>
                        <a:rPr sz="1875" b="0">
                          <a:solidFill>
                            <a:srgbClr val="183D34"/>
                          </a:solidFill>
                          <a:latin typeface="Arial"/>
                          <a:ea typeface="Arial"/>
                          <a:cs typeface="Arial"/>
                        </a:rPr>
                        <a:t>Commission work for shared residential areas</a:t>
                      </a:r>
                    </a:p>
                  </a:txBody>
                  <a:tcPr marL="91440" marR="91440" marT="45720" marB="45720">
                    <a:solidFill>
                      <a:srgbClr val="EDF3E5"/>
                    </a:solidFill>
                  </a:tcPr>
                </a:tc>
              </a:tr>
              <a:tr h="628650">
                <a:tc>
                  <a:txBody>
                    <a:bodyPr>
                      <a:noAutofit/>
                    </a:bodyPr>
                    <a:lstStyle/>
                    <a:p>
                      <a:r>
                        <a:rPr sz="1875" b="0">
                          <a:solidFill>
                            <a:srgbClr val="183D34"/>
                          </a:solidFill>
                          <a:latin typeface="Arial"/>
                          <a:ea typeface="Arial"/>
                          <a:cs typeface="Arial"/>
                        </a:rPr>
                        <a:t>Independent provider</a:t>
                      </a:r>
                    </a:p>
                  </a:txBody>
                  <a:tcPr marL="91440" marR="91440" marT="45720" marB="45720">
                    <a:solidFill>
                      <a:srgbClr val="FFFFFF"/>
                    </a:solidFill>
                  </a:tcPr>
                </a:tc>
                <a:tc>
                  <a:txBody>
                    <a:bodyPr>
                      <a:noAutofit/>
                    </a:bodyPr>
                    <a:lstStyle/>
                    <a:p>
                      <a:r>
                        <a:rPr sz="1875" b="0">
                          <a:solidFill>
                            <a:srgbClr val="183D34"/>
                          </a:solidFill>
                          <a:latin typeface="Arial"/>
                          <a:ea typeface="Arial"/>
                          <a:cs typeface="Arial"/>
                        </a:rPr>
                        <a:t>Propose a price and schedule, then deliver the work</a:t>
                      </a:r>
                    </a:p>
                  </a:txBody>
                  <a:tcPr marL="91440" marR="91440" marT="45720" marB="45720">
                    <a:solidFill>
                      <a:srgbClr val="FFFFFF"/>
                    </a:solidFill>
                  </a:tcPr>
                </a:tc>
              </a:tr>
              <a:tr h="628650">
                <a:tc>
                  <a:txBody>
                    <a:bodyPr>
                      <a:noAutofit/>
                    </a:bodyPr>
                    <a:lstStyle/>
                    <a:p>
                      <a:r>
                        <a:rPr sz="1875" b="0">
                          <a:solidFill>
                            <a:srgbClr val="183D34"/>
                          </a:solidFill>
                          <a:latin typeface="Arial"/>
                          <a:ea typeface="Arial"/>
                          <a:cs typeface="Arial"/>
                        </a:rPr>
                        <a:t>Moderator</a:t>
                      </a:r>
                    </a:p>
                  </a:txBody>
                  <a:tcPr marL="91440" marR="91440" marT="45720" marB="45720">
                    <a:solidFill>
                      <a:srgbClr val="EDF3E5"/>
                    </a:solidFill>
                  </a:tcPr>
                </a:tc>
                <a:tc>
                  <a:txBody>
                    <a:bodyPr>
                      <a:noAutofit/>
                    </a:bodyPr>
                    <a:lstStyle/>
                    <a:p>
                      <a:r>
                        <a:rPr sz="1875" b="0">
                          <a:solidFill>
                            <a:srgbClr val="183D34"/>
                          </a:solidFill>
                          <a:latin typeface="Arial"/>
                          <a:ea typeface="Arial"/>
                          <a:cs typeface="Arial"/>
                        </a:rPr>
                        <a:t>Handle reports and record justified decisions</a:t>
                      </a:r>
                    </a:p>
                  </a:txBody>
                  <a:tcPr marL="91440" marR="91440" marT="45720" marB="45720">
                    <a:solidFill>
                      <a:srgbClr val="EDF3E5"/>
                    </a:solidFill>
                  </a:tcPr>
                </a:tc>
              </a:tr>
            </a:tbl>
          </a:graphicData>
        </a:graphic>
      </p:graphicFrame>
      <p:sp>
        <p:nvSpPr>
          <p:cNvPr id="4" name="">
            <a:extLst xmlns:a="http://schemas.openxmlformats.org/drawingml/2006/main">
              <a:ext uri="{FF2B5EF4-FFF2-40B4-BE49-F238E27FC236}">
                <a16:creationId xmlns:a16="http://schemas.microsoft.com/office/drawing/2014/main" id="{73EB0F9A-B2E5-4A33-8F20-692DF0403D6C}"/>
              </a:ext>
            </a:extLst>
          </p:cNvPr>
          <p:cNvSpPr>
            <a:spLocks xmlns:a="http://schemas.openxmlformats.org/drawingml/2006/main" noGrp="1"/>
          </p:cNvSpPr>
          <p:nvPr/>
        </p:nvSpPr>
        <p:spPr>
          <a:xfrm xmlns:a="http://schemas.openxmlformats.org/drawingml/2006/main">
            <a:off x="628650" y="4953000"/>
            <a:ext cx="142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D34"/>
                </a:solidFill>
                <a:latin typeface="Arial"/>
                <a:ea typeface="Arial"/>
                <a:cs typeface="Arial"/>
              </a:defRPr>
            </a:pPr>
            <a:r>
              <a:rPr sz="2100" b="1">
                <a:solidFill>
                  <a:srgbClr val="183D34"/>
                </a:solidFill>
                <a:latin typeface="Arial"/>
                <a:ea typeface="Arial"/>
                <a:cs typeface="Arial"/>
              </a:rPr>
              <a:t>Aim</a:t>
            </a:r>
          </a:p>
        </p:txBody>
      </p:sp>
      <p:sp>
        <p:nvSpPr>
          <p:cNvPr id="5" name="">
            <a:extLst xmlns:a="http://schemas.openxmlformats.org/drawingml/2006/main">
              <a:ext uri="{FF2B5EF4-FFF2-40B4-BE49-F238E27FC236}">
                <a16:creationId xmlns:a16="http://schemas.microsoft.com/office/drawing/2014/main" id="{C6B7A6E9-9569-4AFF-B347-EE809EB16EF0}"/>
              </a:ext>
            </a:extLst>
          </p:cNvPr>
          <p:cNvSpPr>
            <a:spLocks xmlns:a="http://schemas.openxmlformats.org/drawingml/2006/main" noGrp="1"/>
          </p:cNvSpPr>
          <p:nvPr/>
        </p:nvSpPr>
        <p:spPr>
          <a:xfrm xmlns:a="http://schemas.openxmlformats.org/drawingml/2006/main">
            <a:off x="628650" y="5381625"/>
            <a:ext cx="10810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D34"/>
                </a:solidFill>
                <a:latin typeface="Arial"/>
                <a:ea typeface="Arial"/>
                <a:cs typeface="Arial"/>
              </a:defRPr>
            </a:pPr>
            <a:r>
              <a:rPr sz="2025" b="0">
                <a:solidFill>
                  <a:srgbClr val="183D34"/>
                </a:solidFill>
                <a:latin typeface="Arial"/>
                <a:ea typeface="Arial"/>
                <a:cs typeface="Arial"/>
              </a:rPr>
              <a:t>Design, implement and evaluate a shared web and mobile platform for residential repair coordination, with optional category suggestions.</a:t>
            </a:r>
          </a:p>
        </p:txBody>
      </p:sp>
    </p:spTree>
    <p:extLst>
      <p:ext uri="{BB962C8B-B14F-4D97-AF65-F5344CB8AC3E}">
        <p14:creationId xmlns:p14="http://schemas.microsoft.com/office/powerpoint/2010/main" val="969570320"/>
      </p:ext>
    </p:extLst>
  </p:cSld>
</p:sld>
</file>

<file path=ppt/slides/slide4.xml><?xml version="1.0" encoding="utf-8"?>
<p:sld xmlns:p="http://schemas.openxmlformats.org/presentationml/2006/main">
  <p:cSld>
    <p:bg>
      <p:bgPr>
        <a:solidFill xmlns:a="http://schemas.openxmlformats.org/drawingml/2006/main">
          <a:srgbClr val="FAFC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78FDA36-2CA6-4A17-ADE4-49198F6E89D8}"/>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D34"/>
                </a:solidFill>
                <a:latin typeface="Arial"/>
                <a:ea typeface="Arial"/>
                <a:cs typeface="Arial"/>
              </a:defRPr>
            </a:pPr>
            <a:r>
              <a:rPr sz="3150" b="1">
                <a:solidFill>
                  <a:srgbClr val="183D34"/>
                </a:solidFill>
                <a:latin typeface="Arial"/>
                <a:ea typeface="Arial"/>
                <a:cs typeface="Arial"/>
              </a:rPr>
              <a:t>MVP scope</a:t>
            </a:r>
          </a:p>
        </p:txBody>
      </p:sp>
      <p:sp>
        <p:nvSpPr>
          <p:cNvPr id="2" name="">
            <a:extLst xmlns:a="http://schemas.openxmlformats.org/drawingml/2006/main">
              <a:ext uri="{FF2B5EF4-FFF2-40B4-BE49-F238E27FC236}">
                <a16:creationId xmlns:a16="http://schemas.microsoft.com/office/drawing/2014/main" id="{94EC1FD8-FC15-4086-9F68-6B1A3BD09384}"/>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D7167"/>
                </a:solidFill>
                <a:latin typeface="Arial"/>
                <a:ea typeface="Arial"/>
                <a:cs typeface="Arial"/>
              </a:defRPr>
            </a:pPr>
            <a:r>
              <a:rPr sz="1125" b="0">
                <a:solidFill>
                  <a:srgbClr val="5D7167"/>
                </a:solidFill>
                <a:latin typeface="Arial"/>
                <a:ea typeface="Arial"/>
                <a:cs typeface="Arial"/>
              </a:rPr>
              <a:t>4</a:t>
            </a:r>
          </a:p>
        </p:txBody>
      </p:sp>
      <p:sp>
        <p:nvSpPr>
          <p:cNvPr id="3" name="">
            <a:extLst xmlns:a="http://schemas.openxmlformats.org/drawingml/2006/main">
              <a:ext uri="{FF2B5EF4-FFF2-40B4-BE49-F238E27FC236}">
                <a16:creationId xmlns:a16="http://schemas.microsoft.com/office/drawing/2014/main" id="{1ED99BDE-7A30-499F-8FCE-235A258A0AE7}"/>
              </a:ext>
            </a:extLst>
          </p:cNvPr>
          <p:cNvSpPr>
            <a:spLocks xmlns:a="http://schemas.openxmlformats.org/drawingml/2006/main" noGrp="1"/>
          </p:cNvSpPr>
          <p:nvPr/>
        </p:nvSpPr>
        <p:spPr>
          <a:xfrm xmlns:a="http://schemas.openxmlformats.org/drawingml/2006/main">
            <a:off x="628650" y="1619250"/>
            <a:ext cx="5000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3D34"/>
                </a:solidFill>
                <a:latin typeface="Arial"/>
                <a:ea typeface="Arial"/>
                <a:cs typeface="Arial"/>
              </a:defRPr>
            </a:pPr>
            <a:r>
              <a:rPr sz="2250" b="1">
                <a:solidFill>
                  <a:srgbClr val="183D34"/>
                </a:solidFill>
                <a:latin typeface="Arial"/>
                <a:ea typeface="Arial"/>
                <a:cs typeface="Arial"/>
              </a:rPr>
              <a:t>Included</a:t>
            </a:r>
          </a:p>
        </p:txBody>
      </p:sp>
      <p:sp>
        <p:nvSpPr>
          <p:cNvPr id="4" name="">
            <a:extLst xmlns:a="http://schemas.openxmlformats.org/drawingml/2006/main">
              <a:ext uri="{FF2B5EF4-FFF2-40B4-BE49-F238E27FC236}">
                <a16:creationId xmlns:a16="http://schemas.microsoft.com/office/drawing/2014/main" id="{2169F354-63E4-4350-89BF-1A31A318DE97}"/>
              </a:ext>
            </a:extLst>
          </p:cNvPr>
          <p:cNvSpPr>
            <a:spLocks xmlns:a="http://schemas.openxmlformats.org/drawingml/2006/main" noGrp="1"/>
          </p:cNvSpPr>
          <p:nvPr/>
        </p:nvSpPr>
        <p:spPr>
          <a:xfrm xmlns:a="http://schemas.openxmlformats.org/drawingml/2006/main">
            <a:off x="628650" y="2257425"/>
            <a:ext cx="4953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D34"/>
                </a:solidFill>
                <a:latin typeface="Arial"/>
                <a:ea typeface="Arial"/>
                <a:cs typeface="Arial"/>
              </a:defRPr>
            </a:pPr>
            <a:r>
              <a:rPr sz="2100" b="0">
                <a:solidFill>
                  <a:srgbClr val="183D34"/>
                </a:solidFill>
                <a:latin typeface="Arial"/>
                <a:ea typeface="Arial"/>
                <a:cs typeface="Arial"/>
              </a:rPr>
              <a:t>Requests and photos</a:t>
            </a:r>
          </a:p>
          <a:p xmlns:a="http://schemas.openxmlformats.org/drawingml/2006/main">
            <a:pPr>
              <a:defRPr sz="2100" b="0">
                <a:solidFill>
                  <a:srgbClr val="183D34"/>
                </a:solidFill>
                <a:latin typeface="Arial"/>
                <a:ea typeface="Arial"/>
                <a:cs typeface="Arial"/>
              </a:defRPr>
            </a:pPr>
            <a:r>
              <a:rPr sz="2100" b="0">
                <a:solidFill>
                  <a:srgbClr val="183D34"/>
                </a:solidFill>
                <a:latin typeface="Arial"/>
                <a:ea typeface="Arial"/>
                <a:cs typeface="Arial"/>
              </a:rPr>
              <a:t>Competing offers and portfolios</a:t>
            </a:r>
          </a:p>
          <a:p xmlns:a="http://schemas.openxmlformats.org/drawingml/2006/main">
            <a:pPr>
              <a:defRPr sz="2100" b="0">
                <a:solidFill>
                  <a:srgbClr val="183D34"/>
                </a:solidFill>
                <a:latin typeface="Arial"/>
                <a:ea typeface="Arial"/>
                <a:cs typeface="Arial"/>
              </a:defRPr>
            </a:pPr>
            <a:r>
              <a:rPr sz="2100" b="0">
                <a:solidFill>
                  <a:srgbClr val="183D34"/>
                </a:solidFill>
                <a:latin typeface="Arial"/>
                <a:ea typeface="Arial"/>
                <a:cs typeface="Arial"/>
              </a:rPr>
              <a:t>Customer selection and agreement history</a:t>
            </a:r>
          </a:p>
          <a:p xmlns:a="http://schemas.openxmlformats.org/drawingml/2006/main">
            <a:pPr>
              <a:defRPr sz="2100" b="0">
                <a:solidFill>
                  <a:srgbClr val="183D34"/>
                </a:solidFill>
                <a:latin typeface="Arial"/>
                <a:ea typeface="Arial"/>
                <a:cs typeface="Arial"/>
              </a:defRPr>
            </a:pPr>
            <a:r>
              <a:rPr sz="2100" b="0">
                <a:solidFill>
                  <a:srgbClr val="183D34"/>
                </a:solidFill>
                <a:latin typeface="Arial"/>
                <a:ea typeface="Arial"/>
                <a:cs typeface="Arial"/>
              </a:rPr>
              <a:t>Chat, job states and completed-job reviews</a:t>
            </a:r>
          </a:p>
          <a:p xmlns:a="http://schemas.openxmlformats.org/drawingml/2006/main">
            <a:pPr>
              <a:defRPr sz="2100" b="0">
                <a:solidFill>
                  <a:srgbClr val="183D34"/>
                </a:solidFill>
                <a:latin typeface="Arial"/>
                <a:ea typeface="Arial"/>
                <a:cs typeface="Arial"/>
              </a:defRPr>
            </a:pPr>
            <a:r>
              <a:rPr sz="2100" b="0">
                <a:solidFill>
                  <a:srgbClr val="183D34"/>
                </a:solidFill>
                <a:latin typeface="Arial"/>
                <a:ea typeface="Arial"/>
                <a:cs typeface="Arial"/>
              </a:rPr>
              <a:t>Reports and category suggestions</a:t>
            </a:r>
          </a:p>
        </p:txBody>
      </p:sp>
      <p:sp>
        <p:nvSpPr>
          <p:cNvPr id="5" name="">
            <a:extLst xmlns:a="http://schemas.openxmlformats.org/drawingml/2006/main">
              <a:ext uri="{FF2B5EF4-FFF2-40B4-BE49-F238E27FC236}">
                <a16:creationId xmlns:a16="http://schemas.microsoft.com/office/drawing/2014/main" id="{7FAC2F0D-1FE8-4CC8-85C3-AFE3293102B0}"/>
              </a:ext>
            </a:extLst>
          </p:cNvPr>
          <p:cNvSpPr>
            <a:spLocks xmlns:a="http://schemas.openxmlformats.org/drawingml/2006/main" noGrp="1"/>
          </p:cNvSpPr>
          <p:nvPr/>
        </p:nvSpPr>
        <p:spPr>
          <a:xfrm xmlns:a="http://schemas.openxmlformats.org/drawingml/2006/main">
            <a:off x="6477000" y="1619250"/>
            <a:ext cx="5000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3D34"/>
                </a:solidFill>
                <a:latin typeface="Arial"/>
                <a:ea typeface="Arial"/>
                <a:cs typeface="Arial"/>
              </a:defRPr>
            </a:pPr>
            <a:r>
              <a:rPr sz="2250" b="1">
                <a:solidFill>
                  <a:srgbClr val="183D34"/>
                </a:solidFill>
                <a:latin typeface="Arial"/>
                <a:ea typeface="Arial"/>
                <a:cs typeface="Arial"/>
              </a:rPr>
              <a:t>Deferred</a:t>
            </a:r>
          </a:p>
        </p:txBody>
      </p:sp>
      <p:sp>
        <p:nvSpPr>
          <p:cNvPr id="6" name="">
            <a:extLst xmlns:a="http://schemas.openxmlformats.org/drawingml/2006/main">
              <a:ext uri="{FF2B5EF4-FFF2-40B4-BE49-F238E27FC236}">
                <a16:creationId xmlns:a16="http://schemas.microsoft.com/office/drawing/2014/main" id="{B7BDFE39-A7F2-4CA8-84C9-E0056498BDCB}"/>
              </a:ext>
            </a:extLst>
          </p:cNvPr>
          <p:cNvSpPr>
            <a:spLocks xmlns:a="http://schemas.openxmlformats.org/drawingml/2006/main" noGrp="1"/>
          </p:cNvSpPr>
          <p:nvPr/>
        </p:nvSpPr>
        <p:spPr>
          <a:xfrm xmlns:a="http://schemas.openxmlformats.org/drawingml/2006/main">
            <a:off x="6477000" y="2257425"/>
            <a:ext cx="4953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D34"/>
                </a:solidFill>
                <a:latin typeface="Arial"/>
                <a:ea typeface="Arial"/>
                <a:cs typeface="Arial"/>
              </a:defRPr>
            </a:pPr>
            <a:r>
              <a:rPr sz="2100" b="0">
                <a:solidFill>
                  <a:srgbClr val="183D34"/>
                </a:solidFill>
                <a:latin typeface="Arial"/>
                <a:ea typeface="Arial"/>
                <a:cs typeface="Arial"/>
              </a:rPr>
              <a:t>Payment processing and escrow</a:t>
            </a:r>
          </a:p>
          <a:p xmlns:a="http://schemas.openxmlformats.org/drawingml/2006/main">
            <a:pPr>
              <a:defRPr sz="2100" b="0">
                <a:solidFill>
                  <a:srgbClr val="183D34"/>
                </a:solidFill>
                <a:latin typeface="Arial"/>
                <a:ea typeface="Arial"/>
                <a:cs typeface="Arial"/>
              </a:defRPr>
            </a:pPr>
            <a:r>
              <a:rPr sz="2100" b="0">
                <a:solidFill>
                  <a:srgbClr val="183D34"/>
                </a:solidFill>
                <a:latin typeface="Arial"/>
                <a:ea typeface="Arial"/>
                <a:cs typeface="Arial"/>
              </a:rPr>
              <a:t>Scheduled preventive maintenance</a:t>
            </a:r>
          </a:p>
          <a:p xmlns:a="http://schemas.openxmlformats.org/drawingml/2006/main">
            <a:pPr>
              <a:defRPr sz="2100" b="0">
                <a:solidFill>
                  <a:srgbClr val="183D34"/>
                </a:solidFill>
                <a:latin typeface="Arial"/>
                <a:ea typeface="Arial"/>
                <a:cs typeface="Arial"/>
              </a:defRPr>
            </a:pPr>
            <a:r>
              <a:rPr sz="2100" b="0">
                <a:solidFill>
                  <a:srgbClr val="183D34"/>
                </a:solidFill>
                <a:latin typeface="Arial"/>
                <a:ea typeface="Arial"/>
                <a:cs typeface="Arial"/>
              </a:rPr>
              <a:t>Automatic price estimation</a:t>
            </a:r>
          </a:p>
          <a:p xmlns:a="http://schemas.openxmlformats.org/drawingml/2006/main">
            <a:pPr>
              <a:defRPr sz="2100" b="0">
                <a:solidFill>
                  <a:srgbClr val="183D34"/>
                </a:solidFill>
                <a:latin typeface="Arial"/>
                <a:ea typeface="Arial"/>
                <a:cs typeface="Arial"/>
              </a:defRPr>
            </a:pPr>
            <a:r>
              <a:rPr sz="2100" b="0">
                <a:solidFill>
                  <a:srgbClr val="183D34"/>
                </a:solidFill>
                <a:latin typeface="Arial"/>
                <a:ea typeface="Arial"/>
                <a:cs typeface="Arial"/>
              </a:rPr>
              <a:t>Live provider tracking</a:t>
            </a:r>
          </a:p>
          <a:p xmlns:a="http://schemas.openxmlformats.org/drawingml/2006/main">
            <a:pPr>
              <a:defRPr sz="2100" b="0">
                <a:solidFill>
                  <a:srgbClr val="183D34"/>
                </a:solidFill>
                <a:latin typeface="Arial"/>
                <a:ea typeface="Arial"/>
                <a:cs typeface="Arial"/>
              </a:defRPr>
            </a:pPr>
            <a:r>
              <a:rPr sz="2100" b="0">
                <a:solidFill>
                  <a:srgbClr val="183D34"/>
                </a:solidFill>
                <a:latin typeface="Arial"/>
                <a:ea typeface="Arial"/>
                <a:cs typeface="Arial"/>
              </a:rPr>
              <a:t>External identity verification</a:t>
            </a:r>
          </a:p>
        </p:txBody>
      </p:sp>
      <p:sp>
        <p:nvSpPr>
          <p:cNvPr id="7" name="">
            <a:extLst xmlns:a="http://schemas.openxmlformats.org/drawingml/2006/main">
              <a:ext uri="{FF2B5EF4-FFF2-40B4-BE49-F238E27FC236}">
                <a16:creationId xmlns:a16="http://schemas.microsoft.com/office/drawing/2014/main" id="{B7DD87C9-BA02-43B7-AFAB-BB487B1043C3}"/>
              </a:ext>
            </a:extLst>
          </p:cNvPr>
          <p:cNvSpPr>
            <a:spLocks xmlns:a="http://schemas.openxmlformats.org/drawingml/2006/main" noGrp="1"/>
          </p:cNvSpPr>
          <p:nvPr/>
        </p:nvSpPr>
        <p:spPr>
          <a:xfrm xmlns:a="http://schemas.openxmlformats.org/drawingml/2006/main">
            <a:off x="628650" y="57816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D34"/>
                </a:solidFill>
                <a:latin typeface="Arial"/>
                <a:ea typeface="Arial"/>
                <a:cs typeface="Arial"/>
              </a:defRPr>
            </a:pPr>
            <a:r>
              <a:rPr sz="1800" b="1">
                <a:solidFill>
                  <a:srgbClr val="183D34"/>
                </a:solidFill>
                <a:latin typeface="Arial"/>
                <a:ea typeface="Arial"/>
                <a:cs typeface="Arial"/>
              </a:rPr>
              <a:t>Clients: web + one Flutter codebase for Android and iOS. Shared backend.</a:t>
            </a:r>
          </a:p>
        </p:txBody>
      </p:sp>
    </p:spTree>
    <p:extLst>
      <p:ext uri="{BB962C8B-B14F-4D97-AF65-F5344CB8AC3E}">
        <p14:creationId xmlns:p14="http://schemas.microsoft.com/office/powerpoint/2010/main" val="515882926"/>
      </p:ext>
    </p:extLst>
  </p:cSld>
</p:sld>
</file>

<file path=ppt/slides/slide5.xml><?xml version="1.0" encoding="utf-8"?>
<p:sld xmlns:p="http://schemas.openxmlformats.org/presentationml/2006/main">
  <p:cSld>
    <p:bg>
      <p:bgPr>
        <a:solidFill xmlns:a="http://schemas.openxmlformats.org/drawingml/2006/main">
          <a:srgbClr val="FAFC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75184E9-90C6-4F01-9347-281EC991D29B}"/>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D34"/>
                </a:solidFill>
                <a:latin typeface="Arial"/>
                <a:ea typeface="Arial"/>
                <a:cs typeface="Arial"/>
              </a:defRPr>
            </a:pPr>
            <a:r>
              <a:rPr sz="3150" b="1">
                <a:solidFill>
                  <a:srgbClr val="183D34"/>
                </a:solidFill>
                <a:latin typeface="Arial"/>
                <a:ea typeface="Arial"/>
                <a:cs typeface="Arial"/>
              </a:rPr>
              <a:t>User discovery plan</a:t>
            </a:r>
          </a:p>
        </p:txBody>
      </p:sp>
      <p:sp>
        <p:nvSpPr>
          <p:cNvPr id="2" name="">
            <a:extLst xmlns:a="http://schemas.openxmlformats.org/drawingml/2006/main">
              <a:ext uri="{FF2B5EF4-FFF2-40B4-BE49-F238E27FC236}">
                <a16:creationId xmlns:a16="http://schemas.microsoft.com/office/drawing/2014/main" id="{E6286B7E-C9E1-4E3F-954F-F2133420E3B9}"/>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D7167"/>
                </a:solidFill>
                <a:latin typeface="Arial"/>
                <a:ea typeface="Arial"/>
                <a:cs typeface="Arial"/>
              </a:defRPr>
            </a:pPr>
            <a:r>
              <a:rPr sz="1125" b="0">
                <a:solidFill>
                  <a:srgbClr val="5D7167"/>
                </a:solidFill>
                <a:latin typeface="Arial"/>
                <a:ea typeface="Arial"/>
                <a:cs typeface="Arial"/>
              </a:rPr>
              <a:t>5</a:t>
            </a:r>
          </a:p>
        </p:txBody>
      </p:sp>
      <p:graphicFrame>
        <p:nvGraphicFramePr>
          <p:cNvPr id="8" name=""/>
          <p:cNvGraphicFramePr/>
          <p:nvPr/>
        </p:nvGraphicFramePr>
        <p:xfrm>
          <a:off xmlns:a="http://schemas.openxmlformats.org/drawingml/2006/main" x="609600" y="1476375"/>
          <a:ext xmlns:a="http://schemas.openxmlformats.org/drawingml/2006/main" cx="10972800" cy="2714625"/>
        </p:xfrm>
        <a:graphic xmlns:a="http://schemas.openxmlformats.org/drawingml/2006/main">
          <a:graphicData uri="http://schemas.openxmlformats.org/drawingml/2006/table">
            <a:tbl>
              <a:tblPr/>
              <a:tblGrid>
                <a:gridCol w="3333750"/>
                <a:gridCol w="7639050"/>
              </a:tblGrid>
              <a:tr h="678656">
                <a:tc>
                  <a:txBody>
                    <a:bodyPr>
                      <a:noAutofit/>
                    </a:bodyPr>
                    <a:lstStyle/>
                    <a:p>
                      <a:r>
                        <a:rPr sz="1875" b="1">
                          <a:solidFill>
                            <a:srgbClr val="FFFFFF"/>
                          </a:solidFill>
                          <a:latin typeface="Arial"/>
                          <a:ea typeface="Arial"/>
                          <a:cs typeface="Arial"/>
                        </a:rPr>
                        <a:t>Participants</a:t>
                      </a:r>
                    </a:p>
                  </a:txBody>
                  <a:tcPr marL="91440" marR="91440" marT="45720" marB="45720">
                    <a:solidFill>
                      <a:srgbClr val="2B5F4C"/>
                    </a:solidFill>
                  </a:tcPr>
                </a:tc>
                <a:tc>
                  <a:txBody>
                    <a:bodyPr>
                      <a:noAutofit/>
                    </a:bodyPr>
                    <a:lstStyle/>
                    <a:p>
                      <a:r>
                        <a:rPr sz="1875" b="1">
                          <a:solidFill>
                            <a:srgbClr val="FFFFFF"/>
                          </a:solidFill>
                          <a:latin typeface="Arial"/>
                          <a:ea typeface="Arial"/>
                          <a:cs typeface="Arial"/>
                        </a:rPr>
                        <a:t>Questions to investigate</a:t>
                      </a:r>
                    </a:p>
                  </a:txBody>
                  <a:tcPr marL="91440" marR="91440" marT="45720" marB="45720">
                    <a:solidFill>
                      <a:srgbClr val="2B5F4C"/>
                    </a:solidFill>
                  </a:tcPr>
                </a:tc>
              </a:tr>
              <a:tr h="678656">
                <a:tc>
                  <a:txBody>
                    <a:bodyPr>
                      <a:noAutofit/>
                    </a:bodyPr>
                    <a:lstStyle/>
                    <a:p>
                      <a:r>
                        <a:rPr sz="1875" b="0">
                          <a:solidFill>
                            <a:srgbClr val="183D34"/>
                          </a:solidFill>
                          <a:latin typeface="Arial"/>
                          <a:ea typeface="Arial"/>
                          <a:cs typeface="Arial"/>
                        </a:rPr>
                        <a:t>2 residential customers</a:t>
                      </a:r>
                    </a:p>
                  </a:txBody>
                  <a:tcPr marL="91440" marR="91440" marT="45720" marB="45720">
                    <a:solidFill>
                      <a:srgbClr val="FFFFFF"/>
                    </a:solidFill>
                  </a:tcPr>
                </a:tc>
                <a:tc>
                  <a:txBody>
                    <a:bodyPr>
                      <a:noAutofit/>
                    </a:bodyPr>
                    <a:lstStyle/>
                    <a:p>
                      <a:r>
                        <a:rPr sz="1875" b="0">
                          <a:solidFill>
                            <a:srgbClr val="183D34"/>
                          </a:solidFill>
                          <a:latin typeface="Arial"/>
                          <a:ea typeface="Arial"/>
                          <a:cs typeface="Arial"/>
                        </a:rPr>
                        <a:t>How do they compare quotes and judge unfamiliar providers?</a:t>
                      </a:r>
                    </a:p>
                  </a:txBody>
                  <a:tcPr marL="91440" marR="91440" marT="45720" marB="45720">
                    <a:solidFill>
                      <a:srgbClr val="FFFFFF"/>
                    </a:solidFill>
                  </a:tcPr>
                </a:tc>
              </a:tr>
              <a:tr h="678656">
                <a:tc>
                  <a:txBody>
                    <a:bodyPr>
                      <a:noAutofit/>
                    </a:bodyPr>
                    <a:lstStyle/>
                    <a:p>
                      <a:r>
                        <a:rPr sz="1875" b="0">
                          <a:solidFill>
                            <a:srgbClr val="183D34"/>
                          </a:solidFill>
                          <a:latin typeface="Arial"/>
                          <a:ea typeface="Arial"/>
                          <a:cs typeface="Arial"/>
                        </a:rPr>
                        <a:t>2 repair providers</a:t>
                      </a:r>
                    </a:p>
                  </a:txBody>
                  <a:tcPr marL="91440" marR="91440" marT="45720" marB="45720">
                    <a:solidFill>
                      <a:srgbClr val="EDF3E5"/>
                    </a:solidFill>
                  </a:tcPr>
                </a:tc>
                <a:tc>
                  <a:txBody>
                    <a:bodyPr>
                      <a:noAutofit/>
                    </a:bodyPr>
                    <a:lstStyle/>
                    <a:p>
                      <a:r>
                        <a:rPr sz="1875" b="0">
                          <a:solidFill>
                            <a:srgbClr val="183D34"/>
                          </a:solidFill>
                          <a:latin typeface="Arial"/>
                          <a:ea typeface="Arial"/>
                          <a:cs typeface="Arial"/>
                        </a:rPr>
                        <a:t>What information determines whether they respond?</a:t>
                      </a:r>
                    </a:p>
                  </a:txBody>
                  <a:tcPr marL="91440" marR="91440" marT="45720" marB="45720">
                    <a:solidFill>
                      <a:srgbClr val="EDF3E5"/>
                    </a:solidFill>
                  </a:tcPr>
                </a:tc>
              </a:tr>
              <a:tr h="678656">
                <a:tc>
                  <a:txBody>
                    <a:bodyPr>
                      <a:noAutofit/>
                    </a:bodyPr>
                    <a:lstStyle/>
                    <a:p>
                      <a:r>
                        <a:rPr sz="1875" b="0">
                          <a:solidFill>
                            <a:srgbClr val="183D34"/>
                          </a:solidFill>
                          <a:latin typeface="Arial"/>
                          <a:ea typeface="Arial"/>
                          <a:cs typeface="Arial"/>
                        </a:rPr>
                        <a:t>1 OSI/KSK representative</a:t>
                      </a:r>
                    </a:p>
                  </a:txBody>
                  <a:tcPr marL="91440" marR="91440" marT="45720" marB="45720">
                    <a:solidFill>
                      <a:srgbClr val="FFFFFF"/>
                    </a:solidFill>
                  </a:tcPr>
                </a:tc>
                <a:tc>
                  <a:txBody>
                    <a:bodyPr>
                      <a:noAutofit/>
                    </a:bodyPr>
                    <a:lstStyle/>
                    <a:p>
                      <a:r>
                        <a:rPr sz="1875" b="0">
                          <a:solidFill>
                            <a:srgbClr val="183D34"/>
                          </a:solidFill>
                          <a:latin typeface="Arial"/>
                          <a:ea typeface="Arial"/>
                          <a:cs typeface="Arial"/>
                        </a:rPr>
                        <a:t>Who can commission, select and approve shared-area work?</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E74DB8D-06A5-4041-BA8C-4175B30A17B9}"/>
              </a:ext>
            </a:extLst>
          </p:cNvPr>
          <p:cNvSpPr>
            <a:spLocks xmlns:a="http://schemas.openxmlformats.org/drawingml/2006/main" noGrp="1"/>
          </p:cNvSpPr>
          <p:nvPr/>
        </p:nvSpPr>
        <p:spPr>
          <a:xfrm xmlns:a="http://schemas.openxmlformats.org/drawingml/2006/main">
            <a:off x="628650" y="4667250"/>
            <a:ext cx="10810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83D34"/>
                </a:solidFill>
                <a:latin typeface="Arial"/>
                <a:ea typeface="Arial"/>
                <a:cs typeface="Arial"/>
              </a:defRPr>
            </a:pPr>
            <a:r>
              <a:rPr sz="2325" b="1">
                <a:solidFill>
                  <a:srgbClr val="183D34"/>
                </a:solidFill>
                <a:latin typeface="Arial"/>
                <a:ea typeface="Arial"/>
                <a:cs typeface="Arial"/>
              </a:rPr>
              <a:t>Evidence status: planned, not conducted</a:t>
            </a:r>
          </a:p>
        </p:txBody>
      </p:sp>
      <p:sp>
        <p:nvSpPr>
          <p:cNvPr id="5" name="">
            <a:extLst xmlns:a="http://schemas.openxmlformats.org/drawingml/2006/main">
              <a:ext uri="{FF2B5EF4-FFF2-40B4-BE49-F238E27FC236}">
                <a16:creationId xmlns:a16="http://schemas.microsoft.com/office/drawing/2014/main" id="{6AFEC1C8-409E-4504-BD1A-A53D26B4A12E}"/>
              </a:ext>
            </a:extLst>
          </p:cNvPr>
          <p:cNvSpPr>
            <a:spLocks xmlns:a="http://schemas.openxmlformats.org/drawingml/2006/main" noGrp="1"/>
          </p:cNvSpPr>
          <p:nvPr/>
        </p:nvSpPr>
        <p:spPr>
          <a:xfrm xmlns:a="http://schemas.openxmlformats.org/drawingml/2006/main">
            <a:off x="628650" y="5314950"/>
            <a:ext cx="10810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D7167"/>
                </a:solidFill>
                <a:latin typeface="Arial"/>
                <a:ea typeface="Arial"/>
                <a:cs typeface="Arial"/>
              </a:defRPr>
            </a:pPr>
            <a:r>
              <a:rPr sz="1950" b="0">
                <a:solidFill>
                  <a:srgbClr val="5D7167"/>
                </a:solidFill>
                <a:latin typeface="Arial"/>
                <a:ea typeface="Arial"/>
                <a:cs typeface="Arial"/>
              </a:rPr>
              <a:t>Record actual discussions, counterexamples and resulting requirement changes.</a:t>
            </a:r>
          </a:p>
          <a:p xmlns:a="http://schemas.openxmlformats.org/drawingml/2006/main">
            <a:pPr>
              <a:defRPr sz="1950" b="0">
                <a:solidFill>
                  <a:srgbClr val="5D7167"/>
                </a:solidFill>
                <a:latin typeface="Arial"/>
                <a:ea typeface="Arial"/>
                <a:cs typeface="Arial"/>
              </a:defRPr>
            </a:pPr>
            <a:r>
              <a:rPr sz="1950" b="0">
                <a:solidFill>
                  <a:srgbClr val="5D7167"/>
                </a:solidFill>
                <a:latin typeface="Arial"/>
                <a:ea typeface="Arial"/>
                <a:cs typeface="Arial"/>
              </a:rPr>
              <a:t>A questionnaire alone does not satisfy the committee requirement.</a:t>
            </a:r>
          </a:p>
        </p:txBody>
      </p:sp>
    </p:spTree>
    <p:extLst>
      <p:ext uri="{BB962C8B-B14F-4D97-AF65-F5344CB8AC3E}">
        <p14:creationId xmlns:p14="http://schemas.microsoft.com/office/powerpoint/2010/main" val="1510737146"/>
      </p:ext>
    </p:extLst>
  </p:cSld>
</p:sld>
</file>

<file path=ppt/slides/slide6.xml><?xml version="1.0" encoding="utf-8"?>
<p:sld xmlns:p="http://schemas.openxmlformats.org/presentationml/2006/main">
  <p:cSld>
    <p:bg>
      <p:bgPr>
        <a:solidFill xmlns:a="http://schemas.openxmlformats.org/drawingml/2006/main">
          <a:srgbClr val="FAFC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7E07EAE-0C73-4CED-86B3-2D0EDA04AA24}"/>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D34"/>
                </a:solidFill>
                <a:latin typeface="Arial"/>
                <a:ea typeface="Arial"/>
                <a:cs typeface="Arial"/>
              </a:defRPr>
            </a:pPr>
            <a:r>
              <a:rPr sz="3150" b="1">
                <a:solidFill>
                  <a:srgbClr val="183D34"/>
                </a:solidFill>
                <a:latin typeface="Arial"/>
                <a:ea typeface="Arial"/>
                <a:cs typeface="Arial"/>
              </a:rPr>
              <a:t>Literature informing governance and data</a:t>
            </a:r>
          </a:p>
        </p:txBody>
      </p:sp>
      <p:sp>
        <p:nvSpPr>
          <p:cNvPr id="2" name="">
            <a:extLst xmlns:a="http://schemas.openxmlformats.org/drawingml/2006/main">
              <a:ext uri="{FF2B5EF4-FFF2-40B4-BE49-F238E27FC236}">
                <a16:creationId xmlns:a16="http://schemas.microsoft.com/office/drawing/2014/main" id="{9DDCA152-4ED1-4107-A9C5-4384C5AA8B92}"/>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D7167"/>
                </a:solidFill>
                <a:latin typeface="Arial"/>
                <a:ea typeface="Arial"/>
                <a:cs typeface="Arial"/>
              </a:defRPr>
            </a:pPr>
            <a:r>
              <a:rPr sz="1125" b="0">
                <a:solidFill>
                  <a:srgbClr val="5D7167"/>
                </a:solidFill>
                <a:latin typeface="Arial"/>
                <a:ea typeface="Arial"/>
                <a:cs typeface="Arial"/>
              </a:rPr>
              <a:t>6</a:t>
            </a:r>
          </a:p>
        </p:txBody>
      </p:sp>
      <p:graphicFrame>
        <p:nvGraphicFramePr>
          <p:cNvPr id="7" name=""/>
          <p:cNvGraphicFramePr/>
          <p:nvPr/>
        </p:nvGraphicFramePr>
        <p:xfrm>
          <a:off xmlns:a="http://schemas.openxmlformats.org/drawingml/2006/main" x="609600" y="1428750"/>
          <a:ext xmlns:a="http://schemas.openxmlformats.org/drawingml/2006/main" cx="10972800" cy="4000500"/>
        </p:xfrm>
        <a:graphic xmlns:a="http://schemas.openxmlformats.org/drawingml/2006/main">
          <a:graphicData uri="http://schemas.openxmlformats.org/drawingml/2006/table">
            <a:tbl>
              <a:tblPr/>
              <a:tblGrid>
                <a:gridCol w="4000500"/>
                <a:gridCol w="6972300"/>
              </a:tblGrid>
              <a:tr h="666750">
                <a:tc>
                  <a:txBody>
                    <a:bodyPr>
                      <a:noAutofit/>
                    </a:bodyPr>
                    <a:lstStyle/>
                    <a:p>
                      <a:r>
                        <a:rPr sz="1725" b="1">
                          <a:solidFill>
                            <a:srgbClr val="FFFFFF"/>
                          </a:solidFill>
                          <a:latin typeface="Arial"/>
                          <a:ea typeface="Arial"/>
                          <a:cs typeface="Arial"/>
                        </a:rPr>
                        <a:t>Publication</a:t>
                      </a:r>
                    </a:p>
                  </a:txBody>
                  <a:tcPr marL="91440" marR="91440" marT="45720" marB="45720">
                    <a:solidFill>
                      <a:srgbClr val="2B5F4C"/>
                    </a:solidFill>
                  </a:tcPr>
                </a:tc>
                <a:tc>
                  <a:txBody>
                    <a:bodyPr>
                      <a:noAutofit/>
                    </a:bodyPr>
                    <a:lstStyle/>
                    <a:p>
                      <a:r>
                        <a:rPr sz="1725" b="1">
                          <a:solidFill>
                            <a:srgbClr val="FFFFFF"/>
                          </a:solidFill>
                          <a:latin typeface="Arial"/>
                          <a:ea typeface="Arial"/>
                          <a:cs typeface="Arial"/>
                        </a:rPr>
                        <a:t>Design implication</a:t>
                      </a:r>
                    </a:p>
                  </a:txBody>
                  <a:tcPr marL="91440" marR="91440" marT="45720" marB="45720">
                    <a:solidFill>
                      <a:srgbClr val="2B5F4C"/>
                    </a:solidFill>
                  </a:tcPr>
                </a:tc>
              </a:tr>
              <a:tr h="666750">
                <a:tc>
                  <a:txBody>
                    <a:bodyPr>
                      <a:noAutofit/>
                    </a:bodyPr>
                    <a:lstStyle/>
                    <a:p>
                      <a:r>
                        <a:rPr sz="1725" b="0">
                          <a:solidFill>
                            <a:srgbClr val="183D34"/>
                          </a:solidFill>
                          <a:latin typeface="Arial"/>
                          <a:ea typeface="Arial"/>
                          <a:cs typeface="Arial"/>
                        </a:rPr>
                        <a:t>Immonen, 2023</a:t>
                      </a:r>
                    </a:p>
                  </a:txBody>
                  <a:tcPr marL="91440" marR="91440" marT="45720" marB="45720">
                    <a:solidFill>
                      <a:srgbClr val="FFFFFF"/>
                    </a:solidFill>
                  </a:tcPr>
                </a:tc>
                <a:tc>
                  <a:txBody>
                    <a:bodyPr>
                      <a:noAutofit/>
                    </a:bodyPr>
                    <a:lstStyle/>
                    <a:p>
                      <a:r>
                        <a:rPr sz="1725" b="0">
                          <a:solidFill>
                            <a:srgbClr val="183D34"/>
                          </a:solidFill>
                          <a:latin typeface="Arial"/>
                          <a:ea typeface="Arial"/>
                          <a:cs typeface="Arial"/>
                        </a:rPr>
                        <a:t>State the platform role and who controls provider selection</a:t>
                      </a:r>
                    </a:p>
                  </a:txBody>
                  <a:tcPr marL="91440" marR="91440" marT="45720" marB="45720">
                    <a:solidFill>
                      <a:srgbClr val="FFFFFF"/>
                    </a:solidFill>
                  </a:tcPr>
                </a:tc>
              </a:tr>
              <a:tr h="666750">
                <a:tc>
                  <a:txBody>
                    <a:bodyPr>
                      <a:noAutofit/>
                    </a:bodyPr>
                    <a:lstStyle/>
                    <a:p>
                      <a:r>
                        <a:rPr sz="1725" b="0">
                          <a:solidFill>
                            <a:srgbClr val="183D34"/>
                          </a:solidFill>
                          <a:latin typeface="Arial"/>
                          <a:ea typeface="Arial"/>
                          <a:cs typeface="Arial"/>
                        </a:rPr>
                        <a:t>Ticona, 2022</a:t>
                      </a:r>
                    </a:p>
                  </a:txBody>
                  <a:tcPr marL="91440" marR="91440" marT="45720" marB="45720">
                    <a:solidFill>
                      <a:srgbClr val="EDF3E5"/>
                    </a:solidFill>
                  </a:tcPr>
                </a:tc>
                <a:tc>
                  <a:txBody>
                    <a:bodyPr>
                      <a:noAutofit/>
                    </a:bodyPr>
                    <a:lstStyle/>
                    <a:p>
                      <a:r>
                        <a:rPr sz="1725" b="0">
                          <a:solidFill>
                            <a:srgbClr val="183D34"/>
                          </a:solidFill>
                          <a:latin typeface="Arial"/>
                          <a:ea typeface="Arial"/>
                          <a:cs typeface="Arial"/>
                        </a:rPr>
                        <a:t>Provide reporting and avoid unsupported trust guarantees</a:t>
                      </a:r>
                    </a:p>
                  </a:txBody>
                  <a:tcPr marL="91440" marR="91440" marT="45720" marB="45720">
                    <a:solidFill>
                      <a:srgbClr val="EDF3E5"/>
                    </a:solidFill>
                  </a:tcPr>
                </a:tc>
              </a:tr>
              <a:tr h="666750">
                <a:tc>
                  <a:txBody>
                    <a:bodyPr>
                      <a:noAutofit/>
                    </a:bodyPr>
                    <a:lstStyle/>
                    <a:p>
                      <a:r>
                        <a:rPr sz="1725" b="0">
                          <a:solidFill>
                            <a:srgbClr val="183D34"/>
                          </a:solidFill>
                          <a:latin typeface="Arial"/>
                          <a:ea typeface="Arial"/>
                          <a:cs typeface="Arial"/>
                        </a:rPr>
                        <a:t>Gebru et al., 2021</a:t>
                      </a:r>
                    </a:p>
                  </a:txBody>
                  <a:tcPr marL="91440" marR="91440" marT="45720" marB="45720">
                    <a:solidFill>
                      <a:srgbClr val="FFFFFF"/>
                    </a:solidFill>
                  </a:tcPr>
                </a:tc>
                <a:tc>
                  <a:txBody>
                    <a:bodyPr>
                      <a:noAutofit/>
                    </a:bodyPr>
                    <a:lstStyle/>
                    <a:p>
                      <a:r>
                        <a:rPr sz="1725" b="0">
                          <a:solidFill>
                            <a:srgbClr val="183D34"/>
                          </a:solidFill>
                          <a:latin typeface="Arial"/>
                          <a:ea typeface="Arial"/>
                          <a:cs typeface="Arial"/>
                        </a:rPr>
                        <a:t>Document dataset provenance, collection and limitations</a:t>
                      </a:r>
                    </a:p>
                  </a:txBody>
                  <a:tcPr marL="91440" marR="91440" marT="45720" marB="45720">
                    <a:solidFill>
                      <a:srgbClr val="FFFFFF"/>
                    </a:solidFill>
                  </a:tcPr>
                </a:tc>
              </a:tr>
              <a:tr h="666750">
                <a:tc>
                  <a:txBody>
                    <a:bodyPr>
                      <a:noAutofit/>
                    </a:bodyPr>
                    <a:lstStyle/>
                    <a:p>
                      <a:r>
                        <a:rPr sz="1725" b="0">
                          <a:solidFill>
                            <a:srgbClr val="183D34"/>
                          </a:solidFill>
                          <a:latin typeface="Arial"/>
                          <a:ea typeface="Arial"/>
                          <a:cs typeface="Arial"/>
                        </a:rPr>
                        <a:t>Kapoor &amp; Narayanan, 2023</a:t>
                      </a:r>
                    </a:p>
                  </a:txBody>
                  <a:tcPr marL="91440" marR="91440" marT="45720" marB="45720">
                    <a:solidFill>
                      <a:srgbClr val="EDF3E5"/>
                    </a:solidFill>
                  </a:tcPr>
                </a:tc>
                <a:tc>
                  <a:txBody>
                    <a:bodyPr>
                      <a:noAutofit/>
                    </a:bodyPr>
                    <a:lstStyle/>
                    <a:p>
                      <a:r>
                        <a:rPr sz="1725" b="0">
                          <a:solidFill>
                            <a:srgbClr val="183D34"/>
                          </a:solidFill>
                          <a:latin typeface="Arial"/>
                          <a:ea typeface="Arial"/>
                          <a:cs typeface="Arial"/>
                        </a:rPr>
                        <a:t>Group duplicates and preserve a frozen test set</a:t>
                      </a:r>
                    </a:p>
                  </a:txBody>
                  <a:tcPr marL="91440" marR="91440" marT="45720" marB="45720">
                    <a:solidFill>
                      <a:srgbClr val="EDF3E5"/>
                    </a:solidFill>
                  </a:tcPr>
                </a:tc>
              </a:tr>
              <a:tr h="666750">
                <a:tc>
                  <a:txBody>
                    <a:bodyPr>
                      <a:noAutofit/>
                    </a:bodyPr>
                    <a:lstStyle/>
                    <a:p>
                      <a:r>
                        <a:rPr sz="1725" b="0">
                          <a:solidFill>
                            <a:srgbClr val="183D34"/>
                          </a:solidFill>
                          <a:latin typeface="Arial"/>
                          <a:ea typeface="Arial"/>
                          <a:cs typeface="Arial"/>
                        </a:rPr>
                        <a:t>Veitsman &amp; Hartmann, 2025</a:t>
                      </a:r>
                    </a:p>
                  </a:txBody>
                  <a:tcPr marL="91440" marR="91440" marT="45720" marB="45720">
                    <a:solidFill>
                      <a:srgbClr val="FFFFFF"/>
                    </a:solidFill>
                  </a:tcPr>
                </a:tc>
                <a:tc>
                  <a:txBody>
                    <a:bodyPr>
                      <a:noAutofit/>
                    </a:bodyPr>
                    <a:lstStyle/>
                    <a:p>
                      <a:r>
                        <a:rPr sz="1725" b="0">
                          <a:solidFill>
                            <a:srgbClr val="183D34"/>
                          </a:solidFill>
                          <a:latin typeface="Arial"/>
                          <a:ea typeface="Arial"/>
                          <a:cs typeface="Arial"/>
                        </a:rPr>
                        <a:t>Evaluate Kazakh coverage and language-specific limitations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23A2424-03B7-451D-9829-B015F48B98DF}"/>
              </a:ext>
            </a:extLst>
          </p:cNvPr>
          <p:cNvSpPr>
            <a:spLocks xmlns:a="http://schemas.openxmlformats.org/drawingml/2006/main" noGrp="1"/>
          </p:cNvSpPr>
          <p:nvPr/>
        </p:nvSpPr>
        <p:spPr>
          <a:xfrm xmlns:a="http://schemas.openxmlformats.org/drawingml/2006/main">
            <a:off x="628650" y="57150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D7167"/>
                </a:solidFill>
                <a:latin typeface="Arial"/>
                <a:ea typeface="Arial"/>
                <a:cs typeface="Arial"/>
              </a:defRPr>
            </a:pPr>
            <a:r>
              <a:rPr sz="1650" b="0">
                <a:solidFill>
                  <a:srgbClr val="5D7167"/>
                </a:solidFill>
                <a:latin typeface="Arial"/>
                <a:ea typeface="Arial"/>
                <a:cs typeface="Arial"/>
              </a:rPr>
              <a:t>Transfer to UyCare is a design inference. Local user and domain-data validation are still required.</a:t>
            </a:r>
          </a:p>
        </p:txBody>
      </p:sp>
    </p:spTree>
    <p:extLst>
      <p:ext uri="{BB962C8B-B14F-4D97-AF65-F5344CB8AC3E}">
        <p14:creationId xmlns:p14="http://schemas.microsoft.com/office/powerpoint/2010/main" val="434743738"/>
      </p:ext>
    </p:extLst>
  </p:cSld>
</p:sld>
</file>

<file path=ppt/slides/slide7.xml><?xml version="1.0" encoding="utf-8"?>
<p:sld xmlns:p="http://schemas.openxmlformats.org/presentationml/2006/main">
  <p:cSld>
    <p:bg>
      <p:bgPr>
        <a:solidFill xmlns:a="http://schemas.openxmlformats.org/drawingml/2006/main">
          <a:srgbClr val="FAFC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7B6EAAA-C157-48A3-BBA0-98D43E3F78D8}"/>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D34"/>
                </a:solidFill>
                <a:latin typeface="Arial"/>
                <a:ea typeface="Arial"/>
                <a:cs typeface="Arial"/>
              </a:defRPr>
            </a:pPr>
            <a:r>
              <a:rPr sz="3150" b="1">
                <a:solidFill>
                  <a:srgbClr val="183D34"/>
                </a:solidFill>
                <a:latin typeface="Arial"/>
                <a:ea typeface="Arial"/>
                <a:cs typeface="Arial"/>
              </a:rPr>
              <a:t>Literature informing category classification</a:t>
            </a:r>
          </a:p>
        </p:txBody>
      </p:sp>
      <p:sp>
        <p:nvSpPr>
          <p:cNvPr id="2" name="">
            <a:extLst xmlns:a="http://schemas.openxmlformats.org/drawingml/2006/main">
              <a:ext uri="{FF2B5EF4-FFF2-40B4-BE49-F238E27FC236}">
                <a16:creationId xmlns:a16="http://schemas.microsoft.com/office/drawing/2014/main" id="{DFECDEDD-D1FF-4114-B695-13DF6923BB1A}"/>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D7167"/>
                </a:solidFill>
                <a:latin typeface="Arial"/>
                <a:ea typeface="Arial"/>
                <a:cs typeface="Arial"/>
              </a:defRPr>
            </a:pPr>
            <a:r>
              <a:rPr sz="1125" b="0">
                <a:solidFill>
                  <a:srgbClr val="5D7167"/>
                </a:solidFill>
                <a:latin typeface="Arial"/>
                <a:ea typeface="Arial"/>
                <a:cs typeface="Arial"/>
              </a:rPr>
              <a:t>7</a:t>
            </a:r>
          </a:p>
        </p:txBody>
      </p:sp>
      <p:graphicFrame>
        <p:nvGraphicFramePr>
          <p:cNvPr id="7" name=""/>
          <p:cNvGraphicFramePr/>
          <p:nvPr/>
        </p:nvGraphicFramePr>
        <p:xfrm>
          <a:off xmlns:a="http://schemas.openxmlformats.org/drawingml/2006/main" x="609600" y="1428750"/>
          <a:ext xmlns:a="http://schemas.openxmlformats.org/drawingml/2006/main" cx="10972800" cy="4000500"/>
        </p:xfrm>
        <a:graphic xmlns:a="http://schemas.openxmlformats.org/drawingml/2006/main">
          <a:graphicData uri="http://schemas.openxmlformats.org/drawingml/2006/table">
            <a:tbl>
              <a:tblPr/>
              <a:tblGrid>
                <a:gridCol w="4000500"/>
                <a:gridCol w="6972300"/>
              </a:tblGrid>
              <a:tr h="666750">
                <a:tc>
                  <a:txBody>
                    <a:bodyPr>
                      <a:noAutofit/>
                    </a:bodyPr>
                    <a:lstStyle/>
                    <a:p>
                      <a:r>
                        <a:rPr sz="1725" b="1">
                          <a:solidFill>
                            <a:srgbClr val="FFFFFF"/>
                          </a:solidFill>
                          <a:latin typeface="Arial"/>
                          <a:ea typeface="Arial"/>
                          <a:cs typeface="Arial"/>
                        </a:rPr>
                        <a:t>Publication</a:t>
                      </a:r>
                    </a:p>
                  </a:txBody>
                  <a:tcPr marL="91440" marR="91440" marT="45720" marB="45720">
                    <a:solidFill>
                      <a:srgbClr val="2B5F4C"/>
                    </a:solidFill>
                  </a:tcPr>
                </a:tc>
                <a:tc>
                  <a:txBody>
                    <a:bodyPr>
                      <a:noAutofit/>
                    </a:bodyPr>
                    <a:lstStyle/>
                    <a:p>
                      <a:r>
                        <a:rPr sz="1725" b="1">
                          <a:solidFill>
                            <a:srgbClr val="FFFFFF"/>
                          </a:solidFill>
                          <a:latin typeface="Arial"/>
                          <a:ea typeface="Arial"/>
                          <a:cs typeface="Arial"/>
                        </a:rPr>
                        <a:t>Use and limitation</a:t>
                      </a:r>
                    </a:p>
                  </a:txBody>
                  <a:tcPr marL="91440" marR="91440" marT="45720" marB="45720">
                    <a:solidFill>
                      <a:srgbClr val="2B5F4C"/>
                    </a:solidFill>
                  </a:tcPr>
                </a:tc>
              </a:tr>
              <a:tr h="666750">
                <a:tc>
                  <a:txBody>
                    <a:bodyPr>
                      <a:noAutofit/>
                    </a:bodyPr>
                    <a:lstStyle/>
                    <a:p>
                      <a:r>
                        <a:rPr sz="1725" b="0">
                          <a:solidFill>
                            <a:srgbClr val="183D34"/>
                          </a:solidFill>
                          <a:latin typeface="Arial"/>
                          <a:ea typeface="Arial"/>
                          <a:cs typeface="Arial"/>
                        </a:rPr>
                        <a:t>MTEB, 2023</a:t>
                      </a:r>
                    </a:p>
                  </a:txBody>
                  <a:tcPr marL="91440" marR="91440" marT="45720" marB="45720">
                    <a:solidFill>
                      <a:srgbClr val="FFFFFF"/>
                    </a:solidFill>
                  </a:tcPr>
                </a:tc>
                <a:tc>
                  <a:txBody>
                    <a:bodyPr>
                      <a:noAutofit/>
                    </a:bodyPr>
                    <a:lstStyle/>
                    <a:p>
                      <a:r>
                        <a:rPr sz="1725" b="0">
                          <a:solidFill>
                            <a:srgbClr val="183D34"/>
                          </a:solidFill>
                          <a:latin typeface="Arial"/>
                          <a:ea typeface="Arial"/>
                          <a:cs typeface="Arial"/>
                        </a:rPr>
                        <a:t>Model rankings depend on task and dataset</a:t>
                      </a:r>
                    </a:p>
                  </a:txBody>
                  <a:tcPr marL="91440" marR="91440" marT="45720" marB="45720">
                    <a:solidFill>
                      <a:srgbClr val="FFFFFF"/>
                    </a:solidFill>
                  </a:tcPr>
                </a:tc>
              </a:tr>
              <a:tr h="666750">
                <a:tc>
                  <a:txBody>
                    <a:bodyPr>
                      <a:noAutofit/>
                    </a:bodyPr>
                    <a:lstStyle/>
                    <a:p>
                      <a:r>
                        <a:rPr sz="1725" b="0">
                          <a:solidFill>
                            <a:srgbClr val="183D34"/>
                          </a:solidFill>
                          <a:latin typeface="Arial"/>
                          <a:ea typeface="Arial"/>
                          <a:cs typeface="Arial"/>
                        </a:rPr>
                        <a:t>XLM-R, 2020</a:t>
                      </a:r>
                    </a:p>
                  </a:txBody>
                  <a:tcPr marL="91440" marR="91440" marT="45720" marB="45720">
                    <a:solidFill>
                      <a:srgbClr val="EDF3E5"/>
                    </a:solidFill>
                  </a:tcPr>
                </a:tc>
                <a:tc>
                  <a:txBody>
                    <a:bodyPr>
                      <a:noAutofit/>
                    </a:bodyPr>
                    <a:lstStyle/>
                    <a:p>
                      <a:r>
                        <a:rPr sz="1725" b="0">
                          <a:solidFill>
                            <a:srgbClr val="183D34"/>
                          </a:solidFill>
                          <a:latin typeface="Arial"/>
                          <a:ea typeface="Arial"/>
                          <a:cs typeface="Arial"/>
                        </a:rPr>
                        <a:t>Multilingual transfer foundation, not a local quality guarantee</a:t>
                      </a:r>
                    </a:p>
                  </a:txBody>
                  <a:tcPr marL="91440" marR="91440" marT="45720" marB="45720">
                    <a:solidFill>
                      <a:srgbClr val="EDF3E5"/>
                    </a:solidFill>
                  </a:tcPr>
                </a:tc>
              </a:tr>
              <a:tr h="666750">
                <a:tc>
                  <a:txBody>
                    <a:bodyPr>
                      <a:noAutofit/>
                    </a:bodyPr>
                    <a:lstStyle/>
                    <a:p>
                      <a:r>
                        <a:rPr sz="1725" b="0">
                          <a:solidFill>
                            <a:srgbClr val="183D34"/>
                          </a:solidFill>
                          <a:latin typeface="Arial"/>
                          <a:ea typeface="Arial"/>
                          <a:cs typeface="Arial"/>
                        </a:rPr>
                        <a:t>Sentence-BERT, 2019</a:t>
                      </a:r>
                    </a:p>
                  </a:txBody>
                  <a:tcPr marL="91440" marR="91440" marT="45720" marB="45720">
                    <a:solidFill>
                      <a:srgbClr val="FFFFFF"/>
                    </a:solidFill>
                  </a:tcPr>
                </a:tc>
                <a:tc>
                  <a:txBody>
                    <a:bodyPr>
                      <a:noAutofit/>
                    </a:bodyPr>
                    <a:lstStyle/>
                    <a:p>
                      <a:r>
                        <a:rPr sz="1725" b="0">
                          <a:solidFill>
                            <a:srgbClr val="183D34"/>
                          </a:solidFill>
                          <a:latin typeface="Arial"/>
                          <a:ea typeface="Arial"/>
                          <a:cs typeface="Arial"/>
                        </a:rPr>
                        <a:t>Reusable sentence embeddings for downstream classification</a:t>
                      </a:r>
                    </a:p>
                  </a:txBody>
                  <a:tcPr marL="91440" marR="91440" marT="45720" marB="45720">
                    <a:solidFill>
                      <a:srgbClr val="FFFFFF"/>
                    </a:solidFill>
                  </a:tcPr>
                </a:tc>
              </a:tr>
              <a:tr h="666750">
                <a:tc>
                  <a:txBody>
                    <a:bodyPr>
                      <a:noAutofit/>
                    </a:bodyPr>
                    <a:lstStyle/>
                    <a:p>
                      <a:r>
                        <a:rPr sz="1725" b="0">
                          <a:solidFill>
                            <a:srgbClr val="183D34"/>
                          </a:solidFill>
                          <a:latin typeface="Arial"/>
                          <a:ea typeface="Arial"/>
                          <a:cs typeface="Arial"/>
                        </a:rPr>
                        <a:t>SetFit, 2022 preprint</a:t>
                      </a:r>
                    </a:p>
                  </a:txBody>
                  <a:tcPr marL="91440" marR="91440" marT="45720" marB="45720">
                    <a:solidFill>
                      <a:srgbClr val="EDF3E5"/>
                    </a:solidFill>
                  </a:tcPr>
                </a:tc>
                <a:tc>
                  <a:txBody>
                    <a:bodyPr>
                      <a:noAutofit/>
                    </a:bodyPr>
                    <a:lstStyle/>
                    <a:p>
                      <a:r>
                        <a:rPr sz="1725" b="0">
                          <a:solidFill>
                            <a:srgbClr val="183D34"/>
                          </a:solidFill>
                          <a:latin typeface="Arial"/>
                          <a:ea typeface="Arial"/>
                          <a:cs typeface="Arial"/>
                        </a:rPr>
                        <a:t>Candidate method for limited labelled data</a:t>
                      </a:r>
                    </a:p>
                  </a:txBody>
                  <a:tcPr marL="91440" marR="91440" marT="45720" marB="45720">
                    <a:solidFill>
                      <a:srgbClr val="EDF3E5"/>
                    </a:solidFill>
                  </a:tcPr>
                </a:tc>
              </a:tr>
              <a:tr h="666750">
                <a:tc>
                  <a:txBody>
                    <a:bodyPr>
                      <a:noAutofit/>
                    </a:bodyPr>
                    <a:lstStyle/>
                    <a:p>
                      <a:r>
                        <a:rPr sz="1725" b="0">
                          <a:solidFill>
                            <a:srgbClr val="183D34"/>
                          </a:solidFill>
                          <a:latin typeface="Arial"/>
                          <a:ea typeface="Arial"/>
                          <a:cs typeface="Arial"/>
                        </a:rPr>
                        <a:t>Multilingual E5, 2024 report</a:t>
                      </a:r>
                    </a:p>
                  </a:txBody>
                  <a:tcPr marL="91440" marR="91440" marT="45720" marB="45720">
                    <a:solidFill>
                      <a:srgbClr val="FFFFFF"/>
                    </a:solidFill>
                  </a:tcPr>
                </a:tc>
                <a:tc>
                  <a:txBody>
                    <a:bodyPr>
                      <a:noAutofit/>
                    </a:bodyPr>
                    <a:lstStyle/>
                    <a:p>
                      <a:r>
                        <a:rPr sz="1725" b="0">
                          <a:solidFill>
                            <a:srgbClr val="183D34"/>
                          </a:solidFill>
                          <a:latin typeface="Arial"/>
                          <a:ea typeface="Arial"/>
                          <a:cs typeface="Arial"/>
                        </a:rPr>
                        <a:t>Candidate encoder with an explicit inference-cost tradeoff</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0417527-4DED-4230-B32C-8826007E1195}"/>
              </a:ext>
            </a:extLst>
          </p:cNvPr>
          <p:cNvSpPr>
            <a:spLocks xmlns:a="http://schemas.openxmlformats.org/drawingml/2006/main" noGrp="1"/>
          </p:cNvSpPr>
          <p:nvPr/>
        </p:nvSpPr>
        <p:spPr>
          <a:xfrm xmlns:a="http://schemas.openxmlformats.org/drawingml/2006/main">
            <a:off x="628650" y="57150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D7167"/>
                </a:solidFill>
                <a:latin typeface="Arial"/>
                <a:ea typeface="Arial"/>
                <a:cs typeface="Arial"/>
              </a:defRPr>
            </a:pPr>
            <a:r>
              <a:rPr sz="1650" b="0">
                <a:solidFill>
                  <a:srgbClr val="5D7167"/>
                </a:solidFill>
                <a:latin typeface="Arial"/>
                <a:ea typeface="Arial"/>
                <a:cs typeface="Arial"/>
              </a:rPr>
              <a:t>Eight of ten scientific/research sources are from 2021–2025. Two older works are foundational.</a:t>
            </a:r>
          </a:p>
        </p:txBody>
      </p:sp>
    </p:spTree>
    <p:extLst>
      <p:ext uri="{BB962C8B-B14F-4D97-AF65-F5344CB8AC3E}">
        <p14:creationId xmlns:p14="http://schemas.microsoft.com/office/powerpoint/2010/main" val="830428388"/>
      </p:ext>
    </p:extLst>
  </p:cSld>
</p:sld>
</file>

<file path=ppt/slides/slide8.xml><?xml version="1.0" encoding="utf-8"?>
<p:sld xmlns:p="http://schemas.openxmlformats.org/presentationml/2006/main">
  <p:cSld>
    <p:bg>
      <p:bgPr>
        <a:solidFill xmlns:a="http://schemas.openxmlformats.org/drawingml/2006/main">
          <a:srgbClr val="FAFC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D0B186B-FF68-4939-8D5D-65824ACCEB4F}"/>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D34"/>
                </a:solidFill>
                <a:latin typeface="Arial"/>
                <a:ea typeface="Arial"/>
                <a:cs typeface="Arial"/>
              </a:defRPr>
            </a:pPr>
            <a:r>
              <a:rPr sz="3150" b="1">
                <a:solidFill>
                  <a:srgbClr val="183D34"/>
                </a:solidFill>
                <a:latin typeface="Arial"/>
                <a:ea typeface="Arial"/>
                <a:cs typeface="Arial"/>
              </a:rPr>
              <a:t>Existing systems and core selection</a:t>
            </a:r>
          </a:p>
        </p:txBody>
      </p:sp>
      <p:sp>
        <p:nvSpPr>
          <p:cNvPr id="2" name="">
            <a:extLst xmlns:a="http://schemas.openxmlformats.org/drawingml/2006/main">
              <a:ext uri="{FF2B5EF4-FFF2-40B4-BE49-F238E27FC236}">
                <a16:creationId xmlns:a16="http://schemas.microsoft.com/office/drawing/2014/main" id="{1942053B-F081-49CC-B118-3B9BAAFF3A6E}"/>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D7167"/>
                </a:solidFill>
                <a:latin typeface="Arial"/>
                <a:ea typeface="Arial"/>
                <a:cs typeface="Arial"/>
              </a:defRPr>
            </a:pPr>
            <a:r>
              <a:rPr sz="1125" b="0">
                <a:solidFill>
                  <a:srgbClr val="5D7167"/>
                </a:solidFill>
                <a:latin typeface="Arial"/>
                <a:ea typeface="Arial"/>
                <a:cs typeface="Arial"/>
              </a:rPr>
              <a:t>8</a:t>
            </a:r>
          </a:p>
        </p:txBody>
      </p:sp>
      <p:graphicFrame>
        <p:nvGraphicFramePr>
          <p:cNvPr id="7" name=""/>
          <p:cNvGraphicFramePr/>
          <p:nvPr/>
        </p:nvGraphicFramePr>
        <p:xfrm>
          <a:off xmlns:a="http://schemas.openxmlformats.org/drawingml/2006/main" x="609600" y="1476375"/>
          <a:ext xmlns:a="http://schemas.openxmlformats.org/drawingml/2006/main" cx="10972800" cy="4000500"/>
        </p:xfrm>
        <a:graphic xmlns:a="http://schemas.openxmlformats.org/drawingml/2006/main">
          <a:graphicData uri="http://schemas.openxmlformats.org/drawingml/2006/table">
            <a:tbl>
              <a:tblPr/>
              <a:tblGrid>
                <a:gridCol w="2857500"/>
                <a:gridCol w="2705100"/>
                <a:gridCol w="2705100"/>
                <a:gridCol w="2705100"/>
              </a:tblGrid>
              <a:tr h="666750">
                <a:tc>
                  <a:txBody>
                    <a:bodyPr>
                      <a:noAutofit/>
                    </a:bodyPr>
                    <a:lstStyle/>
                    <a:p>
                      <a:r>
                        <a:rPr sz="1650" b="1">
                          <a:solidFill>
                            <a:srgbClr val="FFFFFF"/>
                          </a:solidFill>
                          <a:latin typeface="Arial"/>
                          <a:ea typeface="Arial"/>
                          <a:cs typeface="Arial"/>
                        </a:rPr>
                        <a:t>Criterion</a:t>
                      </a:r>
                    </a:p>
                  </a:txBody>
                  <a:tcPr marL="91440" marR="91440" marT="45720" marB="45720">
                    <a:solidFill>
                      <a:srgbClr val="2B5F4C"/>
                    </a:solidFill>
                  </a:tcPr>
                </a:tc>
                <a:tc>
                  <a:txBody>
                    <a:bodyPr>
                      <a:noAutofit/>
                    </a:bodyPr>
                    <a:lstStyle/>
                    <a:p>
                      <a:r>
                        <a:rPr sz="1650" b="1">
                          <a:solidFill>
                            <a:srgbClr val="FFFFFF"/>
                          </a:solidFill>
                          <a:latin typeface="Arial"/>
                          <a:ea typeface="Arial"/>
                          <a:cs typeface="Arial"/>
                        </a:rPr>
                        <a:t>Profi.kz</a:t>
                      </a:r>
                    </a:p>
                  </a:txBody>
                  <a:tcPr marL="91440" marR="91440" marT="45720" marB="45720">
                    <a:solidFill>
                      <a:srgbClr val="2B5F4C"/>
                    </a:solidFill>
                  </a:tcPr>
                </a:tc>
                <a:tc>
                  <a:txBody>
                    <a:bodyPr>
                      <a:noAutofit/>
                    </a:bodyPr>
                    <a:lstStyle/>
                    <a:p>
                      <a:r>
                        <a:rPr sz="1650" b="1">
                          <a:solidFill>
                            <a:srgbClr val="FFFFFF"/>
                          </a:solidFill>
                          <a:latin typeface="Arial"/>
                          <a:ea typeface="Arial"/>
                          <a:cs typeface="Arial"/>
                        </a:rPr>
                        <a:t>Taskrabbit</a:t>
                      </a:r>
                    </a:p>
                  </a:txBody>
                  <a:tcPr marL="91440" marR="91440" marT="45720" marB="45720">
                    <a:solidFill>
                      <a:srgbClr val="2B5F4C"/>
                    </a:solidFill>
                  </a:tcPr>
                </a:tc>
                <a:tc>
                  <a:txBody>
                    <a:bodyPr>
                      <a:noAutofit/>
                    </a:bodyPr>
                    <a:lstStyle/>
                    <a:p>
                      <a:r>
                        <a:rPr sz="1650" b="1">
                          <a:solidFill>
                            <a:srgbClr val="FFFFFF"/>
                          </a:solidFill>
                          <a:latin typeface="Arial"/>
                          <a:ea typeface="Arial"/>
                          <a:cs typeface="Arial"/>
                        </a:rPr>
                        <a:t>Airtasker AU</a:t>
                      </a:r>
                    </a:p>
                  </a:txBody>
                  <a:tcPr marL="91440" marR="91440" marT="45720" marB="45720">
                    <a:solidFill>
                      <a:srgbClr val="2B5F4C"/>
                    </a:solidFill>
                  </a:tcPr>
                </a:tc>
              </a:tr>
              <a:tr h="666750">
                <a:tc>
                  <a:txBody>
                    <a:bodyPr>
                      <a:noAutofit/>
                    </a:bodyPr>
                    <a:lstStyle/>
                    <a:p>
                      <a:r>
                        <a:rPr sz="1650" b="0">
                          <a:solidFill>
                            <a:srgbClr val="183D34"/>
                          </a:solidFill>
                          <a:latin typeface="Arial"/>
                          <a:ea typeface="Arial"/>
                          <a:cs typeface="Arial"/>
                        </a:rPr>
                        <a:t>Request publication</a:t>
                      </a:r>
                    </a:p>
                  </a:txBody>
                  <a:tcPr marL="91440" marR="91440" marT="45720" marB="45720">
                    <a:solidFill>
                      <a:srgbClr val="FFFFFF"/>
                    </a:solidFill>
                  </a:tcPr>
                </a:tc>
                <a:tc>
                  <a:txBody>
                    <a:bodyPr>
                      <a:noAutofit/>
                    </a:bodyPr>
                    <a:lstStyle/>
                    <a:p>
                      <a:r>
                        <a:rPr sz="1650" b="0">
                          <a:solidFill>
                            <a:srgbClr val="183D34"/>
                          </a:solidFill>
                          <a:latin typeface="Arial"/>
                          <a:ea typeface="Arial"/>
                          <a:cs typeface="Arial"/>
                        </a:rPr>
                        <a:t>Yes</a:t>
                      </a:r>
                    </a:p>
                  </a:txBody>
                  <a:tcPr marL="91440" marR="91440" marT="45720" marB="45720">
                    <a:solidFill>
                      <a:srgbClr val="FFFFFF"/>
                    </a:solidFill>
                  </a:tcPr>
                </a:tc>
                <a:tc>
                  <a:txBody>
                    <a:bodyPr>
                      <a:noAutofit/>
                    </a:bodyPr>
                    <a:lstStyle/>
                    <a:p>
                      <a:r>
                        <a:rPr sz="1650" b="0">
                          <a:solidFill>
                            <a:srgbClr val="183D34"/>
                          </a:solidFill>
                          <a:latin typeface="Arial"/>
                          <a:ea typeface="Arial"/>
                          <a:cs typeface="Arial"/>
                        </a:rPr>
                        <a:t>Before booking</a:t>
                      </a:r>
                    </a:p>
                  </a:txBody>
                  <a:tcPr marL="91440" marR="91440" marT="45720" marB="45720">
                    <a:solidFill>
                      <a:srgbClr val="FFFFFF"/>
                    </a:solidFill>
                  </a:tcPr>
                </a:tc>
                <a:tc>
                  <a:txBody>
                    <a:bodyPr>
                      <a:noAutofit/>
                    </a:bodyPr>
                    <a:lstStyle/>
                    <a:p>
                      <a:r>
                        <a:rPr sz="1650" b="0">
                          <a:solidFill>
                            <a:srgbClr val="183D34"/>
                          </a:solidFill>
                          <a:latin typeface="Arial"/>
                          <a:ea typeface="Arial"/>
                          <a:cs typeface="Arial"/>
                        </a:rPr>
                        <a:t>Yes</a:t>
                      </a:r>
                    </a:p>
                  </a:txBody>
                  <a:tcPr marL="91440" marR="91440" marT="45720" marB="45720">
                    <a:solidFill>
                      <a:srgbClr val="FFFFFF"/>
                    </a:solidFill>
                  </a:tcPr>
                </a:tc>
              </a:tr>
              <a:tr h="666750">
                <a:tc>
                  <a:txBody>
                    <a:bodyPr>
                      <a:noAutofit/>
                    </a:bodyPr>
                    <a:lstStyle/>
                    <a:p>
                      <a:r>
                        <a:rPr sz="1650" b="0">
                          <a:solidFill>
                            <a:srgbClr val="183D34"/>
                          </a:solidFill>
                          <a:latin typeface="Arial"/>
                          <a:ea typeface="Arial"/>
                          <a:cs typeface="Arial"/>
                        </a:rPr>
                        <a:t>Competing offers</a:t>
                      </a:r>
                    </a:p>
                  </a:txBody>
                  <a:tcPr marL="91440" marR="91440" marT="45720" marB="45720">
                    <a:solidFill>
                      <a:srgbClr val="EDF3E5"/>
                    </a:solidFill>
                  </a:tcPr>
                </a:tc>
                <a:tc>
                  <a:txBody>
                    <a:bodyPr>
                      <a:noAutofit/>
                    </a:bodyPr>
                    <a:lstStyle/>
                    <a:p>
                      <a:r>
                        <a:rPr sz="1650" b="0">
                          <a:solidFill>
                            <a:srgbClr val="183D34"/>
                          </a:solidFill>
                          <a:latin typeface="Arial"/>
                          <a:ea typeface="Arial"/>
                          <a:cs typeface="Arial"/>
                        </a:rPr>
                        <a:t>Yes</a:t>
                      </a:r>
                    </a:p>
                  </a:txBody>
                  <a:tcPr marL="91440" marR="91440" marT="45720" marB="45720">
                    <a:solidFill>
                      <a:srgbClr val="EDF3E5"/>
                    </a:solidFill>
                  </a:tcPr>
                </a:tc>
                <a:tc>
                  <a:txBody>
                    <a:bodyPr>
                      <a:noAutofit/>
                    </a:bodyPr>
                    <a:lstStyle/>
                    <a:p>
                      <a:r>
                        <a:rPr sz="1650" b="0">
                          <a:solidFill>
                            <a:srgbClr val="183D34"/>
                          </a:solidFill>
                          <a:latin typeface="Arial"/>
                          <a:ea typeface="Arial"/>
                          <a:cs typeface="Arial"/>
                        </a:rPr>
                        <a:t>Not established</a:t>
                      </a:r>
                    </a:p>
                  </a:txBody>
                  <a:tcPr marL="91440" marR="91440" marT="45720" marB="45720">
                    <a:solidFill>
                      <a:srgbClr val="EDF3E5"/>
                    </a:solidFill>
                  </a:tcPr>
                </a:tc>
                <a:tc>
                  <a:txBody>
                    <a:bodyPr>
                      <a:noAutofit/>
                    </a:bodyPr>
                    <a:lstStyle/>
                    <a:p>
                      <a:r>
                        <a:rPr sz="1650" b="0">
                          <a:solidFill>
                            <a:srgbClr val="183D34"/>
                          </a:solidFill>
                          <a:latin typeface="Arial"/>
                          <a:ea typeface="Arial"/>
                          <a:cs typeface="Arial"/>
                        </a:rPr>
                        <a:t>Yes</a:t>
                      </a:r>
                    </a:p>
                  </a:txBody>
                  <a:tcPr marL="91440" marR="91440" marT="45720" marB="45720">
                    <a:solidFill>
                      <a:srgbClr val="EDF3E5"/>
                    </a:solidFill>
                  </a:tcPr>
                </a:tc>
              </a:tr>
              <a:tr h="666750">
                <a:tc>
                  <a:txBody>
                    <a:bodyPr>
                      <a:noAutofit/>
                    </a:bodyPr>
                    <a:lstStyle/>
                    <a:p>
                      <a:r>
                        <a:rPr sz="1650" b="0">
                          <a:solidFill>
                            <a:srgbClr val="183D34"/>
                          </a:solidFill>
                          <a:latin typeface="Arial"/>
                          <a:ea typeface="Arial"/>
                          <a:cs typeface="Arial"/>
                        </a:rPr>
                        <a:t>Customer selection</a:t>
                      </a:r>
                    </a:p>
                  </a:txBody>
                  <a:tcPr marL="91440" marR="91440" marT="45720" marB="45720">
                    <a:solidFill>
                      <a:srgbClr val="FFFFFF"/>
                    </a:solidFill>
                  </a:tcPr>
                </a:tc>
                <a:tc>
                  <a:txBody>
                    <a:bodyPr>
                      <a:noAutofit/>
                    </a:bodyPr>
                    <a:lstStyle/>
                    <a:p>
                      <a:r>
                        <a:rPr sz="1650" b="0">
                          <a:solidFill>
                            <a:srgbClr val="183D34"/>
                          </a:solidFill>
                          <a:latin typeface="Arial"/>
                          <a:ea typeface="Arial"/>
                          <a:cs typeface="Arial"/>
                        </a:rPr>
                        <a:t>Yes</a:t>
                      </a:r>
                    </a:p>
                  </a:txBody>
                  <a:tcPr marL="91440" marR="91440" marT="45720" marB="45720">
                    <a:solidFill>
                      <a:srgbClr val="FFFFFF"/>
                    </a:solidFill>
                  </a:tcPr>
                </a:tc>
                <a:tc>
                  <a:txBody>
                    <a:bodyPr>
                      <a:noAutofit/>
                    </a:bodyPr>
                    <a:lstStyle/>
                    <a:p>
                      <a:r>
                        <a:rPr sz="1650" b="0">
                          <a:solidFill>
                            <a:srgbClr val="183D34"/>
                          </a:solidFill>
                          <a:latin typeface="Arial"/>
                          <a:ea typeface="Arial"/>
                          <a:cs typeface="Arial"/>
                        </a:rPr>
                        <a:t>Yes</a:t>
                      </a:r>
                    </a:p>
                  </a:txBody>
                  <a:tcPr marL="91440" marR="91440" marT="45720" marB="45720">
                    <a:solidFill>
                      <a:srgbClr val="FFFFFF"/>
                    </a:solidFill>
                  </a:tcPr>
                </a:tc>
                <a:tc>
                  <a:txBody>
                    <a:bodyPr>
                      <a:noAutofit/>
                    </a:bodyPr>
                    <a:lstStyle/>
                    <a:p>
                      <a:r>
                        <a:rPr sz="1650" b="0">
                          <a:solidFill>
                            <a:srgbClr val="183D34"/>
                          </a:solidFill>
                          <a:latin typeface="Arial"/>
                          <a:ea typeface="Arial"/>
                          <a:cs typeface="Arial"/>
                        </a:rPr>
                        <a:t>Yes</a:t>
                      </a:r>
                    </a:p>
                  </a:txBody>
                  <a:tcPr marL="91440" marR="91440" marT="45720" marB="45720">
                    <a:solidFill>
                      <a:srgbClr val="FFFFFF"/>
                    </a:solidFill>
                  </a:tcPr>
                </a:tc>
              </a:tr>
              <a:tr h="666750">
                <a:tc>
                  <a:txBody>
                    <a:bodyPr>
                      <a:noAutofit/>
                    </a:bodyPr>
                    <a:lstStyle/>
                    <a:p>
                      <a:r>
                        <a:rPr sz="1650" b="0">
                          <a:solidFill>
                            <a:srgbClr val="183D34"/>
                          </a:solidFill>
                          <a:latin typeface="Arial"/>
                          <a:ea typeface="Arial"/>
                          <a:cs typeface="Arial"/>
                        </a:rPr>
                        <a:t>Price model</a:t>
                      </a:r>
                    </a:p>
                  </a:txBody>
                  <a:tcPr marL="91440" marR="91440" marT="45720" marB="45720">
                    <a:solidFill>
                      <a:srgbClr val="EDF3E5"/>
                    </a:solidFill>
                  </a:tcPr>
                </a:tc>
                <a:tc>
                  <a:txBody>
                    <a:bodyPr>
                      <a:noAutofit/>
                    </a:bodyPr>
                    <a:lstStyle/>
                    <a:p>
                      <a:r>
                        <a:rPr sz="1650" b="0">
                          <a:solidFill>
                            <a:srgbClr val="183D34"/>
                          </a:solidFill>
                          <a:latin typeface="Arial"/>
                          <a:ea typeface="Arial"/>
                          <a:cs typeface="Arial"/>
                        </a:rPr>
                        <a:t>Provider quote</a:t>
                      </a:r>
                    </a:p>
                  </a:txBody>
                  <a:tcPr marL="91440" marR="91440" marT="45720" marB="45720">
                    <a:solidFill>
                      <a:srgbClr val="EDF3E5"/>
                    </a:solidFill>
                  </a:tcPr>
                </a:tc>
                <a:tc>
                  <a:txBody>
                    <a:bodyPr>
                      <a:noAutofit/>
                    </a:bodyPr>
                    <a:lstStyle/>
                    <a:p>
                      <a:r>
                        <a:rPr sz="1650" b="0">
                          <a:solidFill>
                            <a:srgbClr val="183D34"/>
                          </a:solidFill>
                          <a:latin typeface="Arial"/>
                          <a:ea typeface="Arial"/>
                          <a:cs typeface="Arial"/>
                        </a:rPr>
                        <a:t>Hourly rate</a:t>
                      </a:r>
                    </a:p>
                  </a:txBody>
                  <a:tcPr marL="91440" marR="91440" marT="45720" marB="45720">
                    <a:solidFill>
                      <a:srgbClr val="EDF3E5"/>
                    </a:solidFill>
                  </a:tcPr>
                </a:tc>
                <a:tc>
                  <a:txBody>
                    <a:bodyPr>
                      <a:noAutofit/>
                    </a:bodyPr>
                    <a:lstStyle/>
                    <a:p>
                      <a:r>
                        <a:rPr sz="1650" b="0">
                          <a:solidFill>
                            <a:srgbClr val="183D34"/>
                          </a:solidFill>
                          <a:latin typeface="Arial"/>
                          <a:ea typeface="Arial"/>
                          <a:cs typeface="Arial"/>
                        </a:rPr>
                        <a:t>Budget and quote</a:t>
                      </a:r>
                    </a:p>
                  </a:txBody>
                  <a:tcPr marL="91440" marR="91440" marT="45720" marB="45720">
                    <a:solidFill>
                      <a:srgbClr val="EDF3E5"/>
                    </a:solidFill>
                  </a:tcPr>
                </a:tc>
              </a:tr>
              <a:tr h="666750">
                <a:tc>
                  <a:txBody>
                    <a:bodyPr>
                      <a:noAutofit/>
                    </a:bodyPr>
                    <a:lstStyle/>
                    <a:p>
                      <a:r>
                        <a:rPr sz="1650" b="0">
                          <a:solidFill>
                            <a:srgbClr val="183D34"/>
                          </a:solidFill>
                          <a:latin typeface="Arial"/>
                          <a:ea typeface="Arial"/>
                          <a:cs typeface="Arial"/>
                        </a:rPr>
                        <a:t>Reviews / ratings</a:t>
                      </a:r>
                    </a:p>
                  </a:txBody>
                  <a:tcPr marL="91440" marR="91440" marT="45720" marB="45720">
                    <a:solidFill>
                      <a:srgbClr val="FFFFFF"/>
                    </a:solidFill>
                  </a:tcPr>
                </a:tc>
                <a:tc>
                  <a:txBody>
                    <a:bodyPr>
                      <a:noAutofit/>
                    </a:bodyPr>
                    <a:lstStyle/>
                    <a:p>
                      <a:r>
                        <a:rPr sz="1650" b="0">
                          <a:solidFill>
                            <a:srgbClr val="183D34"/>
                          </a:solidFill>
                          <a:latin typeface="Arial"/>
                          <a:ea typeface="Arial"/>
                          <a:cs typeface="Arial"/>
                        </a:rPr>
                        <a:t>Yes</a:t>
                      </a:r>
                    </a:p>
                  </a:txBody>
                  <a:tcPr marL="91440" marR="91440" marT="45720" marB="45720">
                    <a:solidFill>
                      <a:srgbClr val="FFFFFF"/>
                    </a:solidFill>
                  </a:tcPr>
                </a:tc>
                <a:tc>
                  <a:txBody>
                    <a:bodyPr>
                      <a:noAutofit/>
                    </a:bodyPr>
                    <a:lstStyle/>
                    <a:p>
                      <a:r>
                        <a:rPr sz="1650" b="0">
                          <a:solidFill>
                            <a:srgbClr val="183D34"/>
                          </a:solidFill>
                          <a:latin typeface="Arial"/>
                          <a:ea typeface="Arial"/>
                          <a:cs typeface="Arial"/>
                        </a:rPr>
                        <a:t>Yes</a:t>
                      </a:r>
                    </a:p>
                  </a:txBody>
                  <a:tcPr marL="91440" marR="91440" marT="45720" marB="45720">
                    <a:solidFill>
                      <a:srgbClr val="FFFFFF"/>
                    </a:solidFill>
                  </a:tcPr>
                </a:tc>
                <a:tc>
                  <a:txBody>
                    <a:bodyPr>
                      <a:noAutofit/>
                    </a:bodyPr>
                    <a:lstStyle/>
                    <a:p>
                      <a:r>
                        <a:rPr sz="1650" b="0">
                          <a:solidFill>
                            <a:srgbClr val="183D34"/>
                          </a:solidFill>
                          <a:latin typeface="Arial"/>
                          <a:ea typeface="Arial"/>
                          <a:cs typeface="Arial"/>
                        </a:rPr>
                        <a:t>Yes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850F496-6286-4C8D-8DB1-D098B636636B}"/>
              </a:ext>
            </a:extLst>
          </p:cNvPr>
          <p:cNvSpPr>
            <a:spLocks xmlns:a="http://schemas.openxmlformats.org/drawingml/2006/main" noGrp="1"/>
          </p:cNvSpPr>
          <p:nvPr/>
        </p:nvSpPr>
        <p:spPr>
          <a:xfrm xmlns:a="http://schemas.openxmlformats.org/drawingml/2006/main">
            <a:off x="628650" y="5619750"/>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D7167"/>
                </a:solidFill>
                <a:latin typeface="Arial"/>
                <a:ea typeface="Arial"/>
                <a:cs typeface="Arial"/>
              </a:defRPr>
            </a:pPr>
            <a:r>
              <a:rPr sz="1725" b="0">
                <a:solidFill>
                  <a:srgbClr val="5D7167"/>
                </a:solidFill>
                <a:latin typeface="Arial"/>
                <a:ea typeface="Arial"/>
                <a:cs typeface="Arial"/>
              </a:rPr>
              <a:t>The request-and-offer pattern already exists.</a:t>
            </a:r>
          </a:p>
          <a:p xmlns:a="http://schemas.openxmlformats.org/drawingml/2006/main">
            <a:pPr>
              <a:defRPr sz="1725" b="0">
                <a:solidFill>
                  <a:srgbClr val="5D7167"/>
                </a:solidFill>
                <a:latin typeface="Arial"/>
                <a:ea typeface="Arial"/>
                <a:cs typeface="Arial"/>
              </a:defRPr>
            </a:pPr>
            <a:r>
              <a:rPr sz="1725" b="0">
                <a:solidFill>
                  <a:srgbClr val="5D7167"/>
                </a:solidFill>
                <a:latin typeface="Arial"/>
                <a:ea typeface="Arial"/>
                <a:cs typeface="Arial"/>
              </a:rPr>
              <a:t>UyCare must demonstrate implementation quality and user benefit.</a:t>
            </a:r>
          </a:p>
        </p:txBody>
      </p:sp>
    </p:spTree>
    <p:extLst>
      <p:ext uri="{BB962C8B-B14F-4D97-AF65-F5344CB8AC3E}">
        <p14:creationId xmlns:p14="http://schemas.microsoft.com/office/powerpoint/2010/main" val="134163806"/>
      </p:ext>
    </p:extLst>
  </p:cSld>
</p:sld>
</file>

<file path=ppt/slides/slide9.xml><?xml version="1.0" encoding="utf-8"?>
<p:sld xmlns:p="http://schemas.openxmlformats.org/presentationml/2006/main">
  <p:cSld>
    <p:bg>
      <p:bgPr>
        <a:solidFill xmlns:a="http://schemas.openxmlformats.org/drawingml/2006/main">
          <a:srgbClr val="FAFC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B9D49AF-1538-410C-9114-989A7128F57F}"/>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D34"/>
                </a:solidFill>
                <a:latin typeface="Arial"/>
                <a:ea typeface="Arial"/>
                <a:cs typeface="Arial"/>
              </a:defRPr>
            </a:pPr>
            <a:r>
              <a:rPr sz="3150" b="1">
                <a:solidFill>
                  <a:srgbClr val="183D34"/>
                </a:solidFill>
                <a:latin typeface="Arial"/>
                <a:ea typeface="Arial"/>
                <a:cs typeface="Arial"/>
              </a:rPr>
              <a:t>Existing systems and coordination</a:t>
            </a:r>
          </a:p>
        </p:txBody>
      </p:sp>
      <p:sp>
        <p:nvSpPr>
          <p:cNvPr id="2" name="">
            <a:extLst xmlns:a="http://schemas.openxmlformats.org/drawingml/2006/main">
              <a:ext uri="{FF2B5EF4-FFF2-40B4-BE49-F238E27FC236}">
                <a16:creationId xmlns:a16="http://schemas.microsoft.com/office/drawing/2014/main" id="{D3946AA9-D8C0-4E14-BEC9-D535B88AFF51}"/>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D7167"/>
                </a:solidFill>
                <a:latin typeface="Arial"/>
                <a:ea typeface="Arial"/>
                <a:cs typeface="Arial"/>
              </a:defRPr>
            </a:pPr>
            <a:r>
              <a:rPr sz="1125" b="0">
                <a:solidFill>
                  <a:srgbClr val="5D7167"/>
                </a:solidFill>
                <a:latin typeface="Arial"/>
                <a:ea typeface="Arial"/>
                <a:cs typeface="Arial"/>
              </a:rPr>
              <a:t>9</a:t>
            </a:r>
          </a:p>
        </p:txBody>
      </p:sp>
      <p:graphicFrame>
        <p:nvGraphicFramePr>
          <p:cNvPr id="7" name=""/>
          <p:cNvGraphicFramePr/>
          <p:nvPr/>
        </p:nvGraphicFramePr>
        <p:xfrm>
          <a:off xmlns:a="http://schemas.openxmlformats.org/drawingml/2006/main" x="609600" y="1476375"/>
          <a:ext xmlns:a="http://schemas.openxmlformats.org/drawingml/2006/main" cx="10972800" cy="4000500"/>
        </p:xfrm>
        <a:graphic xmlns:a="http://schemas.openxmlformats.org/drawingml/2006/main">
          <a:graphicData uri="http://schemas.openxmlformats.org/drawingml/2006/table">
            <a:tbl>
              <a:tblPr/>
              <a:tblGrid>
                <a:gridCol w="3048000"/>
                <a:gridCol w="2647950"/>
                <a:gridCol w="2647950"/>
                <a:gridCol w="2628900"/>
              </a:tblGrid>
              <a:tr h="666750">
                <a:tc>
                  <a:txBody>
                    <a:bodyPr>
                      <a:noAutofit/>
                    </a:bodyPr>
                    <a:lstStyle/>
                    <a:p>
                      <a:r>
                        <a:rPr sz="1500" b="1">
                          <a:solidFill>
                            <a:srgbClr val="FFFFFF"/>
                          </a:solidFill>
                          <a:latin typeface="Arial"/>
                          <a:ea typeface="Arial"/>
                          <a:cs typeface="Arial"/>
                        </a:rPr>
                        <a:t>Criterion</a:t>
                      </a:r>
                    </a:p>
                  </a:txBody>
                  <a:tcPr marL="91440" marR="91440" marT="45720" marB="45720">
                    <a:solidFill>
                      <a:srgbClr val="2B5F4C"/>
                    </a:solidFill>
                  </a:tcPr>
                </a:tc>
                <a:tc>
                  <a:txBody>
                    <a:bodyPr>
                      <a:noAutofit/>
                    </a:bodyPr>
                    <a:lstStyle/>
                    <a:p>
                      <a:r>
                        <a:rPr sz="1500" b="1">
                          <a:solidFill>
                            <a:srgbClr val="FFFFFF"/>
                          </a:solidFill>
                          <a:latin typeface="Arial"/>
                          <a:ea typeface="Arial"/>
                          <a:cs typeface="Arial"/>
                        </a:rPr>
                        <a:t>Profi.kz</a:t>
                      </a:r>
                    </a:p>
                  </a:txBody>
                  <a:tcPr marL="91440" marR="91440" marT="45720" marB="45720">
                    <a:solidFill>
                      <a:srgbClr val="2B5F4C"/>
                    </a:solidFill>
                  </a:tcPr>
                </a:tc>
                <a:tc>
                  <a:txBody>
                    <a:bodyPr>
                      <a:noAutofit/>
                    </a:bodyPr>
                    <a:lstStyle/>
                    <a:p>
                      <a:r>
                        <a:rPr sz="1500" b="1">
                          <a:solidFill>
                            <a:srgbClr val="FFFFFF"/>
                          </a:solidFill>
                          <a:latin typeface="Arial"/>
                          <a:ea typeface="Arial"/>
                          <a:cs typeface="Arial"/>
                        </a:rPr>
                        <a:t>Taskrabbit</a:t>
                      </a:r>
                    </a:p>
                  </a:txBody>
                  <a:tcPr marL="91440" marR="91440" marT="45720" marB="45720">
                    <a:solidFill>
                      <a:srgbClr val="2B5F4C"/>
                    </a:solidFill>
                  </a:tcPr>
                </a:tc>
                <a:tc>
                  <a:txBody>
                    <a:bodyPr>
                      <a:noAutofit/>
                    </a:bodyPr>
                    <a:lstStyle/>
                    <a:p>
                      <a:r>
                        <a:rPr sz="1500" b="1">
                          <a:solidFill>
                            <a:srgbClr val="FFFFFF"/>
                          </a:solidFill>
                          <a:latin typeface="Arial"/>
                          <a:ea typeface="Arial"/>
                          <a:cs typeface="Arial"/>
                        </a:rPr>
                        <a:t>Airtasker AU</a:t>
                      </a:r>
                    </a:p>
                  </a:txBody>
                  <a:tcPr marL="91440" marR="91440" marT="45720" marB="45720">
                    <a:solidFill>
                      <a:srgbClr val="2B5F4C"/>
                    </a:solidFill>
                  </a:tcPr>
                </a:tc>
              </a:tr>
              <a:tr h="666750">
                <a:tc>
                  <a:txBody>
                    <a:bodyPr>
                      <a:noAutofit/>
                    </a:bodyPr>
                    <a:lstStyle/>
                    <a:p>
                      <a:r>
                        <a:rPr sz="1500" b="0">
                          <a:solidFill>
                            <a:srgbClr val="183D34"/>
                          </a:solidFill>
                          <a:latin typeface="Arial"/>
                          <a:ea typeface="Arial"/>
                          <a:cs typeface="Arial"/>
                        </a:rPr>
                        <a:t>Portfolio evidence</a:t>
                      </a:r>
                    </a:p>
                  </a:txBody>
                  <a:tcPr marL="91440" marR="91440" marT="45720" marB="45720">
                    <a:solidFill>
                      <a:srgbClr val="FFFFFF"/>
                    </a:solidFill>
                  </a:tcPr>
                </a:tc>
                <a:tc>
                  <a:txBody>
                    <a:bodyPr>
                      <a:noAutofit/>
                    </a:bodyPr>
                    <a:lstStyle/>
                    <a:p>
                      <a:r>
                        <a:rPr sz="1500" b="0">
                          <a:solidFill>
                            <a:srgbClr val="183D34"/>
                          </a:solidFill>
                          <a:latin typeface="Arial"/>
                          <a:ea typeface="Arial"/>
                          <a:cs typeface="Arial"/>
                        </a:rPr>
                        <a:t>Not established</a:t>
                      </a:r>
                    </a:p>
                  </a:txBody>
                  <a:tcPr marL="91440" marR="91440" marT="45720" marB="45720">
                    <a:solidFill>
                      <a:srgbClr val="FFFFFF"/>
                    </a:solidFill>
                  </a:tcPr>
                </a:tc>
                <a:tc>
                  <a:txBody>
                    <a:bodyPr>
                      <a:noAutofit/>
                    </a:bodyPr>
                    <a:lstStyle/>
                    <a:p>
                      <a:r>
                        <a:rPr sz="1500" b="0">
                          <a:solidFill>
                            <a:srgbClr val="183D34"/>
                          </a:solidFill>
                          <a:latin typeface="Arial"/>
                          <a:ea typeface="Arial"/>
                          <a:cs typeface="Arial"/>
                        </a:rPr>
                        <a:t>Not established</a:t>
                      </a:r>
                    </a:p>
                  </a:txBody>
                  <a:tcPr marL="91440" marR="91440" marT="45720" marB="45720">
                    <a:solidFill>
                      <a:srgbClr val="FFFFFF"/>
                    </a:solidFill>
                  </a:tcPr>
                </a:tc>
                <a:tc>
                  <a:txBody>
                    <a:bodyPr>
                      <a:noAutofit/>
                    </a:bodyPr>
                    <a:lstStyle/>
                    <a:p>
                      <a:r>
                        <a:rPr sz="1500" b="0">
                          <a:solidFill>
                            <a:srgbClr val="183D34"/>
                          </a:solidFill>
                          <a:latin typeface="Arial"/>
                          <a:ea typeface="Arial"/>
                          <a:cs typeface="Arial"/>
                        </a:rPr>
                        <a:t>Described</a:t>
                      </a:r>
                    </a:p>
                  </a:txBody>
                  <a:tcPr marL="91440" marR="91440" marT="45720" marB="45720">
                    <a:solidFill>
                      <a:srgbClr val="FFFFFF"/>
                    </a:solidFill>
                  </a:tcPr>
                </a:tc>
              </a:tr>
              <a:tr h="666750">
                <a:tc>
                  <a:txBody>
                    <a:bodyPr>
                      <a:noAutofit/>
                    </a:bodyPr>
                    <a:lstStyle/>
                    <a:p>
                      <a:r>
                        <a:rPr sz="1500" b="0">
                          <a:solidFill>
                            <a:srgbClr val="183D34"/>
                          </a:solidFill>
                          <a:latin typeface="Arial"/>
                          <a:ea typeface="Arial"/>
                          <a:cs typeface="Arial"/>
                        </a:rPr>
                        <a:t>In-app communication</a:t>
                      </a:r>
                    </a:p>
                  </a:txBody>
                  <a:tcPr marL="91440" marR="91440" marT="45720" marB="45720">
                    <a:solidFill>
                      <a:srgbClr val="EDF3E5"/>
                    </a:solidFill>
                  </a:tcPr>
                </a:tc>
                <a:tc>
                  <a:txBody>
                    <a:bodyPr>
                      <a:noAutofit/>
                    </a:bodyPr>
                    <a:lstStyle/>
                    <a:p>
                      <a:r>
                        <a:rPr sz="1500" b="0">
                          <a:solidFill>
                            <a:srgbClr val="183D34"/>
                          </a:solidFill>
                          <a:latin typeface="Arial"/>
                          <a:ea typeface="Arial"/>
                          <a:cs typeface="Arial"/>
                        </a:rPr>
                        <a:t>Not established</a:t>
                      </a:r>
                    </a:p>
                  </a:txBody>
                  <a:tcPr marL="91440" marR="91440" marT="45720" marB="45720">
                    <a:solidFill>
                      <a:srgbClr val="EDF3E5"/>
                    </a:solidFill>
                  </a:tcPr>
                </a:tc>
                <a:tc>
                  <a:txBody>
                    <a:bodyPr>
                      <a:noAutofit/>
                    </a:bodyPr>
                    <a:lstStyle/>
                    <a:p>
                      <a:r>
                        <a:rPr sz="1500" b="0">
                          <a:solidFill>
                            <a:srgbClr val="183D34"/>
                          </a:solidFill>
                          <a:latin typeface="Arial"/>
                          <a:ea typeface="Arial"/>
                          <a:cs typeface="Arial"/>
                        </a:rPr>
                        <a:t>Chat</a:t>
                      </a:r>
                    </a:p>
                  </a:txBody>
                  <a:tcPr marL="91440" marR="91440" marT="45720" marB="45720">
                    <a:solidFill>
                      <a:srgbClr val="EDF3E5"/>
                    </a:solidFill>
                  </a:tcPr>
                </a:tc>
                <a:tc>
                  <a:txBody>
                    <a:bodyPr>
                      <a:noAutofit/>
                    </a:bodyPr>
                    <a:lstStyle/>
                    <a:p>
                      <a:r>
                        <a:rPr sz="1500" b="0">
                          <a:solidFill>
                            <a:srgbClr val="183D34"/>
                          </a:solidFill>
                          <a:latin typeface="Arial"/>
                          <a:ea typeface="Arial"/>
                          <a:cs typeface="Arial"/>
                        </a:rPr>
                        <a:t>Private messaging</a:t>
                      </a:r>
                    </a:p>
                  </a:txBody>
                  <a:tcPr marL="91440" marR="91440" marT="45720" marB="45720">
                    <a:solidFill>
                      <a:srgbClr val="EDF3E5"/>
                    </a:solidFill>
                  </a:tcPr>
                </a:tc>
              </a:tr>
              <a:tr h="666750">
                <a:tc>
                  <a:txBody>
                    <a:bodyPr>
                      <a:noAutofit/>
                    </a:bodyPr>
                    <a:lstStyle/>
                    <a:p>
                      <a:r>
                        <a:rPr sz="1500" b="0">
                          <a:solidFill>
                            <a:srgbClr val="183D34"/>
                          </a:solidFill>
                          <a:latin typeface="Arial"/>
                          <a:ea typeface="Arial"/>
                          <a:cs typeface="Arial"/>
                        </a:rPr>
                        <a:t>Payment model</a:t>
                      </a:r>
                    </a:p>
                  </a:txBody>
                  <a:tcPr marL="91440" marR="91440" marT="45720" marB="45720">
                    <a:solidFill>
                      <a:srgbClr val="FFFFFF"/>
                    </a:solidFill>
                  </a:tcPr>
                </a:tc>
                <a:tc>
                  <a:txBody>
                    <a:bodyPr>
                      <a:noAutofit/>
                    </a:bodyPr>
                    <a:lstStyle/>
                    <a:p>
                      <a:r>
                        <a:rPr sz="1500" b="0">
                          <a:solidFill>
                            <a:srgbClr val="183D34"/>
                          </a:solidFill>
                          <a:latin typeface="Arial"/>
                          <a:ea typeface="Arial"/>
                          <a:cs typeface="Arial"/>
                        </a:rPr>
                        <a:t>Not established</a:t>
                      </a:r>
                    </a:p>
                  </a:txBody>
                  <a:tcPr marL="91440" marR="91440" marT="45720" marB="45720">
                    <a:solidFill>
                      <a:srgbClr val="FFFFFF"/>
                    </a:solidFill>
                  </a:tcPr>
                </a:tc>
                <a:tc>
                  <a:txBody>
                    <a:bodyPr>
                      <a:noAutofit/>
                    </a:bodyPr>
                    <a:lstStyle/>
                    <a:p>
                      <a:r>
                        <a:rPr sz="1500" b="0">
                          <a:solidFill>
                            <a:srgbClr val="183D34"/>
                          </a:solidFill>
                          <a:latin typeface="Arial"/>
                          <a:ea typeface="Arial"/>
                          <a:cs typeface="Arial"/>
                        </a:rPr>
                        <a:t>In-app card</a:t>
                      </a:r>
                    </a:p>
                  </a:txBody>
                  <a:tcPr marL="91440" marR="91440" marT="45720" marB="45720">
                    <a:solidFill>
                      <a:srgbClr val="FFFFFF"/>
                    </a:solidFill>
                  </a:tcPr>
                </a:tc>
                <a:tc>
                  <a:txBody>
                    <a:bodyPr>
                      <a:noAutofit/>
                    </a:bodyPr>
                    <a:lstStyle/>
                    <a:p>
                      <a:r>
                        <a:rPr sz="1500" b="0">
                          <a:solidFill>
                            <a:srgbClr val="183D34"/>
                          </a:solidFill>
                          <a:latin typeface="Arial"/>
                          <a:ea typeface="Arial"/>
                          <a:cs typeface="Arial"/>
                        </a:rPr>
                        <a:t>Held funds</a:t>
                      </a:r>
                    </a:p>
                  </a:txBody>
                  <a:tcPr marL="91440" marR="91440" marT="45720" marB="45720">
                    <a:solidFill>
                      <a:srgbClr val="FFFFFF"/>
                    </a:solidFill>
                  </a:tcPr>
                </a:tc>
              </a:tr>
              <a:tr h="666750">
                <a:tc>
                  <a:txBody>
                    <a:bodyPr>
                      <a:noAutofit/>
                    </a:bodyPr>
                    <a:lstStyle/>
                    <a:p>
                      <a:r>
                        <a:rPr sz="1500" b="0">
                          <a:solidFill>
                            <a:srgbClr val="183D34"/>
                          </a:solidFill>
                          <a:latin typeface="Arial"/>
                          <a:ea typeface="Arial"/>
                          <a:cs typeface="Arial"/>
                        </a:rPr>
                        <a:t>Kazakhstan applicability</a:t>
                      </a:r>
                    </a:p>
                  </a:txBody>
                  <a:tcPr marL="91440" marR="91440" marT="45720" marB="45720">
                    <a:solidFill>
                      <a:srgbClr val="EDF3E5"/>
                    </a:solidFill>
                  </a:tcPr>
                </a:tc>
                <a:tc>
                  <a:txBody>
                    <a:bodyPr>
                      <a:noAutofit/>
                    </a:bodyPr>
                    <a:lstStyle/>
                    <a:p>
                      <a:r>
                        <a:rPr sz="1500" b="0">
                          <a:solidFill>
                            <a:srgbClr val="183D34"/>
                          </a:solidFill>
                          <a:latin typeface="Arial"/>
                          <a:ea typeface="Arial"/>
                          <a:cs typeface="Arial"/>
                        </a:rPr>
                        <a:t>Local domain</a:t>
                      </a:r>
                    </a:p>
                  </a:txBody>
                  <a:tcPr marL="91440" marR="91440" marT="45720" marB="45720">
                    <a:solidFill>
                      <a:srgbClr val="EDF3E5"/>
                    </a:solidFill>
                  </a:tcPr>
                </a:tc>
                <a:tc>
                  <a:txBody>
                    <a:bodyPr>
                      <a:noAutofit/>
                    </a:bodyPr>
                    <a:lstStyle/>
                    <a:p>
                      <a:r>
                        <a:rPr sz="1500" b="0">
                          <a:solidFill>
                            <a:srgbClr val="183D34"/>
                          </a:solidFill>
                          <a:latin typeface="Arial"/>
                          <a:ea typeface="Arial"/>
                          <a:cs typeface="Arial"/>
                        </a:rPr>
                        <a:t>Not established</a:t>
                      </a:r>
                    </a:p>
                  </a:txBody>
                  <a:tcPr marL="91440" marR="91440" marT="45720" marB="45720">
                    <a:solidFill>
                      <a:srgbClr val="EDF3E5"/>
                    </a:solidFill>
                  </a:tcPr>
                </a:tc>
                <a:tc>
                  <a:txBody>
                    <a:bodyPr>
                      <a:noAutofit/>
                    </a:bodyPr>
                    <a:lstStyle/>
                    <a:p>
                      <a:r>
                        <a:rPr sz="1500" b="0">
                          <a:solidFill>
                            <a:srgbClr val="183D34"/>
                          </a:solidFill>
                          <a:latin typeface="Arial"/>
                          <a:ea typeface="Arial"/>
                          <a:cs typeface="Arial"/>
                        </a:rPr>
                        <a:t>AU page only</a:t>
                      </a:r>
                    </a:p>
                  </a:txBody>
                  <a:tcPr marL="91440" marR="91440" marT="45720" marB="45720">
                    <a:solidFill>
                      <a:srgbClr val="EDF3E5"/>
                    </a:solidFill>
                  </a:tcPr>
                </a:tc>
              </a:tr>
              <a:tr h="666750">
                <a:tc>
                  <a:txBody>
                    <a:bodyPr>
                      <a:noAutofit/>
                    </a:bodyPr>
                    <a:lstStyle/>
                    <a:p>
                      <a:r>
                        <a:rPr sz="1500" b="0">
                          <a:solidFill>
                            <a:srgbClr val="183D34"/>
                          </a:solidFill>
                          <a:latin typeface="Arial"/>
                          <a:ea typeface="Arial"/>
                          <a:cs typeface="Arial"/>
                        </a:rPr>
                        <a:t>OSI/KSK + category ML</a:t>
                      </a:r>
                    </a:p>
                  </a:txBody>
                  <a:tcPr marL="91440" marR="91440" marT="45720" marB="45720">
                    <a:solidFill>
                      <a:srgbClr val="FFFFFF"/>
                    </a:solidFill>
                  </a:tcPr>
                </a:tc>
                <a:tc>
                  <a:txBody>
                    <a:bodyPr>
                      <a:noAutofit/>
                    </a:bodyPr>
                    <a:lstStyle/>
                    <a:p>
                      <a:r>
                        <a:rPr sz="1500" b="0">
                          <a:solidFill>
                            <a:srgbClr val="183D34"/>
                          </a:solidFill>
                          <a:latin typeface="Arial"/>
                          <a:ea typeface="Arial"/>
                          <a:cs typeface="Arial"/>
                        </a:rPr>
                        <a:t>Not established</a:t>
                      </a:r>
                    </a:p>
                  </a:txBody>
                  <a:tcPr marL="91440" marR="91440" marT="45720" marB="45720">
                    <a:solidFill>
                      <a:srgbClr val="FFFFFF"/>
                    </a:solidFill>
                  </a:tcPr>
                </a:tc>
                <a:tc>
                  <a:txBody>
                    <a:bodyPr>
                      <a:noAutofit/>
                    </a:bodyPr>
                    <a:lstStyle/>
                    <a:p>
                      <a:r>
                        <a:rPr sz="1500" b="0">
                          <a:solidFill>
                            <a:srgbClr val="183D34"/>
                          </a:solidFill>
                          <a:latin typeface="Arial"/>
                          <a:ea typeface="Arial"/>
                          <a:cs typeface="Arial"/>
                        </a:rPr>
                        <a:t>Not established</a:t>
                      </a:r>
                    </a:p>
                  </a:txBody>
                  <a:tcPr marL="91440" marR="91440" marT="45720" marB="45720">
                    <a:solidFill>
                      <a:srgbClr val="FFFFFF"/>
                    </a:solidFill>
                  </a:tcPr>
                </a:tc>
                <a:tc>
                  <a:txBody>
                    <a:bodyPr>
                      <a:noAutofit/>
                    </a:bodyPr>
                    <a:lstStyle/>
                    <a:p>
                      <a:r>
                        <a:rPr sz="1500" b="0">
                          <a:solidFill>
                            <a:srgbClr val="183D34"/>
                          </a:solidFill>
                          <a:latin typeface="Arial"/>
                          <a:ea typeface="Arial"/>
                          <a:cs typeface="Arial"/>
                        </a:rPr>
                        <a:t>Not established</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8187DDA-5EB8-4DF7-A3AB-1B46850BB994}"/>
              </a:ext>
            </a:extLst>
          </p:cNvPr>
          <p:cNvSpPr>
            <a:spLocks xmlns:a="http://schemas.openxmlformats.org/drawingml/2006/main" noGrp="1"/>
          </p:cNvSpPr>
          <p:nvPr/>
        </p:nvSpPr>
        <p:spPr>
          <a:xfrm xmlns:a="http://schemas.openxmlformats.org/drawingml/2006/main">
            <a:off x="628650" y="5715000"/>
            <a:ext cx="10810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D7167"/>
                </a:solidFill>
                <a:latin typeface="Arial"/>
                <a:ea typeface="Arial"/>
                <a:cs typeface="Arial"/>
              </a:defRPr>
            </a:pPr>
            <a:r>
              <a:rPr sz="1725" b="0">
                <a:solidFill>
                  <a:srgbClr val="5D7167"/>
                </a:solidFill>
                <a:latin typeface="Arial"/>
                <a:ea typeface="Arial"/>
                <a:cs typeface="Arial"/>
              </a:rPr>
              <a:t>UyCare targets organisation-owned requests and optional categorisation. Uniqueness remains unproven.</a:t>
            </a:r>
          </a:p>
        </p:txBody>
      </p:sp>
    </p:spTree>
    <p:extLst>
      <p:ext uri="{BB962C8B-B14F-4D97-AF65-F5344CB8AC3E}">
        <p14:creationId xmlns:p14="http://schemas.microsoft.com/office/powerpoint/2010/main" val="1353934283"/>
      </p:ext>
    </p:extLst>
  </p:cSld>
</p:sld>
</file>

<file path=ppt/slides/slide10.xml><?xml version="1.0" encoding="utf-8"?>
<p:sld xmlns:p="http://schemas.openxmlformats.org/presentationml/2006/main">
  <p:cSld>
    <p:bg>
      <p:bgPr>
        <a:solidFill xmlns:a="http://schemas.openxmlformats.org/drawingml/2006/main">
          <a:srgbClr val="FAFC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C892324-9FBE-4CD7-B6ED-A0FBBDA5E59D}"/>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D34"/>
                </a:solidFill>
                <a:latin typeface="Arial"/>
                <a:ea typeface="Arial"/>
                <a:cs typeface="Arial"/>
              </a:defRPr>
            </a:pPr>
            <a:r>
              <a:rPr sz="3150" b="1">
                <a:solidFill>
                  <a:srgbClr val="183D34"/>
                </a:solidFill>
                <a:latin typeface="Arial"/>
                <a:ea typeface="Arial"/>
                <a:cs typeface="Arial"/>
              </a:rPr>
              <a:t>Technology choices</a:t>
            </a:r>
          </a:p>
        </p:txBody>
      </p:sp>
      <p:sp>
        <p:nvSpPr>
          <p:cNvPr id="2" name="">
            <a:extLst xmlns:a="http://schemas.openxmlformats.org/drawingml/2006/main">
              <a:ext uri="{FF2B5EF4-FFF2-40B4-BE49-F238E27FC236}">
                <a16:creationId xmlns:a16="http://schemas.microsoft.com/office/drawing/2014/main" id="{8FC4110A-81E8-4C34-AACF-16CDE4A7EE01}"/>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D7167"/>
                </a:solidFill>
                <a:latin typeface="Arial"/>
                <a:ea typeface="Arial"/>
                <a:cs typeface="Arial"/>
              </a:defRPr>
            </a:pPr>
            <a:r>
              <a:rPr sz="1125" b="0">
                <a:solidFill>
                  <a:srgbClr val="5D7167"/>
                </a:solidFill>
                <a:latin typeface="Arial"/>
                <a:ea typeface="Arial"/>
                <a:cs typeface="Arial"/>
              </a:rPr>
              <a:t>10</a:t>
            </a:r>
          </a:p>
        </p:txBody>
      </p:sp>
      <p:graphicFrame>
        <p:nvGraphicFramePr>
          <p:cNvPr id="7" name=""/>
          <p:cNvGraphicFramePr/>
          <p:nvPr/>
        </p:nvGraphicFramePr>
        <p:xfrm>
          <a:off xmlns:a="http://schemas.openxmlformats.org/drawingml/2006/main" x="609600" y="1476375"/>
          <a:ext xmlns:a="http://schemas.openxmlformats.org/drawingml/2006/main" cx="10972800" cy="3333750"/>
        </p:xfrm>
        <a:graphic xmlns:a="http://schemas.openxmlformats.org/drawingml/2006/main">
          <a:graphicData uri="http://schemas.openxmlformats.org/drawingml/2006/table">
            <a:tbl>
              <a:tblPr/>
              <a:tblGrid>
                <a:gridCol w="2476500"/>
                <a:gridCol w="4095750"/>
                <a:gridCol w="4400550"/>
              </a:tblGrid>
              <a:tr h="666750">
                <a:tc>
                  <a:txBody>
                    <a:bodyPr>
                      <a:noAutofit/>
                    </a:bodyPr>
                    <a:lstStyle/>
                    <a:p>
                      <a:r>
                        <a:rPr sz="1875" b="1">
                          <a:solidFill>
                            <a:srgbClr val="FFFFFF"/>
                          </a:solidFill>
                          <a:latin typeface="Arial"/>
                          <a:ea typeface="Arial"/>
                          <a:cs typeface="Arial"/>
                        </a:rPr>
                        <a:t>Decision</a:t>
                      </a:r>
                    </a:p>
                  </a:txBody>
                  <a:tcPr marL="91440" marR="91440" marT="45720" marB="45720">
                    <a:solidFill>
                      <a:srgbClr val="2B5F4C"/>
                    </a:solidFill>
                  </a:tcPr>
                </a:tc>
                <a:tc>
                  <a:txBody>
                    <a:bodyPr>
                      <a:noAutofit/>
                    </a:bodyPr>
                    <a:lstStyle/>
                    <a:p>
                      <a:r>
                        <a:rPr sz="1875" b="1">
                          <a:solidFill>
                            <a:srgbClr val="FFFFFF"/>
                          </a:solidFill>
                          <a:latin typeface="Arial"/>
                          <a:ea typeface="Arial"/>
                          <a:cs typeface="Arial"/>
                        </a:rPr>
                        <a:t>Selected starting point</a:t>
                      </a:r>
                    </a:p>
                  </a:txBody>
                  <a:tcPr marL="91440" marR="91440" marT="45720" marB="45720">
                    <a:solidFill>
                      <a:srgbClr val="2B5F4C"/>
                    </a:solidFill>
                  </a:tcPr>
                </a:tc>
                <a:tc>
                  <a:txBody>
                    <a:bodyPr>
                      <a:noAutofit/>
                    </a:bodyPr>
                    <a:lstStyle/>
                    <a:p>
                      <a:r>
                        <a:rPr sz="1875" b="1">
                          <a:solidFill>
                            <a:srgbClr val="FFFFFF"/>
                          </a:solidFill>
                          <a:latin typeface="Arial"/>
                          <a:ea typeface="Arial"/>
                          <a:cs typeface="Arial"/>
                        </a:rPr>
                        <a:t>Alternatives</a:t>
                      </a:r>
                    </a:p>
                  </a:txBody>
                  <a:tcPr marL="91440" marR="91440" marT="45720" marB="45720">
                    <a:solidFill>
                      <a:srgbClr val="2B5F4C"/>
                    </a:solidFill>
                  </a:tcPr>
                </a:tc>
              </a:tr>
              <a:tr h="666750">
                <a:tc>
                  <a:txBody>
                    <a:bodyPr>
                      <a:noAutofit/>
                    </a:bodyPr>
                    <a:lstStyle/>
                    <a:p>
                      <a:r>
                        <a:rPr sz="1875" b="0">
                          <a:solidFill>
                            <a:srgbClr val="183D34"/>
                          </a:solidFill>
                          <a:latin typeface="Arial"/>
                          <a:ea typeface="Arial"/>
                          <a:cs typeface="Arial"/>
                        </a:rPr>
                        <a:t>Backend</a:t>
                      </a:r>
                    </a:p>
                  </a:txBody>
                  <a:tcPr marL="91440" marR="91440" marT="45720" marB="45720">
                    <a:solidFill>
                      <a:srgbClr val="FFFFFF"/>
                    </a:solidFill>
                  </a:tcPr>
                </a:tc>
                <a:tc>
                  <a:txBody>
                    <a:bodyPr>
                      <a:noAutofit/>
                    </a:bodyPr>
                    <a:lstStyle/>
                    <a:p>
                      <a:r>
                        <a:rPr sz="1875" b="0">
                          <a:solidFill>
                            <a:srgbClr val="183D34"/>
                          </a:solidFill>
                          <a:latin typeface="Arial"/>
                          <a:ea typeface="Arial"/>
                          <a:cs typeface="Arial"/>
                        </a:rPr>
                        <a:t>Django + DRF</a:t>
                      </a:r>
                    </a:p>
                  </a:txBody>
                  <a:tcPr marL="91440" marR="91440" marT="45720" marB="45720">
                    <a:solidFill>
                      <a:srgbClr val="FFFFFF"/>
                    </a:solidFill>
                  </a:tcPr>
                </a:tc>
                <a:tc>
                  <a:txBody>
                    <a:bodyPr>
                      <a:noAutofit/>
                    </a:bodyPr>
                    <a:lstStyle/>
                    <a:p>
                      <a:r>
                        <a:rPr sz="1875" b="0">
                          <a:solidFill>
                            <a:srgbClr val="183D34"/>
                          </a:solidFill>
                          <a:latin typeface="Arial"/>
                          <a:ea typeface="Arial"/>
                          <a:cs typeface="Arial"/>
                        </a:rPr>
                        <a:t>FastAPI / NestJS</a:t>
                      </a:r>
                    </a:p>
                  </a:txBody>
                  <a:tcPr marL="91440" marR="91440" marT="45720" marB="45720">
                    <a:solidFill>
                      <a:srgbClr val="FFFFFF"/>
                    </a:solidFill>
                  </a:tcPr>
                </a:tc>
              </a:tr>
              <a:tr h="666750">
                <a:tc>
                  <a:txBody>
                    <a:bodyPr>
                      <a:noAutofit/>
                    </a:bodyPr>
                    <a:lstStyle/>
                    <a:p>
                      <a:r>
                        <a:rPr sz="1875" b="0">
                          <a:solidFill>
                            <a:srgbClr val="183D34"/>
                          </a:solidFill>
                          <a:latin typeface="Arial"/>
                          <a:ea typeface="Arial"/>
                          <a:cs typeface="Arial"/>
                        </a:rPr>
                        <a:t>Storage</a:t>
                      </a:r>
                    </a:p>
                  </a:txBody>
                  <a:tcPr marL="91440" marR="91440" marT="45720" marB="45720">
                    <a:solidFill>
                      <a:srgbClr val="EDF3E5"/>
                    </a:solidFill>
                  </a:tcPr>
                </a:tc>
                <a:tc>
                  <a:txBody>
                    <a:bodyPr>
                      <a:noAutofit/>
                    </a:bodyPr>
                    <a:lstStyle/>
                    <a:p>
                      <a:r>
                        <a:rPr sz="1875" b="0">
                          <a:solidFill>
                            <a:srgbClr val="183D34"/>
                          </a:solidFill>
                          <a:latin typeface="Arial"/>
                          <a:ea typeface="Arial"/>
                          <a:cs typeface="Arial"/>
                        </a:rPr>
                        <a:t>PostgreSQL</a:t>
                      </a:r>
                    </a:p>
                  </a:txBody>
                  <a:tcPr marL="91440" marR="91440" marT="45720" marB="45720">
                    <a:solidFill>
                      <a:srgbClr val="EDF3E5"/>
                    </a:solidFill>
                  </a:tcPr>
                </a:tc>
                <a:tc>
                  <a:txBody>
                    <a:bodyPr>
                      <a:noAutofit/>
                    </a:bodyPr>
                    <a:lstStyle/>
                    <a:p>
                      <a:r>
                        <a:rPr sz="1875" b="0">
                          <a:solidFill>
                            <a:srgbClr val="183D34"/>
                          </a:solidFill>
                          <a:latin typeface="Arial"/>
                          <a:ea typeface="Arial"/>
                          <a:cs typeface="Arial"/>
                        </a:rPr>
                        <a:t>MySQL / MongoDB</a:t>
                      </a:r>
                    </a:p>
                  </a:txBody>
                  <a:tcPr marL="91440" marR="91440" marT="45720" marB="45720">
                    <a:solidFill>
                      <a:srgbClr val="EDF3E5"/>
                    </a:solidFill>
                  </a:tcPr>
                </a:tc>
              </a:tr>
              <a:tr h="666750">
                <a:tc>
                  <a:txBody>
                    <a:bodyPr>
                      <a:noAutofit/>
                    </a:bodyPr>
                    <a:lstStyle/>
                    <a:p>
                      <a:r>
                        <a:rPr sz="1875" b="0">
                          <a:solidFill>
                            <a:srgbClr val="183D34"/>
                          </a:solidFill>
                          <a:latin typeface="Arial"/>
                          <a:ea typeface="Arial"/>
                          <a:cs typeface="Arial"/>
                        </a:rPr>
                        <a:t>Communication</a:t>
                      </a:r>
                    </a:p>
                  </a:txBody>
                  <a:tcPr marL="91440" marR="91440" marT="45720" marB="45720">
                    <a:solidFill>
                      <a:srgbClr val="FFFFFF"/>
                    </a:solidFill>
                  </a:tcPr>
                </a:tc>
                <a:tc>
                  <a:txBody>
                    <a:bodyPr>
                      <a:noAutofit/>
                    </a:bodyPr>
                    <a:lstStyle/>
                    <a:p>
                      <a:r>
                        <a:rPr sz="1875" b="0">
                          <a:solidFill>
                            <a:srgbClr val="183D34"/>
                          </a:solidFill>
                          <a:latin typeface="Arial"/>
                          <a:ea typeface="Arial"/>
                          <a:cs typeface="Arial"/>
                        </a:rPr>
                        <a:t>REST + WebSocket</a:t>
                      </a:r>
                    </a:p>
                  </a:txBody>
                  <a:tcPr marL="91440" marR="91440" marT="45720" marB="45720">
                    <a:solidFill>
                      <a:srgbClr val="FFFFFF"/>
                    </a:solidFill>
                  </a:tcPr>
                </a:tc>
                <a:tc>
                  <a:txBody>
                    <a:bodyPr>
                      <a:noAutofit/>
                    </a:bodyPr>
                    <a:lstStyle/>
                    <a:p>
                      <a:r>
                        <a:rPr sz="1875" b="0">
                          <a:solidFill>
                            <a:srgbClr val="183D34"/>
                          </a:solidFill>
                          <a:latin typeface="Arial"/>
                          <a:ea typeface="Arial"/>
                          <a:cs typeface="Arial"/>
                        </a:rPr>
                        <a:t>GraphQL / gRPC</a:t>
                      </a:r>
                    </a:p>
                  </a:txBody>
                  <a:tcPr marL="91440" marR="91440" marT="45720" marB="45720">
                    <a:solidFill>
                      <a:srgbClr val="FFFFFF"/>
                    </a:solidFill>
                  </a:tcPr>
                </a:tc>
              </a:tr>
              <a:tr h="666750">
                <a:tc>
                  <a:txBody>
                    <a:bodyPr>
                      <a:noAutofit/>
                    </a:bodyPr>
                    <a:lstStyle/>
                    <a:p>
                      <a:r>
                        <a:rPr sz="1875" b="0">
                          <a:solidFill>
                            <a:srgbClr val="183D34"/>
                          </a:solidFill>
                          <a:latin typeface="Arial"/>
                          <a:ea typeface="Arial"/>
                          <a:cs typeface="Arial"/>
                        </a:rPr>
                        <a:t>Classification</a:t>
                      </a:r>
                    </a:p>
                  </a:txBody>
                  <a:tcPr marL="91440" marR="91440" marT="45720" marB="45720">
                    <a:solidFill>
                      <a:srgbClr val="EDF3E5"/>
                    </a:solidFill>
                  </a:tcPr>
                </a:tc>
                <a:tc>
                  <a:txBody>
                    <a:bodyPr>
                      <a:noAutofit/>
                    </a:bodyPr>
                    <a:lstStyle/>
                    <a:p>
                      <a:r>
                        <a:rPr sz="1875" b="0">
                          <a:solidFill>
                            <a:srgbClr val="183D34"/>
                          </a:solidFill>
                          <a:latin typeface="Arial"/>
                          <a:ea typeface="Arial"/>
                          <a:cs typeface="Arial"/>
                        </a:rPr>
                        <a:t>TF-IDF + linear model</a:t>
                      </a:r>
                    </a:p>
                  </a:txBody>
                  <a:tcPr marL="91440" marR="91440" marT="45720" marB="45720">
                    <a:solidFill>
                      <a:srgbClr val="EDF3E5"/>
                    </a:solidFill>
                  </a:tcPr>
                </a:tc>
                <a:tc>
                  <a:txBody>
                    <a:bodyPr>
                      <a:noAutofit/>
                    </a:bodyPr>
                    <a:lstStyle/>
                    <a:p>
                      <a:r>
                        <a:rPr sz="1875" b="0">
                          <a:solidFill>
                            <a:srgbClr val="183D34"/>
                          </a:solidFill>
                          <a:latin typeface="Arial"/>
                          <a:ea typeface="Arial"/>
                          <a:cs typeface="Arial"/>
                        </a:rPr>
                        <a:t>Keyword rules / multilingual encoder</a:t>
                      </a:r>
                    </a:p>
                  </a:txBody>
                  <a:tcPr marL="91440" marR="91440" marT="45720" marB="45720">
                    <a:solidFill>
                      <a:srgbClr val="EDF3E5"/>
                    </a:solidFill>
                  </a:tcPr>
                </a:tc>
              </a:tr>
            </a:tbl>
          </a:graphicData>
        </a:graphic>
      </p:graphicFrame>
      <p:sp>
        <p:nvSpPr>
          <p:cNvPr id="4" name="">
            <a:extLst xmlns:a="http://schemas.openxmlformats.org/drawingml/2006/main">
              <a:ext uri="{FF2B5EF4-FFF2-40B4-BE49-F238E27FC236}">
                <a16:creationId xmlns:a16="http://schemas.microsoft.com/office/drawing/2014/main" id="{69DBA4F9-EE91-4EFC-B9DF-C1475226546E}"/>
              </a:ext>
            </a:extLst>
          </p:cNvPr>
          <p:cNvSpPr>
            <a:spLocks xmlns:a="http://schemas.openxmlformats.org/drawingml/2006/main" noGrp="1"/>
          </p:cNvSpPr>
          <p:nvPr/>
        </p:nvSpPr>
        <p:spPr>
          <a:xfrm xmlns:a="http://schemas.openxmlformats.org/drawingml/2006/main">
            <a:off x="628650" y="5238750"/>
            <a:ext cx="1081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D34"/>
                </a:solidFill>
                <a:latin typeface="Arial"/>
                <a:ea typeface="Arial"/>
                <a:cs typeface="Arial"/>
              </a:defRPr>
            </a:pPr>
            <a:r>
              <a:rPr sz="2025" b="0">
                <a:solidFill>
                  <a:srgbClr val="183D34"/>
                </a:solidFill>
                <a:latin typeface="Arial"/>
                <a:ea typeface="Arial"/>
                <a:cs typeface="Arial"/>
              </a:rPr>
              <a:t>A modular Python backend keeps marketplace logic and the initial ML runtime together.</a:t>
            </a:r>
          </a:p>
          <a:p xmlns:a="http://schemas.openxmlformats.org/drawingml/2006/main">
            <a:pPr>
              <a:defRPr sz="2025" b="0">
                <a:solidFill>
                  <a:srgbClr val="183D34"/>
                </a:solidFill>
                <a:latin typeface="Arial"/>
                <a:ea typeface="Arial"/>
                <a:cs typeface="Arial"/>
              </a:defRPr>
            </a:pPr>
            <a:r>
              <a:rPr sz="2025" b="0">
                <a:solidFill>
                  <a:srgbClr val="183D34"/>
                </a:solidFill>
                <a:latin typeface="Arial"/>
                <a:ea typeface="Arial"/>
                <a:cs typeface="Arial"/>
              </a:rPr>
              <a:t>All clients use the same authorization and assignment rules.</a:t>
            </a:r>
          </a:p>
        </p:txBody>
      </p:sp>
    </p:spTree>
    <p:extLst>
      <p:ext uri="{BB962C8B-B14F-4D97-AF65-F5344CB8AC3E}">
        <p14:creationId xmlns:p14="http://schemas.microsoft.com/office/powerpoint/2010/main" val="920405186"/>
      </p:ext>
    </p:extLst>
  </p:cSld>
</p:sld>
</file>

<file path=ppt/slides/slide11.xml><?xml version="1.0" encoding="utf-8"?>
<p:sld xmlns:p="http://schemas.openxmlformats.org/presentationml/2006/main">
  <p:cSld>
    <p:bg>
      <p:bgPr>
        <a:solidFill xmlns:a="http://schemas.openxmlformats.org/drawingml/2006/main">
          <a:srgbClr val="FAFC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A4206A9-0D5F-4BCC-8BA1-A3BE87028937}"/>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D34"/>
                </a:solidFill>
                <a:latin typeface="Arial"/>
                <a:ea typeface="Arial"/>
                <a:cs typeface="Arial"/>
              </a:defRPr>
            </a:pPr>
            <a:r>
              <a:rPr sz="3150" b="1">
                <a:solidFill>
                  <a:srgbClr val="183D34"/>
                </a:solidFill>
                <a:latin typeface="Arial"/>
                <a:ea typeface="Arial"/>
                <a:cs typeface="Arial"/>
              </a:rPr>
              <a:t>Requirements and acceptance</a:t>
            </a:r>
          </a:p>
        </p:txBody>
      </p:sp>
      <p:sp>
        <p:nvSpPr>
          <p:cNvPr id="2" name="">
            <a:extLst xmlns:a="http://schemas.openxmlformats.org/drawingml/2006/main">
              <a:ext uri="{FF2B5EF4-FFF2-40B4-BE49-F238E27FC236}">
                <a16:creationId xmlns:a16="http://schemas.microsoft.com/office/drawing/2014/main" id="{E1D53CD6-537C-4520-B0E0-2B823D349EDE}"/>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D7167"/>
                </a:solidFill>
                <a:latin typeface="Arial"/>
                <a:ea typeface="Arial"/>
                <a:cs typeface="Arial"/>
              </a:defRPr>
            </a:pPr>
            <a:r>
              <a:rPr sz="1125" b="0">
                <a:solidFill>
                  <a:srgbClr val="5D7167"/>
                </a:solidFill>
                <a:latin typeface="Arial"/>
                <a:ea typeface="Arial"/>
                <a:cs typeface="Arial"/>
              </a:rPr>
              <a:t>11</a:t>
            </a:r>
          </a:p>
        </p:txBody>
      </p:sp>
      <p:graphicFrame>
        <p:nvGraphicFramePr>
          <p:cNvPr id="7" name=""/>
          <p:cNvGraphicFramePr/>
          <p:nvPr/>
        </p:nvGraphicFramePr>
        <p:xfrm>
          <a:off xmlns:a="http://schemas.openxmlformats.org/drawingml/2006/main" x="609600" y="1476375"/>
          <a:ext xmlns:a="http://schemas.openxmlformats.org/drawingml/2006/main" cx="10972800" cy="3714750"/>
        </p:xfrm>
        <a:graphic xmlns:a="http://schemas.openxmlformats.org/drawingml/2006/main">
          <a:graphicData uri="http://schemas.openxmlformats.org/drawingml/2006/table">
            <a:tbl>
              <a:tblPr/>
              <a:tblGrid>
                <a:gridCol w="3810000"/>
                <a:gridCol w="7162800"/>
              </a:tblGrid>
              <a:tr h="619125">
                <a:tc>
                  <a:txBody>
                    <a:bodyPr>
                      <a:noAutofit/>
                    </a:bodyPr>
                    <a:lstStyle/>
                    <a:p>
                      <a:r>
                        <a:rPr sz="1800" b="1">
                          <a:solidFill>
                            <a:srgbClr val="FFFFFF"/>
                          </a:solidFill>
                          <a:latin typeface="Arial"/>
                          <a:ea typeface="Arial"/>
                          <a:cs typeface="Arial"/>
                        </a:rPr>
                        <a:t>Requirement</a:t>
                      </a:r>
                    </a:p>
                  </a:txBody>
                  <a:tcPr marL="91440" marR="91440" marT="45720" marB="45720">
                    <a:solidFill>
                      <a:srgbClr val="2B5F4C"/>
                    </a:solidFill>
                  </a:tcPr>
                </a:tc>
                <a:tc>
                  <a:txBody>
                    <a:bodyPr>
                      <a:noAutofit/>
                    </a:bodyPr>
                    <a:lstStyle/>
                    <a:p>
                      <a:r>
                        <a:rPr sz="1800" b="1">
                          <a:solidFill>
                            <a:srgbClr val="FFFFFF"/>
                          </a:solidFill>
                          <a:latin typeface="Arial"/>
                          <a:ea typeface="Arial"/>
                          <a:cs typeface="Arial"/>
                        </a:rPr>
                        <a:t>Verifiable acceptance example</a:t>
                      </a:r>
                    </a:p>
                  </a:txBody>
                  <a:tcPr marL="91440" marR="91440" marT="45720" marB="45720">
                    <a:solidFill>
                      <a:srgbClr val="2B5F4C"/>
                    </a:solidFill>
                  </a:tcPr>
                </a:tc>
              </a:tr>
              <a:tr h="619125">
                <a:tc>
                  <a:txBody>
                    <a:bodyPr>
                      <a:noAutofit/>
                    </a:bodyPr>
                    <a:lstStyle/>
                    <a:p>
                      <a:r>
                        <a:rPr sz="1800" b="0">
                          <a:solidFill>
                            <a:srgbClr val="183D34"/>
                          </a:solidFill>
                          <a:latin typeface="Arial"/>
                          <a:ea typeface="Arial"/>
                          <a:cs typeface="Arial"/>
                        </a:rPr>
                        <a:t>One selected provider</a:t>
                      </a:r>
                    </a:p>
                  </a:txBody>
                  <a:tcPr marL="91440" marR="91440" marT="45720" marB="45720">
                    <a:solidFill>
                      <a:srgbClr val="FFFFFF"/>
                    </a:solidFill>
                  </a:tcPr>
                </a:tc>
                <a:tc>
                  <a:txBody>
                    <a:bodyPr>
                      <a:noAutofit/>
                    </a:bodyPr>
                    <a:lstStyle/>
                    <a:p>
                      <a:r>
                        <a:rPr sz="1800" b="0">
                          <a:solidFill>
                            <a:srgbClr val="183D34"/>
                          </a:solidFill>
                          <a:latin typeface="Arial"/>
                          <a:ea typeface="Arial"/>
                          <a:cs typeface="Arial"/>
                        </a:rPr>
                        <a:t>Concurrent acceptance creates exactly one assignment</a:t>
                      </a:r>
                    </a:p>
                  </a:txBody>
                  <a:tcPr marL="91440" marR="91440" marT="45720" marB="45720">
                    <a:solidFill>
                      <a:srgbClr val="FFFFFF"/>
                    </a:solidFill>
                  </a:tcPr>
                </a:tc>
              </a:tr>
              <a:tr h="619125">
                <a:tc>
                  <a:txBody>
                    <a:bodyPr>
                      <a:noAutofit/>
                    </a:bodyPr>
                    <a:lstStyle/>
                    <a:p>
                      <a:r>
                        <a:rPr sz="1800" b="0">
                          <a:solidFill>
                            <a:srgbClr val="183D34"/>
                          </a:solidFill>
                          <a:latin typeface="Arial"/>
                          <a:ea typeface="Arial"/>
                          <a:cs typeface="Arial"/>
                        </a:rPr>
                        <a:t>Private conversations</a:t>
                      </a:r>
                    </a:p>
                  </a:txBody>
                  <a:tcPr marL="91440" marR="91440" marT="45720" marB="45720">
                    <a:solidFill>
                      <a:srgbClr val="EDF3E5"/>
                    </a:solidFill>
                  </a:tcPr>
                </a:tc>
                <a:tc>
                  <a:txBody>
                    <a:bodyPr>
                      <a:noAutofit/>
                    </a:bodyPr>
                    <a:lstStyle/>
                    <a:p>
                      <a:r>
                        <a:rPr sz="1800" b="0">
                          <a:solidFill>
                            <a:srgbClr val="183D34"/>
                          </a:solidFill>
                          <a:latin typeface="Arial"/>
                          <a:ea typeface="Arial"/>
                          <a:cs typeface="Arial"/>
                        </a:rPr>
                        <a:t>A nonparticipant cannot read or send messages</a:t>
                      </a:r>
                    </a:p>
                  </a:txBody>
                  <a:tcPr marL="91440" marR="91440" marT="45720" marB="45720">
                    <a:solidFill>
                      <a:srgbClr val="EDF3E5"/>
                    </a:solidFill>
                  </a:tcPr>
                </a:tc>
              </a:tr>
              <a:tr h="619125">
                <a:tc>
                  <a:txBody>
                    <a:bodyPr>
                      <a:noAutofit/>
                    </a:bodyPr>
                    <a:lstStyle/>
                    <a:p>
                      <a:r>
                        <a:rPr sz="1800" b="0">
                          <a:solidFill>
                            <a:srgbClr val="183D34"/>
                          </a:solidFill>
                          <a:latin typeface="Arial"/>
                          <a:ea typeface="Arial"/>
                          <a:cs typeface="Arial"/>
                        </a:rPr>
                        <a:t>Completed-job reviews</a:t>
                      </a:r>
                    </a:p>
                  </a:txBody>
                  <a:tcPr marL="91440" marR="91440" marT="45720" marB="45720">
                    <a:solidFill>
                      <a:srgbClr val="FFFFFF"/>
                    </a:solidFill>
                  </a:tcPr>
                </a:tc>
                <a:tc>
                  <a:txBody>
                    <a:bodyPr>
                      <a:noAutofit/>
                    </a:bodyPr>
                    <a:lstStyle/>
                    <a:p>
                      <a:r>
                        <a:rPr sz="1800" b="0">
                          <a:solidFill>
                            <a:srgbClr val="183D34"/>
                          </a:solidFill>
                          <a:latin typeface="Arial"/>
                          <a:ea typeface="Arial"/>
                          <a:cs typeface="Arial"/>
                        </a:rPr>
                        <a:t>Only the commissioning customer reviews a completed job once</a:t>
                      </a:r>
                    </a:p>
                  </a:txBody>
                  <a:tcPr marL="91440" marR="91440" marT="45720" marB="45720">
                    <a:solidFill>
                      <a:srgbClr val="FFFFFF"/>
                    </a:solidFill>
                  </a:tcPr>
                </a:tc>
              </a:tr>
              <a:tr h="619125">
                <a:tc>
                  <a:txBody>
                    <a:bodyPr>
                      <a:noAutofit/>
                    </a:bodyPr>
                    <a:lstStyle/>
                    <a:p>
                      <a:r>
                        <a:rPr sz="1800" b="0">
                          <a:solidFill>
                            <a:srgbClr val="183D34"/>
                          </a:solidFill>
                          <a:latin typeface="Arial"/>
                          <a:ea typeface="Arial"/>
                          <a:cs typeface="Arial"/>
                        </a:rPr>
                        <a:t>Optional classification</a:t>
                      </a:r>
                    </a:p>
                  </a:txBody>
                  <a:tcPr marL="91440" marR="91440" marT="45720" marB="45720">
                    <a:solidFill>
                      <a:srgbClr val="EDF3E5"/>
                    </a:solidFill>
                  </a:tcPr>
                </a:tc>
                <a:tc>
                  <a:txBody>
                    <a:bodyPr>
                      <a:noAutofit/>
                    </a:bodyPr>
                    <a:lstStyle/>
                    <a:p>
                      <a:r>
                        <a:rPr sz="1800" b="0">
                          <a:solidFill>
                            <a:srgbClr val="183D34"/>
                          </a:solidFill>
                          <a:latin typeface="Arial"/>
                          <a:ea typeface="Arial"/>
                          <a:cs typeface="Arial"/>
                        </a:rPr>
                        <a:t>Failure or uncertainty leaves manual selection available</a:t>
                      </a:r>
                    </a:p>
                  </a:txBody>
                  <a:tcPr marL="91440" marR="91440" marT="45720" marB="45720">
                    <a:solidFill>
                      <a:srgbClr val="EDF3E5"/>
                    </a:solidFill>
                  </a:tcPr>
                </a:tc>
              </a:tr>
              <a:tr h="619125">
                <a:tc>
                  <a:txBody>
                    <a:bodyPr>
                      <a:noAutofit/>
                    </a:bodyPr>
                    <a:lstStyle/>
                    <a:p>
                      <a:r>
                        <a:rPr sz="1800" b="0">
                          <a:solidFill>
                            <a:srgbClr val="183D34"/>
                          </a:solidFill>
                          <a:latin typeface="Arial"/>
                          <a:ea typeface="Arial"/>
                          <a:cs typeface="Arial"/>
                        </a:rPr>
                        <a:t>Organisation access</a:t>
                      </a:r>
                    </a:p>
                  </a:txBody>
                  <a:tcPr marL="91440" marR="91440" marT="45720" marB="45720">
                    <a:solidFill>
                      <a:srgbClr val="FFFFFF"/>
                    </a:solidFill>
                  </a:tcPr>
                </a:tc>
                <a:tc>
                  <a:txBody>
                    <a:bodyPr>
                      <a:noAutofit/>
                    </a:bodyPr>
                    <a:lstStyle/>
                    <a:p>
                      <a:r>
                        <a:rPr sz="1800" b="0">
                          <a:solidFill>
                            <a:srgbClr val="183D34"/>
                          </a:solidFill>
                          <a:latin typeface="Arial"/>
                          <a:ea typeface="Arial"/>
                          <a:cs typeface="Arial"/>
                        </a:rPr>
                        <a:t>A member of another organisation cannot change the request</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8B113F2-458C-4D1D-9B19-3AB77F961935}"/>
              </a:ext>
            </a:extLst>
          </p:cNvPr>
          <p:cNvSpPr>
            <a:spLocks xmlns:a="http://schemas.openxmlformats.org/drawingml/2006/main" noGrp="1"/>
          </p:cNvSpPr>
          <p:nvPr/>
        </p:nvSpPr>
        <p:spPr>
          <a:xfrm xmlns:a="http://schemas.openxmlformats.org/drawingml/2006/main">
            <a:off x="628650" y="5715000"/>
            <a:ext cx="10810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D7167"/>
                </a:solidFill>
                <a:latin typeface="Arial"/>
                <a:ea typeface="Arial"/>
                <a:cs typeface="Arial"/>
              </a:defRPr>
            </a:pPr>
            <a:r>
              <a:rPr sz="1800" b="0">
                <a:solidFill>
                  <a:srgbClr val="5D7167"/>
                </a:solidFill>
                <a:latin typeface="Arial"/>
                <a:ea typeface="Arial"/>
                <a:cs typeface="Arial"/>
              </a:rPr>
              <a:t>Traceability connects each requirement to a component, acceptance test and planning task.</a:t>
            </a:r>
          </a:p>
        </p:txBody>
      </p:sp>
    </p:spTree>
    <p:extLst>
      <p:ext uri="{BB962C8B-B14F-4D97-AF65-F5344CB8AC3E}">
        <p14:creationId xmlns:p14="http://schemas.microsoft.com/office/powerpoint/2010/main" val="1963685669"/>
      </p:ext>
    </p:extLst>
  </p:cSld>
</p:sld>
</file>

<file path=ppt/slides/slide12.xml><?xml version="1.0" encoding="utf-8"?>
<p:sld xmlns:p="http://schemas.openxmlformats.org/presentationml/2006/main">
  <p:cSld>
    <p:bg>
      <p:bgPr>
        <a:solidFill xmlns:a="http://schemas.openxmlformats.org/drawingml/2006/main">
          <a:srgbClr val="FAFCF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B6B14A8-6938-42DC-AF5E-AC76C6BCB81A}"/>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D34"/>
                </a:solidFill>
                <a:latin typeface="Arial"/>
                <a:ea typeface="Arial"/>
                <a:cs typeface="Arial"/>
              </a:defRPr>
            </a:pPr>
            <a:r>
              <a:rPr sz="3150" b="1">
                <a:solidFill>
                  <a:srgbClr val="183D34"/>
                </a:solidFill>
                <a:latin typeface="Arial"/>
                <a:ea typeface="Arial"/>
                <a:cs typeface="Arial"/>
              </a:rPr>
              <a:t>System context</a:t>
            </a:r>
          </a:p>
        </p:txBody>
      </p:sp>
      <p:sp>
        <p:nvSpPr>
          <p:cNvPr id="2" name="">
            <a:extLst xmlns:a="http://schemas.openxmlformats.org/drawingml/2006/main">
              <a:ext uri="{FF2B5EF4-FFF2-40B4-BE49-F238E27FC236}">
                <a16:creationId xmlns:a16="http://schemas.microsoft.com/office/drawing/2014/main" id="{BB2F6F73-937F-453E-95C9-D9CA4CF4916D}"/>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D7167"/>
                </a:solidFill>
                <a:latin typeface="Arial"/>
                <a:ea typeface="Arial"/>
                <a:cs typeface="Arial"/>
              </a:defRPr>
            </a:pPr>
            <a:r>
              <a:rPr sz="1125" b="0">
                <a:solidFill>
                  <a:srgbClr val="5D7167"/>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C109C029-5187-40D3-85EB-A2B62BB335D3}"/>
              </a:ext>
            </a:extLst>
          </p:cNvPr>
          <p:cNvSpPr>
            <a:spLocks xmlns:a="http://schemas.openxmlformats.org/drawingml/2006/main" noGrp="1"/>
          </p:cNvSpPr>
          <p:nvPr/>
        </p:nvSpPr>
        <p:spPr>
          <a:xfrm xmlns:a="http://schemas.openxmlformats.org/drawingml/2006/main">
            <a:off x="666750" y="1809750"/>
            <a:ext cx="2762250" cy="1190625"/>
          </a:xfrm>
          <a:prstGeom xmlns:a="http://schemas.openxmlformats.org/drawingml/2006/main" prst="rect">
            <a:avLst/>
          </a:prstGeom>
          <a:solidFill xmlns:a="http://schemas.openxmlformats.org/drawingml/2006/main">
            <a:srgbClr val="EDF3E5"/>
          </a:solidFill>
          <a:ln xmlns:a="http://schemas.openxmlformats.org/drawingml/2006/main" w="14288">
            <a:solidFill>
              <a:srgbClr val="668775"/>
            </a:solidFill>
          </a:ln>
        </p:spPr>
        <p:txBody>
          <a:bodyPr xmlns:a="http://schemas.openxmlformats.org/drawingml/2006/main" anchor="ctr">
            <a:noAutofit/>
          </a:bodyPr>
          <a:lstStyle xmlns:a="http://schemas.openxmlformats.org/drawingml/2006/main"/>
          <a:p xmlns:a="http://schemas.openxmlformats.org/drawingml/2006/main">
            <a:pPr algn="ctr">
              <a:defRPr sz="1800">
                <a:solidFill>
                  <a:srgbClr val="183D34"/>
                </a:solidFill>
                <a:latin typeface="Arial"/>
                <a:ea typeface="Arial"/>
                <a:cs typeface="Arial"/>
              </a:defRPr>
            </a:pPr>
            <a:r>
              <a:rPr sz="1800">
                <a:solidFill>
                  <a:srgbClr val="183D34"/>
                </a:solidFill>
                <a:latin typeface="Arial"/>
                <a:ea typeface="Arial"/>
                <a:cs typeface="Arial"/>
              </a:rPr>
              <a:t>Private customer</a:t>
            </a:r>
          </a:p>
          <a:p xmlns:a="http://schemas.openxmlformats.org/drawingml/2006/main">
            <a:pPr algn="ctr">
              <a:defRPr sz="1800">
                <a:solidFill>
                  <a:srgbClr val="183D34"/>
                </a:solidFill>
                <a:latin typeface="Arial"/>
                <a:ea typeface="Arial"/>
                <a:cs typeface="Arial"/>
              </a:defRPr>
            </a:pPr>
            <a:r>
              <a:rPr sz="1800">
                <a:solidFill>
                  <a:srgbClr val="183D34"/>
                </a:solidFill>
                <a:latin typeface="Arial"/>
                <a:ea typeface="Arial"/>
                <a:cs typeface="Arial"/>
              </a:rPr>
              <a:t>OSI/KSK representative</a:t>
            </a:r>
          </a:p>
        </p:txBody>
      </p:sp>
      <p:sp>
        <p:nvSpPr>
          <p:cNvPr id="4" name="">
            <a:extLst xmlns:a="http://schemas.openxmlformats.org/drawingml/2006/main">
              <a:ext uri="{FF2B5EF4-FFF2-40B4-BE49-F238E27FC236}">
                <a16:creationId xmlns:a16="http://schemas.microsoft.com/office/drawing/2014/main" id="{6413E8C9-78D5-4895-997F-4A39E922189C}"/>
              </a:ext>
            </a:extLst>
          </p:cNvPr>
          <p:cNvSpPr>
            <a:spLocks xmlns:a="http://schemas.openxmlformats.org/drawingml/2006/main" noGrp="1"/>
          </p:cNvSpPr>
          <p:nvPr/>
        </p:nvSpPr>
        <p:spPr>
          <a:xfrm xmlns:a="http://schemas.openxmlformats.org/drawingml/2006/main">
            <a:off x="4476750" y="2000250"/>
            <a:ext cx="3429000" cy="1857375"/>
          </a:xfrm>
          <a:prstGeom xmlns:a="http://schemas.openxmlformats.org/drawingml/2006/main" prst="rect">
            <a:avLst/>
          </a:prstGeom>
          <a:solidFill xmlns:a="http://schemas.openxmlformats.org/drawingml/2006/main">
            <a:srgbClr val="EDF3E5"/>
          </a:solidFill>
          <a:ln xmlns:a="http://schemas.openxmlformats.org/drawingml/2006/main" w="14288">
            <a:solidFill>
              <a:srgbClr val="668775"/>
            </a:solid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183D34"/>
                </a:solidFill>
                <a:latin typeface="Arial"/>
                <a:ea typeface="Arial"/>
                <a:cs typeface="Arial"/>
              </a:defRPr>
            </a:pPr>
            <a:r>
              <a:rPr sz="2025">
                <a:solidFill>
                  <a:srgbClr val="183D34"/>
                </a:solidFill>
                <a:latin typeface="Arial"/>
                <a:ea typeface="Arial"/>
                <a:cs typeface="Arial"/>
              </a:rPr>
              <a:t>UyCare</a:t>
            </a:r>
          </a:p>
          <a:p xmlns:a="http://schemas.openxmlformats.org/drawingml/2006/main">
            <a:pPr algn="ctr">
              <a:defRPr sz="2025">
                <a:solidFill>
                  <a:srgbClr val="183D34"/>
                </a:solidFill>
                <a:latin typeface="Arial"/>
                <a:ea typeface="Arial"/>
                <a:cs typeface="Arial"/>
              </a:defRPr>
            </a:pPr>
            <a:r>
              <a:rPr sz="2025">
                <a:solidFill>
                  <a:srgbClr val="183D34"/>
                </a:solidFill>
                <a:latin typeface="Arial"/>
                <a:ea typeface="Arial"/>
                <a:cs typeface="Arial"/>
              </a:rPr>
              <a:t>Requests, offers and jobs</a:t>
            </a:r>
          </a:p>
          <a:p xmlns:a="http://schemas.openxmlformats.org/drawingml/2006/main">
            <a:pPr algn="ctr">
              <a:defRPr sz="2025">
                <a:solidFill>
                  <a:srgbClr val="183D34"/>
                </a:solidFill>
                <a:latin typeface="Arial"/>
                <a:ea typeface="Arial"/>
                <a:cs typeface="Arial"/>
              </a:defRPr>
            </a:pPr>
            <a:r>
              <a:rPr sz="2025">
                <a:solidFill>
                  <a:srgbClr val="183D34"/>
                </a:solidFill>
                <a:latin typeface="Arial"/>
                <a:ea typeface="Arial"/>
                <a:cs typeface="Arial"/>
              </a:rPr>
              <a:t>Chat and category suggestions</a:t>
            </a:r>
          </a:p>
        </p:txBody>
      </p:sp>
      <p:sp>
        <p:nvSpPr>
          <p:cNvPr id="5" name="">
            <a:extLst xmlns:a="http://schemas.openxmlformats.org/drawingml/2006/main">
              <a:ext uri="{FF2B5EF4-FFF2-40B4-BE49-F238E27FC236}">
                <a16:creationId xmlns:a16="http://schemas.microsoft.com/office/drawing/2014/main" id="{81FF0AE3-F465-4790-A978-D2F7239FAC14}"/>
              </a:ext>
            </a:extLst>
          </p:cNvPr>
          <p:cNvSpPr>
            <a:spLocks xmlns:a="http://schemas.openxmlformats.org/drawingml/2006/main" noGrp="1"/>
          </p:cNvSpPr>
          <p:nvPr/>
        </p:nvSpPr>
        <p:spPr>
          <a:xfrm xmlns:a="http://schemas.openxmlformats.org/drawingml/2006/main">
            <a:off x="8858250" y="1857375"/>
            <a:ext cx="2667000" cy="952500"/>
          </a:xfrm>
          <a:prstGeom xmlns:a="http://schemas.openxmlformats.org/drawingml/2006/main" prst="rect">
            <a:avLst/>
          </a:prstGeom>
          <a:solidFill xmlns:a="http://schemas.openxmlformats.org/drawingml/2006/main">
            <a:srgbClr val="EDF3E5"/>
          </a:solidFill>
          <a:ln xmlns:a="http://schemas.openxmlformats.org/drawingml/2006/main" w="14288">
            <a:solidFill>
              <a:srgbClr val="668775"/>
            </a:solidFill>
          </a:ln>
        </p:spPr>
        <p:txBody>
          <a:bodyPr xmlns:a="http://schemas.openxmlformats.org/drawingml/2006/main" anchor="ctr">
            <a:noAutofit/>
          </a:bodyPr>
          <a:lstStyle xmlns:a="http://schemas.openxmlformats.org/drawingml/2006/main"/>
          <a:p xmlns:a="http://schemas.openxmlformats.org/drawingml/2006/main">
            <a:pPr algn="ctr">
              <a:defRPr sz="1800">
                <a:solidFill>
                  <a:srgbClr val="183D34"/>
                </a:solidFill>
                <a:latin typeface="Arial"/>
                <a:ea typeface="Arial"/>
                <a:cs typeface="Arial"/>
              </a:defRPr>
            </a:pPr>
            <a:r>
              <a:rPr sz="1800">
                <a:solidFill>
                  <a:srgbClr val="183D34"/>
                </a:solidFill>
                <a:latin typeface="Arial"/>
                <a:ea typeface="Arial"/>
                <a:cs typeface="Arial"/>
              </a:rPr>
              <a:t>Independent provider</a:t>
            </a:r>
          </a:p>
        </p:txBody>
      </p:sp>
      <p:sp>
        <p:nvSpPr>
          <p:cNvPr id="6" name="">
            <a:extLst xmlns:a="http://schemas.openxmlformats.org/drawingml/2006/main">
              <a:ext uri="{FF2B5EF4-FFF2-40B4-BE49-F238E27FC236}">
                <a16:creationId xmlns:a16="http://schemas.microsoft.com/office/drawing/2014/main" id="{85ACDACD-77AA-4A75-8EBE-D58981E2CC64}"/>
              </a:ext>
            </a:extLst>
          </p:cNvPr>
          <p:cNvSpPr>
            <a:spLocks xmlns:a="http://schemas.openxmlformats.org/drawingml/2006/main" noGrp="1"/>
          </p:cNvSpPr>
          <p:nvPr/>
        </p:nvSpPr>
        <p:spPr>
          <a:xfrm xmlns:a="http://schemas.openxmlformats.org/drawingml/2006/main">
            <a:off x="8858250" y="3857625"/>
            <a:ext cx="2667000" cy="809625"/>
          </a:xfrm>
          <a:prstGeom xmlns:a="http://schemas.openxmlformats.org/drawingml/2006/main" prst="rect">
            <a:avLst/>
          </a:prstGeom>
          <a:solidFill xmlns:a="http://schemas.openxmlformats.org/drawingml/2006/main">
            <a:srgbClr val="EDF3E5"/>
          </a:solidFill>
          <a:ln xmlns:a="http://schemas.openxmlformats.org/drawingml/2006/main" w="14288">
            <a:solidFill>
              <a:srgbClr val="668775"/>
            </a:solidFill>
          </a:ln>
        </p:spPr>
        <p:txBody>
          <a:bodyPr xmlns:a="http://schemas.openxmlformats.org/drawingml/2006/main" anchor="ctr">
            <a:noAutofit/>
          </a:bodyPr>
          <a:lstStyle xmlns:a="http://schemas.openxmlformats.org/drawingml/2006/main"/>
          <a:p xmlns:a="http://schemas.openxmlformats.org/drawingml/2006/main">
            <a:pPr algn="ctr">
              <a:defRPr sz="1800">
                <a:solidFill>
                  <a:srgbClr val="183D34"/>
                </a:solidFill>
                <a:latin typeface="Arial"/>
                <a:ea typeface="Arial"/>
                <a:cs typeface="Arial"/>
              </a:defRPr>
            </a:pPr>
            <a:r>
              <a:rPr sz="1800">
                <a:solidFill>
                  <a:srgbClr val="183D34"/>
                </a:solidFill>
                <a:latin typeface="Arial"/>
                <a:ea typeface="Arial"/>
                <a:cs typeface="Arial"/>
              </a:rPr>
              <a:t>Moderator</a:t>
            </a:r>
          </a:p>
        </p:txBody>
      </p:sp>
      <p:sp>
        <p:nvSpPr>
          <p:cNvPr id="7" name="">
            <a:extLst xmlns:a="http://schemas.openxmlformats.org/drawingml/2006/main">
              <a:ext uri="{FF2B5EF4-FFF2-40B4-BE49-F238E27FC236}">
                <a16:creationId xmlns:a16="http://schemas.microsoft.com/office/drawing/2014/main" id="{F65310D2-71EB-4E7D-BE6E-44CFD6480B70}"/>
              </a:ext>
            </a:extLst>
          </p:cNvPr>
          <p:cNvSpPr>
            <a:spLocks xmlns:a="http://schemas.openxmlformats.org/drawingml/2006/main" noGrp="1"/>
          </p:cNvSpPr>
          <p:nvPr/>
        </p:nvSpPr>
        <p:spPr>
          <a:xfrm xmlns:a="http://schemas.openxmlformats.org/drawingml/2006/main">
            <a:off x="4619625" y="5048250"/>
            <a:ext cx="3143250" cy="714375"/>
          </a:xfrm>
          <a:prstGeom xmlns:a="http://schemas.openxmlformats.org/drawingml/2006/main" prst="rect">
            <a:avLst/>
          </a:prstGeom>
          <a:solidFill xmlns:a="http://schemas.openxmlformats.org/drawingml/2006/main">
            <a:srgbClr val="EDF3E5"/>
          </a:solidFill>
          <a:ln xmlns:a="http://schemas.openxmlformats.org/drawingml/2006/main" w="14288">
            <a:solidFill>
              <a:srgbClr val="668775"/>
            </a:solidFill>
          </a:ln>
        </p:spPr>
        <p:txBody>
          <a:bodyPr xmlns:a="http://schemas.openxmlformats.org/drawingml/2006/main" anchor="ctr">
            <a:noAutofit/>
          </a:bodyPr>
          <a:lstStyle xmlns:a="http://schemas.openxmlformats.org/drawingml/2006/main"/>
          <a:p xmlns:a="http://schemas.openxmlformats.org/drawingml/2006/main">
            <a:pPr algn="ctr">
              <a:defRPr sz="1800">
                <a:solidFill>
                  <a:srgbClr val="183D34"/>
                </a:solidFill>
                <a:latin typeface="Arial"/>
                <a:ea typeface="Arial"/>
                <a:cs typeface="Arial"/>
              </a:defRPr>
            </a:pPr>
            <a:r>
              <a:rPr sz="1800">
                <a:solidFill>
                  <a:srgbClr val="183D34"/>
                </a:solidFill>
                <a:latin typeface="Arial"/>
                <a:ea typeface="Arial"/>
                <a:cs typeface="Arial"/>
              </a:rPr>
              <a:t>External media storage</a:t>
            </a:r>
          </a:p>
        </p:txBody>
      </p:sp>
      <p:cxnSp>
        <p:nvCxnSpPr>
          <p:cNvPr id="20" name=""/>
          <p:cNvCxnSpPr>
            <a:stCxn xmlns:a="http://schemas.openxmlformats.org/drawingml/2006/main" id="3" idx="3"/>
            <a:endCxn xmlns:a="http://schemas.openxmlformats.org/drawingml/2006/main" id="4" idx="1"/>
          </p:cNvCxnSpPr>
          <p:nvPr/>
        </p:nvCxnSpPr>
        <p:spPr>
          <a:xfrm xmlns:a="http://schemas.openxmlformats.org/drawingml/2006/main">
            <a:off x="3429000" y="2405063"/>
            <a:ext cx="1047750" cy="523875"/>
          </a:xfrm>
          <a:prstGeom xmlns:a="http://schemas.openxmlformats.org/drawingml/2006/main" prst="straightConnector1">
            <a:avLst/>
          </a:prstGeom>
          <a:ln xmlns:a="http://schemas.openxmlformats.org/drawingml/2006/main" w="19050">
            <a:solidFill>
              <a:srgbClr val="688778"/>
            </a:solidFill>
            <a:tailEnd type="triangle" w="sm" len="sm"/>
          </a:ln>
        </p:spPr>
      </p:cxnSp>
      <p:cxnSp>
        <p:nvCxnSpPr>
          <p:cNvPr id="21" name=""/>
          <p:cNvCxnSpPr>
            <a:stCxn xmlns:a="http://schemas.openxmlformats.org/drawingml/2006/main" id="5" idx="1"/>
            <a:endCxn xmlns:a="http://schemas.openxmlformats.org/drawingml/2006/main" id="4" idx="3"/>
          </p:cNvCxnSpPr>
          <p:nvPr/>
        </p:nvCxnSpPr>
        <p:spPr>
          <a:xfrm xmlns:a="http://schemas.openxmlformats.org/drawingml/2006/main" flipH="1">
            <a:off x="7905750" y="2333625"/>
            <a:ext cx="952500" cy="595313"/>
          </a:xfrm>
          <a:prstGeom xmlns:a="http://schemas.openxmlformats.org/drawingml/2006/main" prst="straightConnector1">
            <a:avLst/>
          </a:prstGeom>
          <a:ln xmlns:a="http://schemas.openxmlformats.org/drawingml/2006/main" w="19050">
            <a:solidFill>
              <a:srgbClr val="688778"/>
            </a:solidFill>
            <a:tailEnd type="triangle" w="sm" len="sm"/>
          </a:ln>
        </p:spPr>
      </p:cxnSp>
      <p:cxnSp>
        <p:nvCxnSpPr>
          <p:cNvPr id="22" name=""/>
          <p:cNvCxnSpPr>
            <a:stCxn xmlns:a="http://schemas.openxmlformats.org/drawingml/2006/main" id="6" idx="1"/>
            <a:endCxn xmlns:a="http://schemas.openxmlformats.org/drawingml/2006/main" id="4" idx="3"/>
          </p:cNvCxnSpPr>
          <p:nvPr/>
        </p:nvCxnSpPr>
        <p:spPr>
          <a:xfrm xmlns:a="http://schemas.openxmlformats.org/drawingml/2006/main" flipH="1" flipV="1">
            <a:off x="7905750" y="2928938"/>
            <a:ext cx="952500" cy="1333500"/>
          </a:xfrm>
          <a:prstGeom xmlns:a="http://schemas.openxmlformats.org/drawingml/2006/main" prst="straightConnector1">
            <a:avLst/>
          </a:prstGeom>
          <a:ln xmlns:a="http://schemas.openxmlformats.org/drawingml/2006/main" w="19050">
            <a:solidFill>
              <a:srgbClr val="688778"/>
            </a:solidFill>
            <a:tailEnd type="triangle" w="sm" len="sm"/>
          </a:ln>
        </p:spPr>
      </p:cxnSp>
      <p:cxnSp>
        <p:nvCxnSpPr>
          <p:cNvPr id="23" name=""/>
          <p:cNvCxnSpPr>
            <a:stCxn xmlns:a="http://schemas.openxmlformats.org/drawingml/2006/main" id="4" idx="2"/>
            <a:endCxn xmlns:a="http://schemas.openxmlformats.org/drawingml/2006/main" id="7" idx="0"/>
          </p:cNvCxnSpPr>
          <p:nvPr/>
        </p:nvCxnSpPr>
        <p:spPr>
          <a:xfrm xmlns:a="http://schemas.openxmlformats.org/drawingml/2006/main">
            <a:off x="6191250" y="3857625"/>
            <a:ext cx="0" cy="1190625"/>
          </a:xfrm>
          <a:prstGeom xmlns:a="http://schemas.openxmlformats.org/drawingml/2006/main" prst="straightConnector1">
            <a:avLst/>
          </a:prstGeom>
          <a:ln xmlns:a="http://schemas.openxmlformats.org/drawingml/2006/main" w="19050">
            <a:solidFill>
              <a:srgbClr val="688778"/>
            </a:solidFill>
            <a:tailEnd type="triangle" w="sm" len="sm"/>
          </a:ln>
        </p:spPr>
      </p:cxnSp>
      <p:sp>
        <p:nvSpPr>
          <p:cNvPr id="12" name="">
            <a:extLst xmlns:a="http://schemas.openxmlformats.org/drawingml/2006/main">
              <a:ext uri="{FF2B5EF4-FFF2-40B4-BE49-F238E27FC236}">
                <a16:creationId xmlns:a16="http://schemas.microsoft.com/office/drawing/2014/main" id="{999E9A8E-8A09-4A53-B615-95F3C79C7304}"/>
              </a:ext>
            </a:extLst>
          </p:cNvPr>
          <p:cNvSpPr>
            <a:spLocks xmlns:a="http://schemas.openxmlformats.org/drawingml/2006/main" noGrp="1"/>
          </p:cNvSpPr>
          <p:nvPr/>
        </p:nvSpPr>
        <p:spPr>
          <a:xfrm xmlns:a="http://schemas.openxmlformats.org/drawingml/2006/main">
            <a:off x="628650" y="60960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D7167"/>
                </a:solidFill>
                <a:latin typeface="Arial"/>
                <a:ea typeface="Arial"/>
                <a:cs typeface="Arial"/>
              </a:defRPr>
            </a:pPr>
            <a:r>
              <a:rPr sz="1575" b="0">
                <a:solidFill>
                  <a:srgbClr val="5D7167"/>
                </a:solidFill>
                <a:latin typeface="Arial"/>
                <a:ea typeface="Arial"/>
                <a:cs typeface="Arial"/>
              </a:rPr>
              <a:t>Outside the platform: direct settlement and phone conversations</a:t>
            </a:r>
          </a:p>
        </p:txBody>
      </p:sp>
    </p:spTree>
    <p:extLst>
      <p:ext uri="{BB962C8B-B14F-4D97-AF65-F5344CB8AC3E}">
        <p14:creationId xmlns:p14="http://schemas.microsoft.com/office/powerpoint/2010/main" val="610015950"/>
      </p:ext>
    </p:extLst>
  </p:cSld>
</p:sld>
</file>

<file path=ppt/slides/slide13.xml><?xml version="1.0" encoding="utf-8"?>
<p:sld xmlns:p="http://schemas.openxmlformats.org/presentationml/2006/main">
  <p:cSld>
    <p:bg>
      <p:bgPr>
        <a:solidFill xmlns:a="http://schemas.openxmlformats.org/drawingml/2006/main">
          <a:srgbClr val="FAFCF6"/>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7468C93-7992-45F2-9444-3F23FC61A3B6}"/>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D34"/>
                </a:solidFill>
                <a:latin typeface="Arial"/>
                <a:ea typeface="Arial"/>
                <a:cs typeface="Arial"/>
              </a:defRPr>
            </a:pPr>
            <a:r>
              <a:rPr sz="3150" b="1">
                <a:solidFill>
                  <a:srgbClr val="183D34"/>
                </a:solidFill>
                <a:latin typeface="Arial"/>
                <a:ea typeface="Arial"/>
                <a:cs typeface="Arial"/>
              </a:rPr>
              <a:t>Core use cases</a:t>
            </a:r>
          </a:p>
        </p:txBody>
      </p:sp>
      <p:sp>
        <p:nvSpPr>
          <p:cNvPr id="2" name="">
            <a:extLst xmlns:a="http://schemas.openxmlformats.org/drawingml/2006/main">
              <a:ext uri="{FF2B5EF4-FFF2-40B4-BE49-F238E27FC236}">
                <a16:creationId xmlns:a16="http://schemas.microsoft.com/office/drawing/2014/main" id="{8E5567A2-3013-43BF-AA78-B864D1F91ADD}"/>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D7167"/>
                </a:solidFill>
                <a:latin typeface="Arial"/>
                <a:ea typeface="Arial"/>
                <a:cs typeface="Arial"/>
              </a:defRPr>
            </a:pPr>
            <a:r>
              <a:rPr sz="1125" b="0">
                <a:solidFill>
                  <a:srgbClr val="5D7167"/>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52E9E7EE-6B65-452C-B278-167F4672082C}"/>
              </a:ext>
            </a:extLst>
          </p:cNvPr>
          <p:cNvSpPr>
            <a:spLocks xmlns:a="http://schemas.openxmlformats.org/drawingml/2006/main" noGrp="1"/>
          </p:cNvSpPr>
          <p:nvPr/>
        </p:nvSpPr>
        <p:spPr>
          <a:xfrm xmlns:a="http://schemas.openxmlformats.org/drawingml/2006/main">
            <a:off x="666750" y="3095625"/>
            <a:ext cx="1905000" cy="714375"/>
          </a:xfrm>
          <a:prstGeom xmlns:a="http://schemas.openxmlformats.org/drawingml/2006/main" prst="rect">
            <a:avLst/>
          </a:prstGeom>
          <a:solidFill xmlns:a="http://schemas.openxmlformats.org/drawingml/2006/main">
            <a:srgbClr val="EDF3E5"/>
          </a:solidFill>
          <a:ln xmlns:a="http://schemas.openxmlformats.org/drawingml/2006/main" w="14288">
            <a:solidFill>
              <a:srgbClr val="668775"/>
            </a:solidFill>
          </a:ln>
        </p:spPr>
        <p:txBody>
          <a:bodyPr xmlns:a="http://schemas.openxmlformats.org/drawingml/2006/main" anchor="ctr">
            <a:noAutofit/>
          </a:bodyPr>
          <a:lstStyle xmlns:a="http://schemas.openxmlformats.org/drawingml/2006/main"/>
          <a:p xmlns:a="http://schemas.openxmlformats.org/drawingml/2006/main">
            <a:pPr algn="ctr">
              <a:defRPr sz="1950">
                <a:solidFill>
                  <a:srgbClr val="183D34"/>
                </a:solidFill>
                <a:latin typeface="Arial"/>
                <a:ea typeface="Arial"/>
                <a:cs typeface="Arial"/>
              </a:defRPr>
            </a:pPr>
            <a:r>
              <a:rPr sz="1950">
                <a:solidFill>
                  <a:srgbClr val="183D34"/>
                </a:solidFill>
                <a:latin typeface="Arial"/>
                <a:ea typeface="Arial"/>
                <a:cs typeface="Arial"/>
              </a:rPr>
              <a:t>Customer</a:t>
            </a:r>
          </a:p>
        </p:txBody>
      </p:sp>
      <p:sp>
        <p:nvSpPr>
          <p:cNvPr id="4" name="">
            <a:extLst xmlns:a="http://schemas.openxmlformats.org/drawingml/2006/main">
              <a:ext uri="{FF2B5EF4-FFF2-40B4-BE49-F238E27FC236}">
                <a16:creationId xmlns:a16="http://schemas.microsoft.com/office/drawing/2014/main" id="{DCF31063-9CE4-4367-AF29-8D163B8512E7}"/>
              </a:ext>
            </a:extLst>
          </p:cNvPr>
          <p:cNvSpPr>
            <a:spLocks xmlns:a="http://schemas.openxmlformats.org/drawingml/2006/main" noGrp="1"/>
          </p:cNvSpPr>
          <p:nvPr/>
        </p:nvSpPr>
        <p:spPr>
          <a:xfrm xmlns:a="http://schemas.openxmlformats.org/drawingml/2006/main">
            <a:off x="9620250" y="3095625"/>
            <a:ext cx="1905000" cy="714375"/>
          </a:xfrm>
          <a:prstGeom xmlns:a="http://schemas.openxmlformats.org/drawingml/2006/main" prst="rect">
            <a:avLst/>
          </a:prstGeom>
          <a:solidFill xmlns:a="http://schemas.openxmlformats.org/drawingml/2006/main">
            <a:srgbClr val="EDF3E5"/>
          </a:solidFill>
          <a:ln xmlns:a="http://schemas.openxmlformats.org/drawingml/2006/main" w="14288">
            <a:solidFill>
              <a:srgbClr val="668775"/>
            </a:solidFill>
          </a:ln>
        </p:spPr>
        <p:txBody>
          <a:bodyPr xmlns:a="http://schemas.openxmlformats.org/drawingml/2006/main" anchor="ctr">
            <a:noAutofit/>
          </a:bodyPr>
          <a:lstStyle xmlns:a="http://schemas.openxmlformats.org/drawingml/2006/main"/>
          <a:p xmlns:a="http://schemas.openxmlformats.org/drawingml/2006/main">
            <a:pPr algn="ctr">
              <a:defRPr sz="1950">
                <a:solidFill>
                  <a:srgbClr val="183D34"/>
                </a:solidFill>
                <a:latin typeface="Arial"/>
                <a:ea typeface="Arial"/>
                <a:cs typeface="Arial"/>
              </a:defRPr>
            </a:pPr>
            <a:r>
              <a:rPr sz="1950">
                <a:solidFill>
                  <a:srgbClr val="183D34"/>
                </a:solidFill>
                <a:latin typeface="Arial"/>
                <a:ea typeface="Arial"/>
                <a:cs typeface="Arial"/>
              </a:rPr>
              <a:t>Provider</a:t>
            </a:r>
          </a:p>
        </p:txBody>
      </p:sp>
      <p:sp>
        <p:nvSpPr>
          <p:cNvPr id="5" name="">
            <a:extLst xmlns:a="http://schemas.openxmlformats.org/drawingml/2006/main">
              <a:ext uri="{FF2B5EF4-FFF2-40B4-BE49-F238E27FC236}">
                <a16:creationId xmlns:a16="http://schemas.microsoft.com/office/drawing/2014/main" id="{4E818595-C2C8-45CF-A954-FABA6C9E3D68}"/>
              </a:ext>
            </a:extLst>
          </p:cNvPr>
          <p:cNvSpPr>
            <a:spLocks xmlns:a="http://schemas.openxmlformats.org/drawingml/2006/main" noGrp="1"/>
          </p:cNvSpPr>
          <p:nvPr/>
        </p:nvSpPr>
        <p:spPr>
          <a:xfrm xmlns:a="http://schemas.openxmlformats.org/drawingml/2006/main">
            <a:off x="3238500" y="1524000"/>
            <a:ext cx="2381250" cy="762000"/>
          </a:xfrm>
          <a:prstGeom xmlns:a="http://schemas.openxmlformats.org/drawingml/2006/main" prst="ellipse">
            <a:avLst/>
          </a:prstGeom>
          <a:solidFill xmlns:a="http://schemas.openxmlformats.org/drawingml/2006/main">
            <a:srgbClr val="EDF3E5"/>
          </a:solidFill>
          <a:ln xmlns:a="http://schemas.openxmlformats.org/drawingml/2006/main" w="14288">
            <a:solidFill>
              <a:srgbClr val="668775"/>
            </a:solidFill>
          </a:ln>
        </p:spPr>
        <p:txBody>
          <a:bodyPr xmlns:a="http://schemas.openxmlformats.org/drawingml/2006/main" anchor="ctr">
            <a:noAutofit/>
          </a:bodyPr>
          <a:lstStyle xmlns:a="http://schemas.openxmlformats.org/drawingml/2006/main"/>
          <a:p xmlns:a="http://schemas.openxmlformats.org/drawingml/2006/main">
            <a:pPr algn="ctr">
              <a:defRPr sz="1800">
                <a:solidFill>
                  <a:srgbClr val="183D34"/>
                </a:solidFill>
                <a:latin typeface="Arial"/>
                <a:ea typeface="Arial"/>
                <a:cs typeface="Arial"/>
              </a:defRPr>
            </a:pPr>
            <a:r>
              <a:rPr sz="1800">
                <a:solidFill>
                  <a:srgbClr val="183D34"/>
                </a:solidFill>
                <a:latin typeface="Arial"/>
                <a:ea typeface="Arial"/>
                <a:cs typeface="Arial"/>
              </a:rPr>
              <a:t>Publish request</a:t>
            </a:r>
          </a:p>
        </p:txBody>
      </p:sp>
      <p:sp>
        <p:nvSpPr>
          <p:cNvPr id="6" name="">
            <a:extLst xmlns:a="http://schemas.openxmlformats.org/drawingml/2006/main">
              <a:ext uri="{FF2B5EF4-FFF2-40B4-BE49-F238E27FC236}">
                <a16:creationId xmlns:a16="http://schemas.microsoft.com/office/drawing/2014/main" id="{DC637C20-7009-47B6-9367-D230515BF11F}"/>
              </a:ext>
            </a:extLst>
          </p:cNvPr>
          <p:cNvSpPr>
            <a:spLocks xmlns:a="http://schemas.openxmlformats.org/drawingml/2006/main" noGrp="1"/>
          </p:cNvSpPr>
          <p:nvPr/>
        </p:nvSpPr>
        <p:spPr>
          <a:xfrm xmlns:a="http://schemas.openxmlformats.org/drawingml/2006/main">
            <a:off x="6572250" y="1524000"/>
            <a:ext cx="2381250" cy="762000"/>
          </a:xfrm>
          <a:prstGeom xmlns:a="http://schemas.openxmlformats.org/drawingml/2006/main" prst="ellipse">
            <a:avLst/>
          </a:prstGeom>
          <a:solidFill xmlns:a="http://schemas.openxmlformats.org/drawingml/2006/main">
            <a:srgbClr val="EDF3E5"/>
          </a:solidFill>
          <a:ln xmlns:a="http://schemas.openxmlformats.org/drawingml/2006/main" w="14288">
            <a:solidFill>
              <a:srgbClr val="668775"/>
            </a:solidFill>
          </a:ln>
        </p:spPr>
        <p:txBody>
          <a:bodyPr xmlns:a="http://schemas.openxmlformats.org/drawingml/2006/main" anchor="ctr">
            <a:noAutofit/>
          </a:bodyPr>
          <a:lstStyle xmlns:a="http://schemas.openxmlformats.org/drawingml/2006/main"/>
          <a:p xmlns:a="http://schemas.openxmlformats.org/drawingml/2006/main">
            <a:pPr algn="ctr">
              <a:defRPr sz="1800">
                <a:solidFill>
                  <a:srgbClr val="183D34"/>
                </a:solidFill>
                <a:latin typeface="Arial"/>
                <a:ea typeface="Arial"/>
                <a:cs typeface="Arial"/>
              </a:defRPr>
            </a:pPr>
            <a:r>
              <a:rPr sz="1800">
                <a:solidFill>
                  <a:srgbClr val="183D34"/>
                </a:solidFill>
                <a:latin typeface="Arial"/>
                <a:ea typeface="Arial"/>
                <a:cs typeface="Arial"/>
              </a:rPr>
              <a:t>Submit offer</a:t>
            </a:r>
          </a:p>
        </p:txBody>
      </p:sp>
      <p:sp>
        <p:nvSpPr>
          <p:cNvPr id="7" name="">
            <a:extLst xmlns:a="http://schemas.openxmlformats.org/drawingml/2006/main">
              <a:ext uri="{FF2B5EF4-FFF2-40B4-BE49-F238E27FC236}">
                <a16:creationId xmlns:a16="http://schemas.microsoft.com/office/drawing/2014/main" id="{E7F0A671-4EDD-4ACE-9FC5-FADF896A5428}"/>
              </a:ext>
            </a:extLst>
          </p:cNvPr>
          <p:cNvSpPr>
            <a:spLocks xmlns:a="http://schemas.openxmlformats.org/drawingml/2006/main" noGrp="1"/>
          </p:cNvSpPr>
          <p:nvPr/>
        </p:nvSpPr>
        <p:spPr>
          <a:xfrm xmlns:a="http://schemas.openxmlformats.org/drawingml/2006/main">
            <a:off x="3238500" y="3095625"/>
            <a:ext cx="2381250" cy="762000"/>
          </a:xfrm>
          <a:prstGeom xmlns:a="http://schemas.openxmlformats.org/drawingml/2006/main" prst="ellipse">
            <a:avLst/>
          </a:prstGeom>
          <a:solidFill xmlns:a="http://schemas.openxmlformats.org/drawingml/2006/main">
            <a:srgbClr val="EDF3E5"/>
          </a:solidFill>
          <a:ln xmlns:a="http://schemas.openxmlformats.org/drawingml/2006/main" w="14288">
            <a:solidFill>
              <a:srgbClr val="668775"/>
            </a:solidFill>
          </a:ln>
        </p:spPr>
        <p:txBody>
          <a:bodyPr xmlns:a="http://schemas.openxmlformats.org/drawingml/2006/main" anchor="ctr">
            <a:noAutofit/>
          </a:bodyPr>
          <a:lstStyle xmlns:a="http://schemas.openxmlformats.org/drawingml/2006/main"/>
          <a:p xmlns:a="http://schemas.openxmlformats.org/drawingml/2006/main">
            <a:pPr algn="ctr">
              <a:defRPr sz="1800">
                <a:solidFill>
                  <a:srgbClr val="183D34"/>
                </a:solidFill>
                <a:latin typeface="Arial"/>
                <a:ea typeface="Arial"/>
                <a:cs typeface="Arial"/>
              </a:defRPr>
            </a:pPr>
            <a:r>
              <a:rPr sz="1800">
                <a:solidFill>
                  <a:srgbClr val="183D34"/>
                </a:solidFill>
                <a:latin typeface="Arial"/>
                <a:ea typeface="Arial"/>
                <a:cs typeface="Arial"/>
              </a:rPr>
              <a:t>Compare and select</a:t>
            </a:r>
          </a:p>
        </p:txBody>
      </p:sp>
      <p:sp>
        <p:nvSpPr>
          <p:cNvPr id="8" name="">
            <a:extLst xmlns:a="http://schemas.openxmlformats.org/drawingml/2006/main">
              <a:ext uri="{FF2B5EF4-FFF2-40B4-BE49-F238E27FC236}">
                <a16:creationId xmlns:a16="http://schemas.microsoft.com/office/drawing/2014/main" id="{B149B4ED-4189-410F-B0F1-0BAA63BFBAB0}"/>
              </a:ext>
            </a:extLst>
          </p:cNvPr>
          <p:cNvSpPr>
            <a:spLocks xmlns:a="http://schemas.openxmlformats.org/drawingml/2006/main" noGrp="1"/>
          </p:cNvSpPr>
          <p:nvPr/>
        </p:nvSpPr>
        <p:spPr>
          <a:xfrm xmlns:a="http://schemas.openxmlformats.org/drawingml/2006/main">
            <a:off x="6572250" y="3095625"/>
            <a:ext cx="2381250" cy="762000"/>
          </a:xfrm>
          <a:prstGeom xmlns:a="http://schemas.openxmlformats.org/drawingml/2006/main" prst="ellipse">
            <a:avLst/>
          </a:prstGeom>
          <a:solidFill xmlns:a="http://schemas.openxmlformats.org/drawingml/2006/main">
            <a:srgbClr val="EDF3E5"/>
          </a:solidFill>
          <a:ln xmlns:a="http://schemas.openxmlformats.org/drawingml/2006/main" w="14288">
            <a:solidFill>
              <a:srgbClr val="668775"/>
            </a:solidFill>
          </a:ln>
        </p:spPr>
        <p:txBody>
          <a:bodyPr xmlns:a="http://schemas.openxmlformats.org/drawingml/2006/main" anchor="ctr">
            <a:noAutofit/>
          </a:bodyPr>
          <a:lstStyle xmlns:a="http://schemas.openxmlformats.org/drawingml/2006/main"/>
          <a:p xmlns:a="http://schemas.openxmlformats.org/drawingml/2006/main">
            <a:pPr algn="ctr">
              <a:defRPr sz="1800">
                <a:solidFill>
                  <a:srgbClr val="183D34"/>
                </a:solidFill>
                <a:latin typeface="Arial"/>
                <a:ea typeface="Arial"/>
                <a:cs typeface="Arial"/>
              </a:defRPr>
            </a:pPr>
            <a:r>
              <a:rPr sz="1800">
                <a:solidFill>
                  <a:srgbClr val="183D34"/>
                </a:solidFill>
                <a:latin typeface="Arial"/>
                <a:ea typeface="Arial"/>
                <a:cs typeface="Arial"/>
              </a:rPr>
              <a:t>Update job progress</a:t>
            </a:r>
          </a:p>
        </p:txBody>
      </p:sp>
      <p:sp>
        <p:nvSpPr>
          <p:cNvPr id="9" name="">
            <a:extLst xmlns:a="http://schemas.openxmlformats.org/drawingml/2006/main">
              <a:ext uri="{FF2B5EF4-FFF2-40B4-BE49-F238E27FC236}">
                <a16:creationId xmlns:a16="http://schemas.microsoft.com/office/drawing/2014/main" id="{E57BE395-C75D-455A-9128-02A9940F420F}"/>
              </a:ext>
            </a:extLst>
          </p:cNvPr>
          <p:cNvSpPr>
            <a:spLocks xmlns:a="http://schemas.openxmlformats.org/drawingml/2006/main" noGrp="1"/>
          </p:cNvSpPr>
          <p:nvPr/>
        </p:nvSpPr>
        <p:spPr>
          <a:xfrm xmlns:a="http://schemas.openxmlformats.org/drawingml/2006/main">
            <a:off x="3238500" y="4714875"/>
            <a:ext cx="2381250" cy="762000"/>
          </a:xfrm>
          <a:prstGeom xmlns:a="http://schemas.openxmlformats.org/drawingml/2006/main" prst="ellipse">
            <a:avLst/>
          </a:prstGeom>
          <a:solidFill xmlns:a="http://schemas.openxmlformats.org/drawingml/2006/main">
            <a:srgbClr val="EDF3E5"/>
          </a:solidFill>
          <a:ln xmlns:a="http://schemas.openxmlformats.org/drawingml/2006/main" w="14288">
            <a:solidFill>
              <a:srgbClr val="668775"/>
            </a:solidFill>
          </a:ln>
        </p:spPr>
        <p:txBody>
          <a:bodyPr xmlns:a="http://schemas.openxmlformats.org/drawingml/2006/main" anchor="ctr">
            <a:noAutofit/>
          </a:bodyPr>
          <a:lstStyle xmlns:a="http://schemas.openxmlformats.org/drawingml/2006/main"/>
          <a:p xmlns:a="http://schemas.openxmlformats.org/drawingml/2006/main">
            <a:pPr algn="ctr">
              <a:defRPr sz="1800">
                <a:solidFill>
                  <a:srgbClr val="183D34"/>
                </a:solidFill>
                <a:latin typeface="Arial"/>
                <a:ea typeface="Arial"/>
                <a:cs typeface="Arial"/>
              </a:defRPr>
            </a:pPr>
            <a:r>
              <a:rPr sz="1800">
                <a:solidFill>
                  <a:srgbClr val="183D34"/>
                </a:solidFill>
                <a:latin typeface="Arial"/>
                <a:ea typeface="Arial"/>
                <a:cs typeface="Arial"/>
              </a:rPr>
              <a:t>Confirm and review</a:t>
            </a:r>
          </a:p>
        </p:txBody>
      </p:sp>
      <p:sp>
        <p:nvSpPr>
          <p:cNvPr id="10" name="">
            <a:extLst xmlns:a="http://schemas.openxmlformats.org/drawingml/2006/main">
              <a:ext uri="{FF2B5EF4-FFF2-40B4-BE49-F238E27FC236}">
                <a16:creationId xmlns:a16="http://schemas.microsoft.com/office/drawing/2014/main" id="{B8C50861-112B-45B6-B000-1E01C95770D9}"/>
              </a:ext>
            </a:extLst>
          </p:cNvPr>
          <p:cNvSpPr>
            <a:spLocks xmlns:a="http://schemas.openxmlformats.org/drawingml/2006/main" noGrp="1"/>
          </p:cNvSpPr>
          <p:nvPr/>
        </p:nvSpPr>
        <p:spPr>
          <a:xfrm xmlns:a="http://schemas.openxmlformats.org/drawingml/2006/main">
            <a:off x="6572250" y="4714875"/>
            <a:ext cx="2381250" cy="762000"/>
          </a:xfrm>
          <a:prstGeom xmlns:a="http://schemas.openxmlformats.org/drawingml/2006/main" prst="ellipse">
            <a:avLst/>
          </a:prstGeom>
          <a:solidFill xmlns:a="http://schemas.openxmlformats.org/drawingml/2006/main">
            <a:srgbClr val="EDF3E5"/>
          </a:solidFill>
          <a:ln xmlns:a="http://schemas.openxmlformats.org/drawingml/2006/main" w="14288">
            <a:solidFill>
              <a:srgbClr val="668775"/>
            </a:solidFill>
          </a:ln>
        </p:spPr>
        <p:txBody>
          <a:bodyPr xmlns:a="http://schemas.openxmlformats.org/drawingml/2006/main" anchor="ctr">
            <a:noAutofit/>
          </a:bodyPr>
          <a:lstStyle xmlns:a="http://schemas.openxmlformats.org/drawingml/2006/main"/>
          <a:p xmlns:a="http://schemas.openxmlformats.org/drawingml/2006/main">
            <a:pPr algn="ctr">
              <a:defRPr sz="1800">
                <a:solidFill>
                  <a:srgbClr val="183D34"/>
                </a:solidFill>
                <a:latin typeface="Arial"/>
                <a:ea typeface="Arial"/>
                <a:cs typeface="Arial"/>
              </a:defRPr>
            </a:pPr>
            <a:r>
              <a:rPr sz="1800">
                <a:solidFill>
                  <a:srgbClr val="183D34"/>
                </a:solidFill>
                <a:latin typeface="Arial"/>
                <a:ea typeface="Arial"/>
                <a:cs typeface="Arial"/>
              </a:rPr>
              <a:t>Discuss work</a:t>
            </a:r>
          </a:p>
        </p:txBody>
      </p:sp>
      <p:cxnSp>
        <p:nvCxnSpPr>
          <p:cNvPr id="29" name=""/>
          <p:cNvCxnSpPr>
            <a:stCxn xmlns:a="http://schemas.openxmlformats.org/drawingml/2006/main" id="3" idx="3"/>
            <a:endCxn xmlns:a="http://schemas.openxmlformats.org/drawingml/2006/main" id="5" idx="2"/>
          </p:cNvCxnSpPr>
          <p:nvPr/>
        </p:nvCxnSpPr>
        <p:spPr>
          <a:xfrm xmlns:a="http://schemas.openxmlformats.org/drawingml/2006/main" flipV="1">
            <a:off x="2571750" y="1905000"/>
            <a:ext cx="666750" cy="1547813"/>
          </a:xfrm>
          <a:prstGeom xmlns:a="http://schemas.openxmlformats.org/drawingml/2006/main" prst="straightConnector1">
            <a:avLst/>
          </a:prstGeom>
          <a:ln xmlns:a="http://schemas.openxmlformats.org/drawingml/2006/main" w="19050">
            <a:solidFill>
              <a:srgbClr val="688778"/>
            </a:solidFill>
            <a:tailEnd type="none" w="sm" len="sm"/>
          </a:ln>
        </p:spPr>
      </p:cxnSp>
      <p:cxnSp>
        <p:nvCxnSpPr>
          <p:cNvPr id="30" name=""/>
          <p:cNvCxnSpPr>
            <a:stCxn xmlns:a="http://schemas.openxmlformats.org/drawingml/2006/main" id="3" idx="3"/>
            <a:endCxn xmlns:a="http://schemas.openxmlformats.org/drawingml/2006/main" id="7" idx="2"/>
          </p:cNvCxnSpPr>
          <p:nvPr/>
        </p:nvCxnSpPr>
        <p:spPr>
          <a:xfrm xmlns:a="http://schemas.openxmlformats.org/drawingml/2006/main">
            <a:off x="2571750" y="3452813"/>
            <a:ext cx="666750" cy="23813"/>
          </a:xfrm>
          <a:prstGeom xmlns:a="http://schemas.openxmlformats.org/drawingml/2006/main" prst="straightConnector1">
            <a:avLst/>
          </a:prstGeom>
          <a:ln xmlns:a="http://schemas.openxmlformats.org/drawingml/2006/main" w="19050">
            <a:solidFill>
              <a:srgbClr val="688778"/>
            </a:solidFill>
            <a:tailEnd type="none" w="sm" len="sm"/>
          </a:ln>
        </p:spPr>
      </p:cxnSp>
      <p:cxnSp>
        <p:nvCxnSpPr>
          <p:cNvPr id="31" name=""/>
          <p:cNvCxnSpPr>
            <a:stCxn xmlns:a="http://schemas.openxmlformats.org/drawingml/2006/main" id="3" idx="3"/>
            <a:endCxn xmlns:a="http://schemas.openxmlformats.org/drawingml/2006/main" id="9" idx="2"/>
          </p:cNvCxnSpPr>
          <p:nvPr/>
        </p:nvCxnSpPr>
        <p:spPr>
          <a:xfrm xmlns:a="http://schemas.openxmlformats.org/drawingml/2006/main">
            <a:off x="2571750" y="3452813"/>
            <a:ext cx="666750" cy="1643063"/>
          </a:xfrm>
          <a:prstGeom xmlns:a="http://schemas.openxmlformats.org/drawingml/2006/main" prst="straightConnector1">
            <a:avLst/>
          </a:prstGeom>
          <a:ln xmlns:a="http://schemas.openxmlformats.org/drawingml/2006/main" w="19050">
            <a:solidFill>
              <a:srgbClr val="688778"/>
            </a:solidFill>
            <a:tailEnd type="none" w="sm" len="sm"/>
          </a:ln>
        </p:spPr>
      </p:cxnSp>
      <p:cxnSp>
        <p:nvCxnSpPr>
          <p:cNvPr id="32" name=""/>
          <p:cNvCxnSpPr>
            <a:stCxn xmlns:a="http://schemas.openxmlformats.org/drawingml/2006/main" id="4" idx="1"/>
            <a:endCxn xmlns:a="http://schemas.openxmlformats.org/drawingml/2006/main" id="6" idx="6"/>
          </p:cNvCxnSpPr>
          <p:nvPr/>
        </p:nvCxnSpPr>
        <p:spPr>
          <a:xfrm xmlns:a="http://schemas.openxmlformats.org/drawingml/2006/main" flipH="1" flipV="1">
            <a:off x="8953500" y="1905000"/>
            <a:ext cx="666750" cy="1547813"/>
          </a:xfrm>
          <a:prstGeom xmlns:a="http://schemas.openxmlformats.org/drawingml/2006/main" prst="straightConnector1">
            <a:avLst/>
          </a:prstGeom>
          <a:ln xmlns:a="http://schemas.openxmlformats.org/drawingml/2006/main" w="19050">
            <a:solidFill>
              <a:srgbClr val="688778"/>
            </a:solidFill>
            <a:tailEnd type="none" w="sm" len="sm"/>
          </a:ln>
        </p:spPr>
      </p:cxnSp>
      <p:cxnSp>
        <p:nvCxnSpPr>
          <p:cNvPr id="33" name=""/>
          <p:cNvCxnSpPr>
            <a:stCxn xmlns:a="http://schemas.openxmlformats.org/drawingml/2006/main" id="4" idx="1"/>
            <a:endCxn xmlns:a="http://schemas.openxmlformats.org/drawingml/2006/main" id="8" idx="6"/>
          </p:cNvCxnSpPr>
          <p:nvPr/>
        </p:nvCxnSpPr>
        <p:spPr>
          <a:xfrm xmlns:a="http://schemas.openxmlformats.org/drawingml/2006/main" flipH="1">
            <a:off x="8953500" y="3452813"/>
            <a:ext cx="666750" cy="23813"/>
          </a:xfrm>
          <a:prstGeom xmlns:a="http://schemas.openxmlformats.org/drawingml/2006/main" prst="straightConnector1">
            <a:avLst/>
          </a:prstGeom>
          <a:ln xmlns:a="http://schemas.openxmlformats.org/drawingml/2006/main" w="19050">
            <a:solidFill>
              <a:srgbClr val="688778"/>
            </a:solidFill>
            <a:tailEnd type="none" w="sm" len="sm"/>
          </a:ln>
        </p:spPr>
      </p:cxnSp>
      <p:cxnSp>
        <p:nvCxnSpPr>
          <p:cNvPr id="34" name=""/>
          <p:cNvCxnSpPr>
            <a:stCxn xmlns:a="http://schemas.openxmlformats.org/drawingml/2006/main" id="4" idx="1"/>
            <a:endCxn xmlns:a="http://schemas.openxmlformats.org/drawingml/2006/main" id="10" idx="6"/>
          </p:cNvCxnSpPr>
          <p:nvPr/>
        </p:nvCxnSpPr>
        <p:spPr>
          <a:xfrm xmlns:a="http://schemas.openxmlformats.org/drawingml/2006/main" flipH="1">
            <a:off x="8953500" y="3452813"/>
            <a:ext cx="666750" cy="1643063"/>
          </a:xfrm>
          <a:prstGeom xmlns:a="http://schemas.openxmlformats.org/drawingml/2006/main" prst="straightConnector1">
            <a:avLst/>
          </a:prstGeom>
          <a:ln xmlns:a="http://schemas.openxmlformats.org/drawingml/2006/main" w="19050">
            <a:solidFill>
              <a:srgbClr val="688778"/>
            </a:solidFill>
            <a:tailEnd type="none" w="sm" len="sm"/>
          </a:ln>
        </p:spPr>
      </p:cxnSp>
      <p:sp>
        <p:nvSpPr>
          <p:cNvPr id="17" name="">
            <a:extLst xmlns:a="http://schemas.openxmlformats.org/drawingml/2006/main">
              <a:ext uri="{FF2B5EF4-FFF2-40B4-BE49-F238E27FC236}">
                <a16:creationId xmlns:a16="http://schemas.microsoft.com/office/drawing/2014/main" id="{5CC71F7A-8979-4759-96F1-144988E54CC9}"/>
              </a:ext>
            </a:extLst>
          </p:cNvPr>
          <p:cNvSpPr>
            <a:spLocks xmlns:a="http://schemas.openxmlformats.org/drawingml/2006/main" noGrp="1"/>
          </p:cNvSpPr>
          <p:nvPr/>
        </p:nvSpPr>
        <p:spPr>
          <a:xfrm xmlns:a="http://schemas.openxmlformats.org/drawingml/2006/main">
            <a:off x="1619250" y="3810000"/>
            <a:ext cx="6143625" cy="2047875"/>
          </a:xfrm>
          <a:custGeom xmlns:a="http://schemas.openxmlformats.org/drawingml/2006/main">
            <a:pathLst>
              <a:path w="6143625" h="2047875">
                <a:moveTo>
                  <a:pt x="0" y="0"/>
                </a:moveTo>
                <a:lnTo>
                  <a:pt x="0" y="2047875"/>
                </a:lnTo>
                <a:lnTo>
                  <a:pt x="6143625" y="2047875"/>
                </a:lnTo>
                <a:lnTo>
                  <a:pt x="6143625" y="1666875"/>
                </a:lnTo>
              </a:path>
            </a:pathLst>
          </a:custGeom>
          <a:noFill xmlns:a="http://schemas.openxmlformats.org/drawingml/2006/main"/>
          <a:ln xmlns:a="http://schemas.openxmlformats.org/drawingml/2006/main" w="19050">
            <a:solidFill>
              <a:srgbClr val="688778"/>
            </a:solidFill>
          </a:ln>
        </p:spPr>
      </p:sp>
      <p:sp>
        <p:nvSpPr>
          <p:cNvPr id="18" name="">
            <a:extLst xmlns:a="http://schemas.openxmlformats.org/drawingml/2006/main">
              <a:ext uri="{FF2B5EF4-FFF2-40B4-BE49-F238E27FC236}">
                <a16:creationId xmlns:a16="http://schemas.microsoft.com/office/drawing/2014/main" id="{7D7F1FE5-967F-42D8-A727-F1FCD30D99AA}"/>
              </a:ext>
            </a:extLst>
          </p:cNvPr>
          <p:cNvSpPr>
            <a:spLocks xmlns:a="http://schemas.openxmlformats.org/drawingml/2006/main" noGrp="1"/>
          </p:cNvSpPr>
          <p:nvPr/>
        </p:nvSpPr>
        <p:spPr>
          <a:xfrm xmlns:a="http://schemas.openxmlformats.org/drawingml/2006/main">
            <a:off x="628650" y="60960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D7167"/>
                </a:solidFill>
                <a:latin typeface="Arial"/>
                <a:ea typeface="Arial"/>
                <a:cs typeface="Arial"/>
              </a:defRPr>
            </a:pPr>
            <a:r>
              <a:rPr sz="1650" b="0">
                <a:solidFill>
                  <a:srgbClr val="5D7167"/>
                </a:solidFill>
                <a:latin typeface="Arial"/>
                <a:ea typeface="Arial"/>
                <a:cs typeface="Arial"/>
              </a:rPr>
              <a:t>Moderator use cases: resolve reports, record decisions and approve organisation membership.</a:t>
            </a:r>
          </a:p>
        </p:txBody>
      </p:sp>
    </p:spTree>
    <p:extLst>
      <p:ext uri="{BB962C8B-B14F-4D97-AF65-F5344CB8AC3E}">
        <p14:creationId xmlns:p14="http://schemas.microsoft.com/office/powerpoint/2010/main" val="1388214535"/>
      </p:ext>
    </p:extLst>
  </p:cSld>
</p:sld>
</file>

<file path=ppt/slides/slide14.xml><?xml version="1.0" encoding="utf-8"?>
<p:sld xmlns:p="http://schemas.openxmlformats.org/presentationml/2006/main">
  <p:cSld>
    <p:bg>
      <p:bgPr>
        <a:solidFill xmlns:a="http://schemas.openxmlformats.org/drawingml/2006/main">
          <a:srgbClr val="FAFCF6"/>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028814D-97DD-432D-AC18-B8F7BFA42EC7}"/>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D34"/>
                </a:solidFill>
                <a:latin typeface="Arial"/>
                <a:ea typeface="Arial"/>
                <a:cs typeface="Arial"/>
              </a:defRPr>
            </a:pPr>
            <a:r>
              <a:rPr sz="3150" b="1">
                <a:solidFill>
                  <a:srgbClr val="183D34"/>
                </a:solidFill>
                <a:latin typeface="Arial"/>
                <a:ea typeface="Arial"/>
                <a:cs typeface="Arial"/>
              </a:rPr>
              <a:t>Component architecture</a:t>
            </a:r>
          </a:p>
        </p:txBody>
      </p:sp>
      <p:sp>
        <p:nvSpPr>
          <p:cNvPr id="2" name="">
            <a:extLst xmlns:a="http://schemas.openxmlformats.org/drawingml/2006/main">
              <a:ext uri="{FF2B5EF4-FFF2-40B4-BE49-F238E27FC236}">
                <a16:creationId xmlns:a16="http://schemas.microsoft.com/office/drawing/2014/main" id="{C210B566-FD1B-4D50-930D-BF63479026BA}"/>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D7167"/>
                </a:solidFill>
                <a:latin typeface="Arial"/>
                <a:ea typeface="Arial"/>
                <a:cs typeface="Arial"/>
              </a:defRPr>
            </a:pPr>
            <a:r>
              <a:rPr sz="1125" b="0">
                <a:solidFill>
                  <a:srgbClr val="5D7167"/>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BF48289F-3568-4820-AFD4-4C3C0906FCD5}"/>
              </a:ext>
            </a:extLst>
          </p:cNvPr>
          <p:cNvSpPr>
            <a:spLocks xmlns:a="http://schemas.openxmlformats.org/drawingml/2006/main" noGrp="1"/>
          </p:cNvSpPr>
          <p:nvPr/>
        </p:nvSpPr>
        <p:spPr>
          <a:xfrm xmlns:a="http://schemas.openxmlformats.org/drawingml/2006/main">
            <a:off x="1238250" y="1428750"/>
            <a:ext cx="2857500" cy="619125"/>
          </a:xfrm>
          <a:prstGeom xmlns:a="http://schemas.openxmlformats.org/drawingml/2006/main" prst="rect">
            <a:avLst/>
          </a:prstGeom>
          <a:solidFill xmlns:a="http://schemas.openxmlformats.org/drawingml/2006/main">
            <a:srgbClr val="EDF3E5"/>
          </a:solidFill>
          <a:ln xmlns:a="http://schemas.openxmlformats.org/drawingml/2006/main" w="14288">
            <a:solidFill>
              <a:srgbClr val="668775"/>
            </a:solidFill>
          </a:ln>
        </p:spPr>
        <p:txBody>
          <a:bodyPr xmlns:a="http://schemas.openxmlformats.org/drawingml/2006/main" anchor="ctr">
            <a:noAutofit/>
          </a:bodyPr>
          <a:lstStyle xmlns:a="http://schemas.openxmlformats.org/drawingml/2006/main"/>
          <a:p xmlns:a="http://schemas.openxmlformats.org/drawingml/2006/main">
            <a:pPr algn="ctr">
              <a:defRPr sz="1800">
                <a:solidFill>
                  <a:srgbClr val="183D34"/>
                </a:solidFill>
                <a:latin typeface="Arial"/>
                <a:ea typeface="Arial"/>
                <a:cs typeface="Arial"/>
              </a:defRPr>
            </a:pPr>
            <a:r>
              <a:rPr sz="1800">
                <a:solidFill>
                  <a:srgbClr val="183D34"/>
                </a:solidFill>
                <a:latin typeface="Arial"/>
                <a:ea typeface="Arial"/>
                <a:cs typeface="Arial"/>
              </a:rPr>
              <a:t>Next.js web</a:t>
            </a:r>
          </a:p>
        </p:txBody>
      </p:sp>
      <p:sp>
        <p:nvSpPr>
          <p:cNvPr id="4" name="">
            <a:extLst xmlns:a="http://schemas.openxmlformats.org/drawingml/2006/main">
              <a:ext uri="{FF2B5EF4-FFF2-40B4-BE49-F238E27FC236}">
                <a16:creationId xmlns:a16="http://schemas.microsoft.com/office/drawing/2014/main" id="{6C672099-9F8A-41E2-8249-E0A21E62BE29}"/>
              </a:ext>
            </a:extLst>
          </p:cNvPr>
          <p:cNvSpPr>
            <a:spLocks xmlns:a="http://schemas.openxmlformats.org/drawingml/2006/main" noGrp="1"/>
          </p:cNvSpPr>
          <p:nvPr/>
        </p:nvSpPr>
        <p:spPr>
          <a:xfrm xmlns:a="http://schemas.openxmlformats.org/drawingml/2006/main">
            <a:off x="8096250" y="1428750"/>
            <a:ext cx="2857500" cy="619125"/>
          </a:xfrm>
          <a:prstGeom xmlns:a="http://schemas.openxmlformats.org/drawingml/2006/main" prst="rect">
            <a:avLst/>
          </a:prstGeom>
          <a:solidFill xmlns:a="http://schemas.openxmlformats.org/drawingml/2006/main">
            <a:srgbClr val="EDF3E5"/>
          </a:solidFill>
          <a:ln xmlns:a="http://schemas.openxmlformats.org/drawingml/2006/main" w="14288">
            <a:solidFill>
              <a:srgbClr val="668775"/>
            </a:solidFill>
          </a:ln>
        </p:spPr>
        <p:txBody>
          <a:bodyPr xmlns:a="http://schemas.openxmlformats.org/drawingml/2006/main" anchor="ctr">
            <a:noAutofit/>
          </a:bodyPr>
          <a:lstStyle xmlns:a="http://schemas.openxmlformats.org/drawingml/2006/main"/>
          <a:p xmlns:a="http://schemas.openxmlformats.org/drawingml/2006/main">
            <a:pPr algn="ctr">
              <a:defRPr sz="1800">
                <a:solidFill>
                  <a:srgbClr val="183D34"/>
                </a:solidFill>
                <a:latin typeface="Arial"/>
                <a:ea typeface="Arial"/>
                <a:cs typeface="Arial"/>
              </a:defRPr>
            </a:pPr>
            <a:r>
              <a:rPr sz="1800">
                <a:solidFill>
                  <a:srgbClr val="183D34"/>
                </a:solidFill>
                <a:latin typeface="Arial"/>
                <a:ea typeface="Arial"/>
                <a:cs typeface="Arial"/>
              </a:rPr>
              <a:t>Flutter mobile</a:t>
            </a:r>
          </a:p>
        </p:txBody>
      </p:sp>
      <p:sp>
        <p:nvSpPr>
          <p:cNvPr id="5" name="">
            <a:extLst xmlns:a="http://schemas.openxmlformats.org/drawingml/2006/main">
              <a:ext uri="{FF2B5EF4-FFF2-40B4-BE49-F238E27FC236}">
                <a16:creationId xmlns:a16="http://schemas.microsoft.com/office/drawing/2014/main" id="{E5B1BF6B-C779-4E6C-B4AA-806D7AB50576}"/>
              </a:ext>
            </a:extLst>
          </p:cNvPr>
          <p:cNvSpPr>
            <a:spLocks xmlns:a="http://schemas.openxmlformats.org/drawingml/2006/main" noGrp="1"/>
          </p:cNvSpPr>
          <p:nvPr/>
        </p:nvSpPr>
        <p:spPr>
          <a:xfrm xmlns:a="http://schemas.openxmlformats.org/drawingml/2006/main">
            <a:off x="2952750" y="2571750"/>
            <a:ext cx="6286500" cy="619125"/>
          </a:xfrm>
          <a:prstGeom xmlns:a="http://schemas.openxmlformats.org/drawingml/2006/main" prst="rect">
            <a:avLst/>
          </a:prstGeom>
          <a:solidFill xmlns:a="http://schemas.openxmlformats.org/drawingml/2006/main">
            <a:srgbClr val="EDF3E5"/>
          </a:solidFill>
          <a:ln xmlns:a="http://schemas.openxmlformats.org/drawingml/2006/main" w="14288">
            <a:solidFill>
              <a:srgbClr val="668775"/>
            </a:solidFill>
          </a:ln>
        </p:spPr>
        <p:txBody>
          <a:bodyPr xmlns:a="http://schemas.openxmlformats.org/drawingml/2006/main" anchor="ctr">
            <a:noAutofit/>
          </a:bodyPr>
          <a:lstStyle xmlns:a="http://schemas.openxmlformats.org/drawingml/2006/main"/>
          <a:p xmlns:a="http://schemas.openxmlformats.org/drawingml/2006/main">
            <a:pPr algn="ctr">
              <a:defRPr sz="1800">
                <a:solidFill>
                  <a:srgbClr val="183D34"/>
                </a:solidFill>
                <a:latin typeface="Arial"/>
                <a:ea typeface="Arial"/>
                <a:cs typeface="Arial"/>
              </a:defRPr>
            </a:pPr>
            <a:r>
              <a:rPr sz="1800">
                <a:solidFill>
                  <a:srgbClr val="183D34"/>
                </a:solidFill>
                <a:latin typeface="Arial"/>
                <a:ea typeface="Arial"/>
                <a:cs typeface="Arial"/>
              </a:rPr>
              <a:t>Django REST API and WebSocket gateway</a:t>
            </a:r>
          </a:p>
        </p:txBody>
      </p:sp>
      <p:sp>
        <p:nvSpPr>
          <p:cNvPr id="6" name="">
            <a:extLst xmlns:a="http://schemas.openxmlformats.org/drawingml/2006/main">
              <a:ext uri="{FF2B5EF4-FFF2-40B4-BE49-F238E27FC236}">
                <a16:creationId xmlns:a16="http://schemas.microsoft.com/office/drawing/2014/main" id="{48E418C3-E448-4408-BE5F-5D777419920E}"/>
              </a:ext>
            </a:extLst>
          </p:cNvPr>
          <p:cNvSpPr>
            <a:spLocks xmlns:a="http://schemas.openxmlformats.org/drawingml/2006/main" noGrp="1"/>
          </p:cNvSpPr>
          <p:nvPr/>
        </p:nvSpPr>
        <p:spPr>
          <a:xfrm xmlns:a="http://schemas.openxmlformats.org/drawingml/2006/main">
            <a:off x="857250" y="3905250"/>
            <a:ext cx="3238500" cy="904875"/>
          </a:xfrm>
          <a:prstGeom xmlns:a="http://schemas.openxmlformats.org/drawingml/2006/main" prst="rect">
            <a:avLst/>
          </a:prstGeom>
          <a:solidFill xmlns:a="http://schemas.openxmlformats.org/drawingml/2006/main">
            <a:srgbClr val="EDF3E5"/>
          </a:solidFill>
          <a:ln xmlns:a="http://schemas.openxmlformats.org/drawingml/2006/main" w="14288">
            <a:solidFill>
              <a:srgbClr val="668775"/>
            </a:solidFill>
          </a:ln>
        </p:spPr>
        <p:txBody>
          <a:bodyPr xmlns:a="http://schemas.openxmlformats.org/drawingml/2006/main" anchor="ctr">
            <a:noAutofit/>
          </a:bodyPr>
          <a:lstStyle xmlns:a="http://schemas.openxmlformats.org/drawingml/2006/main"/>
          <a:p xmlns:a="http://schemas.openxmlformats.org/drawingml/2006/main">
            <a:pPr algn="ctr">
              <a:defRPr sz="1800">
                <a:solidFill>
                  <a:srgbClr val="183D34"/>
                </a:solidFill>
                <a:latin typeface="Arial"/>
                <a:ea typeface="Arial"/>
                <a:cs typeface="Arial"/>
              </a:defRPr>
            </a:pPr>
            <a:r>
              <a:rPr sz="1800">
                <a:solidFill>
                  <a:srgbClr val="183D34"/>
                </a:solidFill>
                <a:latin typeface="Arial"/>
                <a:ea typeface="Arial"/>
                <a:cs typeface="Arial"/>
              </a:rPr>
              <a:t>Accounts and organisations</a:t>
            </a:r>
          </a:p>
          <a:p xmlns:a="http://schemas.openxmlformats.org/drawingml/2006/main">
            <a:pPr algn="ctr">
              <a:defRPr sz="1800">
                <a:solidFill>
                  <a:srgbClr val="183D34"/>
                </a:solidFill>
                <a:latin typeface="Arial"/>
                <a:ea typeface="Arial"/>
                <a:cs typeface="Arial"/>
              </a:defRPr>
            </a:pPr>
            <a:r>
              <a:rPr sz="1800">
                <a:solidFill>
                  <a:srgbClr val="183D34"/>
                </a:solidFill>
                <a:latin typeface="Arial"/>
                <a:ea typeface="Arial"/>
                <a:cs typeface="Arial"/>
              </a:rPr>
              <a:t>Requests, offers and orders</a:t>
            </a:r>
          </a:p>
        </p:txBody>
      </p:sp>
      <p:sp>
        <p:nvSpPr>
          <p:cNvPr id="7" name="">
            <a:extLst xmlns:a="http://schemas.openxmlformats.org/drawingml/2006/main">
              <a:ext uri="{FF2B5EF4-FFF2-40B4-BE49-F238E27FC236}">
                <a16:creationId xmlns:a16="http://schemas.microsoft.com/office/drawing/2014/main" id="{9FF664FA-916B-49BC-BB19-A1FB7BD6628C}"/>
              </a:ext>
            </a:extLst>
          </p:cNvPr>
          <p:cNvSpPr>
            <a:spLocks xmlns:a="http://schemas.openxmlformats.org/drawingml/2006/main" noGrp="1"/>
          </p:cNvSpPr>
          <p:nvPr/>
        </p:nvSpPr>
        <p:spPr>
          <a:xfrm xmlns:a="http://schemas.openxmlformats.org/drawingml/2006/main">
            <a:off x="4476750" y="3905250"/>
            <a:ext cx="3238500" cy="904875"/>
          </a:xfrm>
          <a:prstGeom xmlns:a="http://schemas.openxmlformats.org/drawingml/2006/main" prst="rect">
            <a:avLst/>
          </a:prstGeom>
          <a:solidFill xmlns:a="http://schemas.openxmlformats.org/drawingml/2006/main">
            <a:srgbClr val="EDF3E5"/>
          </a:solidFill>
          <a:ln xmlns:a="http://schemas.openxmlformats.org/drawingml/2006/main" w="14288">
            <a:solidFill>
              <a:srgbClr val="668775"/>
            </a:solidFill>
          </a:ln>
        </p:spPr>
        <p:txBody>
          <a:bodyPr xmlns:a="http://schemas.openxmlformats.org/drawingml/2006/main" anchor="ctr">
            <a:noAutofit/>
          </a:bodyPr>
          <a:lstStyle xmlns:a="http://schemas.openxmlformats.org/drawingml/2006/main"/>
          <a:p xmlns:a="http://schemas.openxmlformats.org/drawingml/2006/main">
            <a:pPr algn="ctr">
              <a:defRPr sz="1800">
                <a:solidFill>
                  <a:srgbClr val="183D34"/>
                </a:solidFill>
                <a:latin typeface="Arial"/>
                <a:ea typeface="Arial"/>
                <a:cs typeface="Arial"/>
              </a:defRPr>
            </a:pPr>
            <a:r>
              <a:rPr sz="1800">
                <a:solidFill>
                  <a:srgbClr val="183D34"/>
                </a:solidFill>
                <a:latin typeface="Arial"/>
                <a:ea typeface="Arial"/>
                <a:cs typeface="Arial"/>
              </a:rPr>
              <a:t>Profiles, reviews and chat</a:t>
            </a:r>
          </a:p>
          <a:p xmlns:a="http://schemas.openxmlformats.org/drawingml/2006/main">
            <a:pPr algn="ctr">
              <a:defRPr sz="1800">
                <a:solidFill>
                  <a:srgbClr val="183D34"/>
                </a:solidFill>
                <a:latin typeface="Arial"/>
                <a:ea typeface="Arial"/>
                <a:cs typeface="Arial"/>
              </a:defRPr>
            </a:pPr>
            <a:r>
              <a:rPr sz="1800">
                <a:solidFill>
                  <a:srgbClr val="183D34"/>
                </a:solidFill>
                <a:latin typeface="Arial"/>
                <a:ea typeface="Arial"/>
                <a:cs typeface="Arial"/>
              </a:rPr>
              <a:t>Moderation and media</a:t>
            </a:r>
          </a:p>
        </p:txBody>
      </p:sp>
      <p:sp>
        <p:nvSpPr>
          <p:cNvPr id="8" name="">
            <a:extLst xmlns:a="http://schemas.openxmlformats.org/drawingml/2006/main">
              <a:ext uri="{FF2B5EF4-FFF2-40B4-BE49-F238E27FC236}">
                <a16:creationId xmlns:a16="http://schemas.microsoft.com/office/drawing/2014/main" id="{6F9EFD64-607A-4239-8563-330396461DF5}"/>
              </a:ext>
            </a:extLst>
          </p:cNvPr>
          <p:cNvSpPr>
            <a:spLocks xmlns:a="http://schemas.openxmlformats.org/drawingml/2006/main" noGrp="1"/>
          </p:cNvSpPr>
          <p:nvPr/>
        </p:nvSpPr>
        <p:spPr>
          <a:xfrm xmlns:a="http://schemas.openxmlformats.org/drawingml/2006/main">
            <a:off x="8096250" y="3905250"/>
            <a:ext cx="3238500" cy="904875"/>
          </a:xfrm>
          <a:prstGeom xmlns:a="http://schemas.openxmlformats.org/drawingml/2006/main" prst="rect">
            <a:avLst/>
          </a:prstGeom>
          <a:solidFill xmlns:a="http://schemas.openxmlformats.org/drawingml/2006/main">
            <a:srgbClr val="EDF3E5"/>
          </a:solidFill>
          <a:ln xmlns:a="http://schemas.openxmlformats.org/drawingml/2006/main" w="14288">
            <a:solidFill>
              <a:srgbClr val="668775"/>
            </a:solidFill>
          </a:ln>
        </p:spPr>
        <p:txBody>
          <a:bodyPr xmlns:a="http://schemas.openxmlformats.org/drawingml/2006/main" anchor="ctr">
            <a:noAutofit/>
          </a:bodyPr>
          <a:lstStyle xmlns:a="http://schemas.openxmlformats.org/drawingml/2006/main"/>
          <a:p xmlns:a="http://schemas.openxmlformats.org/drawingml/2006/main">
            <a:pPr algn="ctr">
              <a:defRPr sz="1800">
                <a:solidFill>
                  <a:srgbClr val="183D34"/>
                </a:solidFill>
                <a:latin typeface="Arial"/>
                <a:ea typeface="Arial"/>
                <a:cs typeface="Arial"/>
              </a:defRPr>
            </a:pPr>
            <a:r>
              <a:rPr sz="1800">
                <a:solidFill>
                  <a:srgbClr val="183D34"/>
                </a:solidFill>
                <a:latin typeface="Arial"/>
                <a:ea typeface="Arial"/>
                <a:cs typeface="Arial"/>
              </a:rPr>
              <a:t>Category model</a:t>
            </a:r>
          </a:p>
          <a:p xmlns:a="http://schemas.openxmlformats.org/drawingml/2006/main">
            <a:pPr algn="ctr">
              <a:defRPr sz="1800">
                <a:solidFill>
                  <a:srgbClr val="183D34"/>
                </a:solidFill>
                <a:latin typeface="Arial"/>
                <a:ea typeface="Arial"/>
                <a:cs typeface="Arial"/>
              </a:defRPr>
            </a:pPr>
            <a:r>
              <a:rPr sz="1800">
                <a:solidFill>
                  <a:srgbClr val="183D34"/>
                </a:solidFill>
                <a:latin typeface="Arial"/>
                <a:ea typeface="Arial"/>
                <a:cs typeface="Arial"/>
              </a:rPr>
              <a:t>Manual fallback</a:t>
            </a:r>
          </a:p>
        </p:txBody>
      </p:sp>
      <p:sp>
        <p:nvSpPr>
          <p:cNvPr id="9" name="">
            <a:extLst xmlns:a="http://schemas.openxmlformats.org/drawingml/2006/main">
              <a:ext uri="{FF2B5EF4-FFF2-40B4-BE49-F238E27FC236}">
                <a16:creationId xmlns:a16="http://schemas.microsoft.com/office/drawing/2014/main" id="{4CC28EE1-C7C4-4F8C-834F-BFA01E624A6C}"/>
              </a:ext>
            </a:extLst>
          </p:cNvPr>
          <p:cNvSpPr>
            <a:spLocks xmlns:a="http://schemas.openxmlformats.org/drawingml/2006/main" noGrp="1"/>
          </p:cNvSpPr>
          <p:nvPr/>
        </p:nvSpPr>
        <p:spPr>
          <a:xfrm xmlns:a="http://schemas.openxmlformats.org/drawingml/2006/main">
            <a:off x="2095500" y="5572125"/>
            <a:ext cx="3143250" cy="619125"/>
          </a:xfrm>
          <a:prstGeom xmlns:a="http://schemas.openxmlformats.org/drawingml/2006/main" prst="rect">
            <a:avLst/>
          </a:prstGeom>
          <a:solidFill xmlns:a="http://schemas.openxmlformats.org/drawingml/2006/main">
            <a:srgbClr val="EDF3E5"/>
          </a:solidFill>
          <a:ln xmlns:a="http://schemas.openxmlformats.org/drawingml/2006/main" w="14288">
            <a:solidFill>
              <a:srgbClr val="668775"/>
            </a:solidFill>
          </a:ln>
        </p:spPr>
        <p:txBody>
          <a:bodyPr xmlns:a="http://schemas.openxmlformats.org/drawingml/2006/main" anchor="ctr">
            <a:noAutofit/>
          </a:bodyPr>
          <a:lstStyle xmlns:a="http://schemas.openxmlformats.org/drawingml/2006/main"/>
          <a:p xmlns:a="http://schemas.openxmlformats.org/drawingml/2006/main">
            <a:pPr algn="ctr">
              <a:defRPr sz="1800">
                <a:solidFill>
                  <a:srgbClr val="183D34"/>
                </a:solidFill>
                <a:latin typeface="Arial"/>
                <a:ea typeface="Arial"/>
                <a:cs typeface="Arial"/>
              </a:defRPr>
            </a:pPr>
            <a:r>
              <a:rPr sz="1800">
                <a:solidFill>
                  <a:srgbClr val="183D34"/>
                </a:solidFill>
                <a:latin typeface="Arial"/>
                <a:ea typeface="Arial"/>
                <a:cs typeface="Arial"/>
              </a:rPr>
              <a:t>PostgreSQL</a:t>
            </a:r>
          </a:p>
        </p:txBody>
      </p:sp>
      <p:sp>
        <p:nvSpPr>
          <p:cNvPr id="10" name="">
            <a:extLst xmlns:a="http://schemas.openxmlformats.org/drawingml/2006/main">
              <a:ext uri="{FF2B5EF4-FFF2-40B4-BE49-F238E27FC236}">
                <a16:creationId xmlns:a16="http://schemas.microsoft.com/office/drawing/2014/main" id="{49FD987F-5114-4712-A1D3-2F5E36D42D33}"/>
              </a:ext>
            </a:extLst>
          </p:cNvPr>
          <p:cNvSpPr>
            <a:spLocks xmlns:a="http://schemas.openxmlformats.org/drawingml/2006/main" noGrp="1"/>
          </p:cNvSpPr>
          <p:nvPr/>
        </p:nvSpPr>
        <p:spPr>
          <a:xfrm xmlns:a="http://schemas.openxmlformats.org/drawingml/2006/main">
            <a:off x="6953250" y="5572125"/>
            <a:ext cx="3143250" cy="619125"/>
          </a:xfrm>
          <a:prstGeom xmlns:a="http://schemas.openxmlformats.org/drawingml/2006/main" prst="rect">
            <a:avLst/>
          </a:prstGeom>
          <a:solidFill xmlns:a="http://schemas.openxmlformats.org/drawingml/2006/main">
            <a:srgbClr val="EDF3E5"/>
          </a:solidFill>
          <a:ln xmlns:a="http://schemas.openxmlformats.org/drawingml/2006/main" w="14288">
            <a:solidFill>
              <a:srgbClr val="668775"/>
            </a:solidFill>
          </a:ln>
        </p:spPr>
        <p:txBody>
          <a:bodyPr xmlns:a="http://schemas.openxmlformats.org/drawingml/2006/main" anchor="ctr">
            <a:noAutofit/>
          </a:bodyPr>
          <a:lstStyle xmlns:a="http://schemas.openxmlformats.org/drawingml/2006/main"/>
          <a:p xmlns:a="http://schemas.openxmlformats.org/drawingml/2006/main">
            <a:pPr algn="ctr">
              <a:defRPr sz="1800">
                <a:solidFill>
                  <a:srgbClr val="183D34"/>
                </a:solidFill>
                <a:latin typeface="Arial"/>
                <a:ea typeface="Arial"/>
                <a:cs typeface="Arial"/>
              </a:defRPr>
            </a:pPr>
            <a:r>
              <a:rPr sz="1800">
                <a:solidFill>
                  <a:srgbClr val="183D34"/>
                </a:solidFill>
                <a:latin typeface="Arial"/>
                <a:ea typeface="Arial"/>
                <a:cs typeface="Arial"/>
              </a:rPr>
              <a:t>Object storage</a:t>
            </a:r>
          </a:p>
        </p:txBody>
      </p:sp>
      <p:cxnSp>
        <p:nvCxnSpPr>
          <p:cNvPr id="29" name=""/>
          <p:cNvCxnSpPr>
            <a:stCxn xmlns:a="http://schemas.openxmlformats.org/drawingml/2006/main" id="3" idx="2"/>
            <a:endCxn xmlns:a="http://schemas.openxmlformats.org/drawingml/2006/main" id="5" idx="0"/>
          </p:cNvCxnSpPr>
          <p:nvPr/>
        </p:nvCxnSpPr>
        <p:spPr>
          <a:xfrm xmlns:a="http://schemas.openxmlformats.org/drawingml/2006/main">
            <a:off x="2667000" y="2047875"/>
            <a:ext cx="3429000" cy="523875"/>
          </a:xfrm>
          <a:prstGeom xmlns:a="http://schemas.openxmlformats.org/drawingml/2006/main" prst="straightConnector1">
            <a:avLst/>
          </a:prstGeom>
          <a:ln xmlns:a="http://schemas.openxmlformats.org/drawingml/2006/main" w="19050">
            <a:solidFill>
              <a:srgbClr val="688778"/>
            </a:solidFill>
            <a:tailEnd type="triangle" w="sm" len="sm"/>
          </a:ln>
        </p:spPr>
      </p:cxnSp>
      <p:cxnSp>
        <p:nvCxnSpPr>
          <p:cNvPr id="30" name=""/>
          <p:cNvCxnSpPr>
            <a:stCxn xmlns:a="http://schemas.openxmlformats.org/drawingml/2006/main" id="4" idx="2"/>
            <a:endCxn xmlns:a="http://schemas.openxmlformats.org/drawingml/2006/main" id="5" idx="0"/>
          </p:cNvCxnSpPr>
          <p:nvPr/>
        </p:nvCxnSpPr>
        <p:spPr>
          <a:xfrm xmlns:a="http://schemas.openxmlformats.org/drawingml/2006/main" flipH="1">
            <a:off x="6096000" y="2047875"/>
            <a:ext cx="3429000" cy="523875"/>
          </a:xfrm>
          <a:prstGeom xmlns:a="http://schemas.openxmlformats.org/drawingml/2006/main" prst="straightConnector1">
            <a:avLst/>
          </a:prstGeom>
          <a:ln xmlns:a="http://schemas.openxmlformats.org/drawingml/2006/main" w="19050">
            <a:solidFill>
              <a:srgbClr val="688778"/>
            </a:solidFill>
            <a:tailEnd type="triangle" w="sm" len="sm"/>
          </a:ln>
        </p:spPr>
      </p:cxnSp>
      <p:cxnSp>
        <p:nvCxnSpPr>
          <p:cNvPr id="31" name=""/>
          <p:cNvCxnSpPr>
            <a:stCxn xmlns:a="http://schemas.openxmlformats.org/drawingml/2006/main" id="5" idx="2"/>
            <a:endCxn xmlns:a="http://schemas.openxmlformats.org/drawingml/2006/main" id="6" idx="0"/>
          </p:cNvCxnSpPr>
          <p:nvPr/>
        </p:nvCxnSpPr>
        <p:spPr>
          <a:xfrm xmlns:a="http://schemas.openxmlformats.org/drawingml/2006/main" flipH="1">
            <a:off x="2476500" y="3190875"/>
            <a:ext cx="3619500" cy="714375"/>
          </a:xfrm>
          <a:prstGeom xmlns:a="http://schemas.openxmlformats.org/drawingml/2006/main" prst="straightConnector1">
            <a:avLst/>
          </a:prstGeom>
          <a:ln xmlns:a="http://schemas.openxmlformats.org/drawingml/2006/main" w="19050">
            <a:solidFill>
              <a:srgbClr val="688778"/>
            </a:solidFill>
            <a:tailEnd type="triangle" w="sm" len="sm"/>
          </a:ln>
        </p:spPr>
      </p:cxnSp>
      <p:cxnSp>
        <p:nvCxnSpPr>
          <p:cNvPr id="32" name=""/>
          <p:cNvCxnSpPr>
            <a:stCxn xmlns:a="http://schemas.openxmlformats.org/drawingml/2006/main" id="5" idx="2"/>
            <a:endCxn xmlns:a="http://schemas.openxmlformats.org/drawingml/2006/main" id="7" idx="0"/>
          </p:cNvCxnSpPr>
          <p:nvPr/>
        </p:nvCxnSpPr>
        <p:spPr>
          <a:xfrm xmlns:a="http://schemas.openxmlformats.org/drawingml/2006/main">
            <a:off x="6096000" y="3190875"/>
            <a:ext cx="0" cy="714375"/>
          </a:xfrm>
          <a:prstGeom xmlns:a="http://schemas.openxmlformats.org/drawingml/2006/main" prst="straightConnector1">
            <a:avLst/>
          </a:prstGeom>
          <a:ln xmlns:a="http://schemas.openxmlformats.org/drawingml/2006/main" w="19050">
            <a:solidFill>
              <a:srgbClr val="688778"/>
            </a:solidFill>
            <a:tailEnd type="triangle" w="sm" len="sm"/>
          </a:ln>
        </p:spPr>
      </p:cxnSp>
      <p:cxnSp>
        <p:nvCxnSpPr>
          <p:cNvPr id="33" name=""/>
          <p:cNvCxnSpPr>
            <a:stCxn xmlns:a="http://schemas.openxmlformats.org/drawingml/2006/main" id="5" idx="2"/>
            <a:endCxn xmlns:a="http://schemas.openxmlformats.org/drawingml/2006/main" id="8" idx="0"/>
          </p:cNvCxnSpPr>
          <p:nvPr/>
        </p:nvCxnSpPr>
        <p:spPr>
          <a:xfrm xmlns:a="http://schemas.openxmlformats.org/drawingml/2006/main">
            <a:off x="6096000" y="3190875"/>
            <a:ext cx="3619500" cy="714375"/>
          </a:xfrm>
          <a:prstGeom xmlns:a="http://schemas.openxmlformats.org/drawingml/2006/main" prst="straightConnector1">
            <a:avLst/>
          </a:prstGeom>
          <a:ln xmlns:a="http://schemas.openxmlformats.org/drawingml/2006/main" w="19050">
            <a:solidFill>
              <a:srgbClr val="688778"/>
            </a:solidFill>
            <a:tailEnd type="triangle" w="sm" len="sm"/>
          </a:ln>
        </p:spPr>
      </p:cxnSp>
      <p:cxnSp>
        <p:nvCxnSpPr>
          <p:cNvPr id="34" name=""/>
          <p:cNvCxnSpPr>
            <a:stCxn xmlns:a="http://schemas.openxmlformats.org/drawingml/2006/main" id="6" idx="2"/>
            <a:endCxn xmlns:a="http://schemas.openxmlformats.org/drawingml/2006/main" id="9" idx="0"/>
          </p:cNvCxnSpPr>
          <p:nvPr/>
        </p:nvCxnSpPr>
        <p:spPr>
          <a:xfrm xmlns:a="http://schemas.openxmlformats.org/drawingml/2006/main">
            <a:off x="2476500" y="4810125"/>
            <a:ext cx="1190625" cy="762000"/>
          </a:xfrm>
          <a:prstGeom xmlns:a="http://schemas.openxmlformats.org/drawingml/2006/main" prst="straightConnector1">
            <a:avLst/>
          </a:prstGeom>
          <a:ln xmlns:a="http://schemas.openxmlformats.org/drawingml/2006/main" w="19050">
            <a:solidFill>
              <a:srgbClr val="688778"/>
            </a:solidFill>
            <a:tailEnd type="triangle" w="sm" len="sm"/>
          </a:ln>
        </p:spPr>
      </p:cxnSp>
      <p:cxnSp>
        <p:nvCxnSpPr>
          <p:cNvPr id="35" name=""/>
          <p:cNvCxnSpPr>
            <a:stCxn xmlns:a="http://schemas.openxmlformats.org/drawingml/2006/main" id="7" idx="2"/>
            <a:endCxn xmlns:a="http://schemas.openxmlformats.org/drawingml/2006/main" id="9" idx="0"/>
          </p:cNvCxnSpPr>
          <p:nvPr/>
        </p:nvCxnSpPr>
        <p:spPr>
          <a:xfrm xmlns:a="http://schemas.openxmlformats.org/drawingml/2006/main" flipH="1">
            <a:off x="3667125" y="4810125"/>
            <a:ext cx="2428875" cy="762000"/>
          </a:xfrm>
          <a:prstGeom xmlns:a="http://schemas.openxmlformats.org/drawingml/2006/main" prst="straightConnector1">
            <a:avLst/>
          </a:prstGeom>
          <a:ln xmlns:a="http://schemas.openxmlformats.org/drawingml/2006/main" w="19050">
            <a:solidFill>
              <a:srgbClr val="688778"/>
            </a:solidFill>
            <a:tailEnd type="triangle" w="sm" len="sm"/>
          </a:ln>
        </p:spPr>
      </p:cxnSp>
      <p:cxnSp>
        <p:nvCxnSpPr>
          <p:cNvPr id="36" name=""/>
          <p:cNvCxnSpPr>
            <a:stCxn xmlns:a="http://schemas.openxmlformats.org/drawingml/2006/main" id="7" idx="2"/>
            <a:endCxn xmlns:a="http://schemas.openxmlformats.org/drawingml/2006/main" id="10" idx="0"/>
          </p:cNvCxnSpPr>
          <p:nvPr/>
        </p:nvCxnSpPr>
        <p:spPr>
          <a:xfrm xmlns:a="http://schemas.openxmlformats.org/drawingml/2006/main">
            <a:off x="6096000" y="4810125"/>
            <a:ext cx="2428875" cy="762000"/>
          </a:xfrm>
          <a:prstGeom xmlns:a="http://schemas.openxmlformats.org/drawingml/2006/main" prst="straightConnector1">
            <a:avLst/>
          </a:prstGeom>
          <a:ln xmlns:a="http://schemas.openxmlformats.org/drawingml/2006/main" w="19050">
            <a:solidFill>
              <a:srgbClr val="688778"/>
            </a:solidFill>
            <a:tailEnd type="triangle" w="sm" len="sm"/>
          </a:ln>
        </p:spPr>
      </p:cxnSp>
    </p:spTree>
    <p:extLst>
      <p:ext uri="{BB962C8B-B14F-4D97-AF65-F5344CB8AC3E}">
        <p14:creationId xmlns:p14="http://schemas.microsoft.com/office/powerpoint/2010/main" val="1351526476"/>
      </p:ext>
    </p:extLst>
  </p:cSld>
</p:sld>
</file>

<file path=ppt/slides/slide15.xml><?xml version="1.0" encoding="utf-8"?>
<p:sld xmlns:p="http://schemas.openxmlformats.org/presentationml/2006/main">
  <p:cSld>
    <p:bg>
      <p:bgPr>
        <a:solidFill xmlns:a="http://schemas.openxmlformats.org/drawingml/2006/main">
          <a:srgbClr val="FAFC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59E9F3F-DE2F-45A7-BB55-CF2EAD594B57}"/>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D34"/>
                </a:solidFill>
                <a:latin typeface="Arial"/>
                <a:ea typeface="Arial"/>
                <a:cs typeface="Arial"/>
              </a:defRPr>
            </a:pPr>
            <a:r>
              <a:rPr sz="3150" b="1">
                <a:solidFill>
                  <a:srgbClr val="183D34"/>
                </a:solidFill>
                <a:latin typeface="Arial"/>
                <a:ea typeface="Arial"/>
                <a:cs typeface="Arial"/>
              </a:rPr>
              <a:t>Prototype demonstration</a:t>
            </a:r>
          </a:p>
        </p:txBody>
      </p:sp>
      <p:sp>
        <p:nvSpPr>
          <p:cNvPr id="2" name="">
            <a:extLst xmlns:a="http://schemas.openxmlformats.org/drawingml/2006/main">
              <a:ext uri="{FF2B5EF4-FFF2-40B4-BE49-F238E27FC236}">
                <a16:creationId xmlns:a16="http://schemas.microsoft.com/office/drawing/2014/main" id="{A247DA9C-E13F-43B0-8A7D-41A3152D92F8}"/>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D7167"/>
                </a:solidFill>
                <a:latin typeface="Arial"/>
                <a:ea typeface="Arial"/>
                <a:cs typeface="Arial"/>
              </a:defRPr>
            </a:pPr>
            <a:r>
              <a:rPr sz="1125" b="0">
                <a:solidFill>
                  <a:srgbClr val="5D7167"/>
                </a:solidFill>
                <a:latin typeface="Arial"/>
                <a:ea typeface="Arial"/>
                <a:cs typeface="Arial"/>
              </a:rPr>
              <a:t>15</a:t>
            </a:r>
          </a:p>
        </p:txBody>
      </p:sp>
      <p:graphicFrame>
        <p:nvGraphicFramePr>
          <p:cNvPr id="7" name=""/>
          <p:cNvGraphicFramePr/>
          <p:nvPr/>
        </p:nvGraphicFramePr>
        <p:xfrm>
          <a:off xmlns:a="http://schemas.openxmlformats.org/drawingml/2006/main" x="609600" y="1476375"/>
          <a:ext xmlns:a="http://schemas.openxmlformats.org/drawingml/2006/main" cx="10972800" cy="3619500"/>
        </p:xfrm>
        <a:graphic xmlns:a="http://schemas.openxmlformats.org/drawingml/2006/main">
          <a:graphicData uri="http://schemas.openxmlformats.org/drawingml/2006/table">
            <a:tbl>
              <a:tblPr/>
              <a:tblGrid>
                <a:gridCol w="3619500"/>
                <a:gridCol w="7353300"/>
              </a:tblGrid>
              <a:tr h="603250">
                <a:tc>
                  <a:txBody>
                    <a:bodyPr>
                      <a:noAutofit/>
                    </a:bodyPr>
                    <a:lstStyle/>
                    <a:p>
                      <a:r>
                        <a:rPr sz="1875" b="1">
                          <a:solidFill>
                            <a:srgbClr val="FFFFFF"/>
                          </a:solidFill>
                          <a:latin typeface="Arial"/>
                          <a:ea typeface="Arial"/>
                          <a:cs typeface="Arial"/>
                        </a:rPr>
                        <a:t>Screen</a:t>
                      </a:r>
                    </a:p>
                  </a:txBody>
                  <a:tcPr marL="91440" marR="91440" marT="45720" marB="45720">
                    <a:solidFill>
                      <a:srgbClr val="2B5F4C"/>
                    </a:solidFill>
                  </a:tcPr>
                </a:tc>
                <a:tc>
                  <a:txBody>
                    <a:bodyPr>
                      <a:noAutofit/>
                    </a:bodyPr>
                    <a:lstStyle/>
                    <a:p>
                      <a:r>
                        <a:rPr sz="1875" b="1">
                          <a:solidFill>
                            <a:srgbClr val="FFFFFF"/>
                          </a:solidFill>
                          <a:latin typeface="Arial"/>
                          <a:ea typeface="Arial"/>
                          <a:cs typeface="Arial"/>
                        </a:rPr>
                        <a:t>Demonstration action</a:t>
                      </a:r>
                    </a:p>
                  </a:txBody>
                  <a:tcPr marL="91440" marR="91440" marT="45720" marB="45720">
                    <a:solidFill>
                      <a:srgbClr val="2B5F4C"/>
                    </a:solidFill>
                  </a:tcPr>
                </a:tc>
              </a:tr>
              <a:tr h="603250">
                <a:tc>
                  <a:txBody>
                    <a:bodyPr>
                      <a:noAutofit/>
                    </a:bodyPr>
                    <a:lstStyle/>
                    <a:p>
                      <a:r>
                        <a:rPr sz="1875" b="0">
                          <a:solidFill>
                            <a:srgbClr val="183D34"/>
                          </a:solidFill>
                          <a:latin typeface="Arial"/>
                          <a:ea typeface="Arial"/>
                          <a:cs typeface="Arial"/>
                        </a:rPr>
                        <a:t>New request</a:t>
                      </a:r>
                    </a:p>
                  </a:txBody>
                  <a:tcPr marL="91440" marR="91440" marT="45720" marB="45720">
                    <a:solidFill>
                      <a:srgbClr val="FFFFFF"/>
                    </a:solidFill>
                  </a:tcPr>
                </a:tc>
                <a:tc>
                  <a:txBody>
                    <a:bodyPr>
                      <a:noAutofit/>
                    </a:bodyPr>
                    <a:lstStyle/>
                    <a:p>
                      <a:r>
                        <a:rPr sz="1875" b="0">
                          <a:solidFill>
                            <a:srgbClr val="183D34"/>
                          </a:solidFill>
                          <a:latin typeface="Arial"/>
                          <a:ea typeface="Arial"/>
                          <a:cs typeface="Arial"/>
                        </a:rPr>
                        <a:t>Describe work and confirm or correct the category</a:t>
                      </a:r>
                    </a:p>
                  </a:txBody>
                  <a:tcPr marL="91440" marR="91440" marT="45720" marB="45720">
                    <a:solidFill>
                      <a:srgbClr val="FFFFFF"/>
                    </a:solidFill>
                  </a:tcPr>
                </a:tc>
              </a:tr>
              <a:tr h="603250">
                <a:tc>
                  <a:txBody>
                    <a:bodyPr>
                      <a:noAutofit/>
                    </a:bodyPr>
                    <a:lstStyle/>
                    <a:p>
                      <a:r>
                        <a:rPr sz="1875" b="0">
                          <a:solidFill>
                            <a:srgbClr val="183D34"/>
                          </a:solidFill>
                          <a:latin typeface="Arial"/>
                          <a:ea typeface="Arial"/>
                          <a:cs typeface="Arial"/>
                        </a:rPr>
                        <a:t>Offers and profile</a:t>
                      </a:r>
                    </a:p>
                  </a:txBody>
                  <a:tcPr marL="91440" marR="91440" marT="45720" marB="45720">
                    <a:solidFill>
                      <a:srgbClr val="EDF3E5"/>
                    </a:solidFill>
                  </a:tcPr>
                </a:tc>
                <a:tc>
                  <a:txBody>
                    <a:bodyPr>
                      <a:noAutofit/>
                    </a:bodyPr>
                    <a:lstStyle/>
                    <a:p>
                      <a:r>
                        <a:rPr sz="1875" b="0">
                          <a:solidFill>
                            <a:srgbClr val="183D34"/>
                          </a:solidFill>
                          <a:latin typeface="Arial"/>
                          <a:ea typeface="Arial"/>
                          <a:cs typeface="Arial"/>
                        </a:rPr>
                        <a:t>Compare price, scope, timing and review count</a:t>
                      </a:r>
                    </a:p>
                  </a:txBody>
                  <a:tcPr marL="91440" marR="91440" marT="45720" marB="45720">
                    <a:solidFill>
                      <a:srgbClr val="EDF3E5"/>
                    </a:solidFill>
                  </a:tcPr>
                </a:tc>
              </a:tr>
              <a:tr h="603250">
                <a:tc>
                  <a:txBody>
                    <a:bodyPr>
                      <a:noAutofit/>
                    </a:bodyPr>
                    <a:lstStyle/>
                    <a:p>
                      <a:r>
                        <a:rPr sz="1875" b="0">
                          <a:solidFill>
                            <a:srgbClr val="183D34"/>
                          </a:solidFill>
                          <a:latin typeface="Arial"/>
                          <a:ea typeface="Arial"/>
                          <a:cs typeface="Arial"/>
                        </a:rPr>
                        <a:t>Provider view</a:t>
                      </a:r>
                    </a:p>
                  </a:txBody>
                  <a:tcPr marL="91440" marR="91440" marT="45720" marB="45720">
                    <a:solidFill>
                      <a:srgbClr val="FFFFFF"/>
                    </a:solidFill>
                  </a:tcPr>
                </a:tc>
                <a:tc>
                  <a:txBody>
                    <a:bodyPr>
                      <a:noAutofit/>
                    </a:bodyPr>
                    <a:lstStyle/>
                    <a:p>
                      <a:r>
                        <a:rPr sz="1875" b="0">
                          <a:solidFill>
                            <a:srgbClr val="183D34"/>
                          </a:solidFill>
                          <a:latin typeface="Arial"/>
                          <a:ea typeface="Arial"/>
                          <a:cs typeface="Arial"/>
                        </a:rPr>
                        <a:t>Send a quote for the newly created request</a:t>
                      </a:r>
                    </a:p>
                  </a:txBody>
                  <a:tcPr marL="91440" marR="91440" marT="45720" marB="45720">
                    <a:solidFill>
                      <a:srgbClr val="FFFFFF"/>
                    </a:solidFill>
                  </a:tcPr>
                </a:tc>
              </a:tr>
              <a:tr h="603250">
                <a:tc>
                  <a:txBody>
                    <a:bodyPr>
                      <a:noAutofit/>
                    </a:bodyPr>
                    <a:lstStyle/>
                    <a:p>
                      <a:r>
                        <a:rPr sz="1875" b="0">
                          <a:solidFill>
                            <a:srgbClr val="183D34"/>
                          </a:solidFill>
                          <a:latin typeface="Arial"/>
                          <a:ea typeface="Arial"/>
                          <a:cs typeface="Arial"/>
                        </a:rPr>
                        <a:t>Job and conversation</a:t>
                      </a:r>
                    </a:p>
                  </a:txBody>
                  <a:tcPr marL="91440" marR="91440" marT="45720" marB="45720">
                    <a:solidFill>
                      <a:srgbClr val="EDF3E5"/>
                    </a:solidFill>
                  </a:tcPr>
                </a:tc>
                <a:tc>
                  <a:txBody>
                    <a:bodyPr>
                      <a:noAutofit/>
                    </a:bodyPr>
                    <a:lstStyle/>
                    <a:p>
                      <a:r>
                        <a:rPr sz="1875" b="0">
                          <a:solidFill>
                            <a:srgbClr val="183D34"/>
                          </a:solidFill>
                          <a:latin typeface="Arial"/>
                          <a:ea typeface="Arial"/>
                          <a:cs typeface="Arial"/>
                        </a:rPr>
                        <a:t>Select, discuss, start and confirm completion</a:t>
                      </a:r>
                    </a:p>
                  </a:txBody>
                  <a:tcPr marL="91440" marR="91440" marT="45720" marB="45720">
                    <a:solidFill>
                      <a:srgbClr val="EDF3E5"/>
                    </a:solidFill>
                  </a:tcPr>
                </a:tc>
              </a:tr>
              <a:tr h="603250">
                <a:tc>
                  <a:txBody>
                    <a:bodyPr>
                      <a:noAutofit/>
                    </a:bodyPr>
                    <a:lstStyle/>
                    <a:p>
                      <a:r>
                        <a:rPr sz="1875" b="0">
                          <a:solidFill>
                            <a:srgbClr val="183D34"/>
                          </a:solidFill>
                          <a:latin typeface="Arial"/>
                          <a:ea typeface="Arial"/>
                          <a:cs typeface="Arial"/>
                        </a:rPr>
                        <a:t>Review and cancellation</a:t>
                      </a:r>
                    </a:p>
                  </a:txBody>
                  <a:tcPr marL="91440" marR="91440" marT="45720" marB="45720">
                    <a:solidFill>
                      <a:srgbClr val="FFFFFF"/>
                    </a:solidFill>
                  </a:tcPr>
                </a:tc>
                <a:tc>
                  <a:txBody>
                    <a:bodyPr>
                      <a:noAutofit/>
                    </a:bodyPr>
                    <a:lstStyle/>
                    <a:p>
                      <a:r>
                        <a:rPr sz="1875" b="0">
                          <a:solidFill>
                            <a:srgbClr val="183D34"/>
                          </a:solidFill>
                          <a:latin typeface="Arial"/>
                          <a:ea typeface="Arial"/>
                          <a:cs typeface="Arial"/>
                        </a:rPr>
                        <a:t>Review once after completion or confirm cancellation</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0946B31-4A1A-4A56-B475-EDBF1E179158}"/>
              </a:ext>
            </a:extLst>
          </p:cNvPr>
          <p:cNvSpPr>
            <a:spLocks xmlns:a="http://schemas.openxmlformats.org/drawingml/2006/main" noGrp="1"/>
          </p:cNvSpPr>
          <p:nvPr/>
        </p:nvSpPr>
        <p:spPr>
          <a:xfrm xmlns:a="http://schemas.openxmlformats.org/drawingml/2006/main">
            <a:off x="628650" y="561975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D7167"/>
                </a:solidFill>
                <a:latin typeface="Arial"/>
                <a:ea typeface="Arial"/>
                <a:cs typeface="Arial"/>
              </a:defRPr>
            </a:pPr>
            <a:r>
              <a:rPr sz="1800" b="0">
                <a:solidFill>
                  <a:srgbClr val="5D7167"/>
                </a:solidFill>
                <a:latin typeface="Arial"/>
                <a:ea typeface="Arial"/>
                <a:cs typeface="Arial"/>
              </a:rPr>
              <a:t>Prototype only: no production authentication, database, Flutter build, trained ML or payments.</a:t>
            </a:r>
          </a:p>
        </p:txBody>
      </p:sp>
    </p:spTree>
    <p:extLst>
      <p:ext uri="{BB962C8B-B14F-4D97-AF65-F5344CB8AC3E}">
        <p14:creationId xmlns:p14="http://schemas.microsoft.com/office/powerpoint/2010/main" val="466417715"/>
      </p:ext>
    </p:extLst>
  </p:cSld>
</p:sld>
</file>

<file path=ppt/slides/slide16.xml><?xml version="1.0" encoding="utf-8"?>
<p:sld xmlns:p="http://schemas.openxmlformats.org/presentationml/2006/main">
  <p:cSld>
    <p:bg>
      <p:bgPr>
        <a:solidFill xmlns:a="http://schemas.openxmlformats.org/drawingml/2006/main">
          <a:srgbClr val="FAFC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0ADBB92-C76C-4A8A-9596-A4F9ACDEDBFA}"/>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D34"/>
                </a:solidFill>
                <a:latin typeface="Arial"/>
                <a:ea typeface="Arial"/>
                <a:cs typeface="Arial"/>
              </a:defRPr>
            </a:pPr>
            <a:r>
              <a:rPr sz="3150" b="1">
                <a:solidFill>
                  <a:srgbClr val="183D34"/>
                </a:solidFill>
                <a:latin typeface="Arial"/>
                <a:ea typeface="Arial"/>
                <a:cs typeface="Arial"/>
              </a:rPr>
              <a:t>Category model experiment</a:t>
            </a:r>
          </a:p>
        </p:txBody>
      </p:sp>
      <p:sp>
        <p:nvSpPr>
          <p:cNvPr id="2" name="">
            <a:extLst xmlns:a="http://schemas.openxmlformats.org/drawingml/2006/main">
              <a:ext uri="{FF2B5EF4-FFF2-40B4-BE49-F238E27FC236}">
                <a16:creationId xmlns:a16="http://schemas.microsoft.com/office/drawing/2014/main" id="{E337D985-DEB2-4167-814A-2009F8858124}"/>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D7167"/>
                </a:solidFill>
                <a:latin typeface="Arial"/>
                <a:ea typeface="Arial"/>
                <a:cs typeface="Arial"/>
              </a:defRPr>
            </a:pPr>
            <a:r>
              <a:rPr sz="1125" b="0">
                <a:solidFill>
                  <a:srgbClr val="5D7167"/>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F57AD519-D4FA-474B-B63E-75A5FF450C5E}"/>
              </a:ext>
            </a:extLst>
          </p:cNvPr>
          <p:cNvSpPr>
            <a:spLocks xmlns:a="http://schemas.openxmlformats.org/drawingml/2006/main" noGrp="1"/>
          </p:cNvSpPr>
          <p:nvPr/>
        </p:nvSpPr>
        <p:spPr>
          <a:xfrm xmlns:a="http://schemas.openxmlformats.org/drawingml/2006/main">
            <a:off x="628650" y="1619250"/>
            <a:ext cx="5000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3D34"/>
                </a:solidFill>
                <a:latin typeface="Arial"/>
                <a:ea typeface="Arial"/>
                <a:cs typeface="Arial"/>
              </a:defRPr>
            </a:pPr>
            <a:r>
              <a:rPr sz="2250" b="1">
                <a:solidFill>
                  <a:srgbClr val="183D34"/>
                </a:solidFill>
                <a:latin typeface="Arial"/>
                <a:ea typeface="Arial"/>
                <a:cs typeface="Arial"/>
              </a:rPr>
              <a:t>Experimental design</a:t>
            </a:r>
          </a:p>
        </p:txBody>
      </p:sp>
      <p:sp>
        <p:nvSpPr>
          <p:cNvPr id="4" name="">
            <a:extLst xmlns:a="http://schemas.openxmlformats.org/drawingml/2006/main">
              <a:ext uri="{FF2B5EF4-FFF2-40B4-BE49-F238E27FC236}">
                <a16:creationId xmlns:a16="http://schemas.microsoft.com/office/drawing/2014/main" id="{C1355D99-4870-4E99-8326-4D6CFF9FD7F2}"/>
              </a:ext>
            </a:extLst>
          </p:cNvPr>
          <p:cNvSpPr>
            <a:spLocks xmlns:a="http://schemas.openxmlformats.org/drawingml/2006/main" noGrp="1"/>
          </p:cNvSpPr>
          <p:nvPr/>
        </p:nvSpPr>
        <p:spPr>
          <a:xfrm xmlns:a="http://schemas.openxmlformats.org/drawingml/2006/main">
            <a:off x="628650" y="2257425"/>
            <a:ext cx="4953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D34"/>
                </a:solidFill>
                <a:latin typeface="Arial"/>
                <a:ea typeface="Arial"/>
                <a:cs typeface="Arial"/>
              </a:defRPr>
            </a:pPr>
            <a:r>
              <a:rPr sz="2100" b="0">
                <a:solidFill>
                  <a:srgbClr val="183D34"/>
                </a:solidFill>
                <a:latin typeface="Arial"/>
                <a:ea typeface="Arial"/>
                <a:cs typeface="Arial"/>
              </a:rPr>
              <a:t>Keyword rules as baseline</a:t>
            </a:r>
          </a:p>
          <a:p xmlns:a="http://schemas.openxmlformats.org/drawingml/2006/main">
            <a:pPr>
              <a:defRPr sz="2100" b="0">
                <a:solidFill>
                  <a:srgbClr val="183D34"/>
                </a:solidFill>
                <a:latin typeface="Arial"/>
                <a:ea typeface="Arial"/>
                <a:cs typeface="Arial"/>
              </a:defRPr>
            </a:pPr>
            <a:r>
              <a:rPr sz="2100" b="0">
                <a:solidFill>
                  <a:srgbClr val="183D34"/>
                </a:solidFill>
                <a:latin typeface="Arial"/>
                <a:ea typeface="Arial"/>
                <a:cs typeface="Arial"/>
              </a:rPr>
              <a:t>TF-IDF with logistic regression</a:t>
            </a:r>
          </a:p>
          <a:p xmlns:a="http://schemas.openxmlformats.org/drawingml/2006/main">
            <a:pPr>
              <a:defRPr sz="2100" b="0">
                <a:solidFill>
                  <a:srgbClr val="183D34"/>
                </a:solidFill>
                <a:latin typeface="Arial"/>
                <a:ea typeface="Arial"/>
                <a:cs typeface="Arial"/>
              </a:defRPr>
            </a:pPr>
            <a:r>
              <a:rPr sz="2100" b="0">
                <a:solidFill>
                  <a:srgbClr val="183D34"/>
                </a:solidFill>
                <a:latin typeface="Arial"/>
                <a:ea typeface="Arial"/>
                <a:cs typeface="Arial"/>
              </a:rPr>
              <a:t>Multilingual encoder challenger</a:t>
            </a:r>
          </a:p>
          <a:p xmlns:a="http://schemas.openxmlformats.org/drawingml/2006/main">
            <a:r>
              <a:t/>
            </a:r>
          </a:p>
          <a:p xmlns:a="http://schemas.openxmlformats.org/drawingml/2006/main">
            <a:pPr>
              <a:defRPr sz="2100" b="0">
                <a:solidFill>
                  <a:srgbClr val="183D34"/>
                </a:solidFill>
                <a:latin typeface="Arial"/>
                <a:ea typeface="Arial"/>
                <a:cs typeface="Arial"/>
              </a:defRPr>
            </a:pPr>
            <a:r>
              <a:rPr sz="2100" b="0">
                <a:solidFill>
                  <a:srgbClr val="183D34"/>
                </a:solidFill>
                <a:latin typeface="Arial"/>
                <a:ea typeface="Arial"/>
                <a:cs typeface="Arial"/>
              </a:rPr>
              <a:t>Same grouped train, validation and test split</a:t>
            </a:r>
          </a:p>
        </p:txBody>
      </p:sp>
      <p:sp>
        <p:nvSpPr>
          <p:cNvPr id="5" name="">
            <a:extLst xmlns:a="http://schemas.openxmlformats.org/drawingml/2006/main">
              <a:ext uri="{FF2B5EF4-FFF2-40B4-BE49-F238E27FC236}">
                <a16:creationId xmlns:a16="http://schemas.microsoft.com/office/drawing/2014/main" id="{F218F6B2-5356-46B0-9048-AD00F9CA81F7}"/>
              </a:ext>
            </a:extLst>
          </p:cNvPr>
          <p:cNvSpPr>
            <a:spLocks xmlns:a="http://schemas.openxmlformats.org/drawingml/2006/main" noGrp="1"/>
          </p:cNvSpPr>
          <p:nvPr/>
        </p:nvSpPr>
        <p:spPr>
          <a:xfrm xmlns:a="http://schemas.openxmlformats.org/drawingml/2006/main">
            <a:off x="6477000" y="1619250"/>
            <a:ext cx="5000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3D34"/>
                </a:solidFill>
                <a:latin typeface="Arial"/>
                <a:ea typeface="Arial"/>
                <a:cs typeface="Arial"/>
              </a:defRPr>
            </a:pPr>
            <a:r>
              <a:rPr sz="2250" b="1">
                <a:solidFill>
                  <a:srgbClr val="183D34"/>
                </a:solidFill>
                <a:latin typeface="Arial"/>
                <a:ea typeface="Arial"/>
                <a:cs typeface="Arial"/>
              </a:rPr>
              <a:t>Release targets</a:t>
            </a:r>
          </a:p>
        </p:txBody>
      </p:sp>
      <p:sp>
        <p:nvSpPr>
          <p:cNvPr id="6" name="">
            <a:extLst xmlns:a="http://schemas.openxmlformats.org/drawingml/2006/main">
              <a:ext uri="{FF2B5EF4-FFF2-40B4-BE49-F238E27FC236}">
                <a16:creationId xmlns:a16="http://schemas.microsoft.com/office/drawing/2014/main" id="{F729AC3D-1ABD-40A3-AE95-290CB1638BA8}"/>
              </a:ext>
            </a:extLst>
          </p:cNvPr>
          <p:cNvSpPr>
            <a:spLocks xmlns:a="http://schemas.openxmlformats.org/drawingml/2006/main" noGrp="1"/>
          </p:cNvSpPr>
          <p:nvPr/>
        </p:nvSpPr>
        <p:spPr>
          <a:xfrm xmlns:a="http://schemas.openxmlformats.org/drawingml/2006/main">
            <a:off x="6477000" y="2257425"/>
            <a:ext cx="4953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D34"/>
                </a:solidFill>
                <a:latin typeface="Arial"/>
                <a:ea typeface="Arial"/>
                <a:cs typeface="Arial"/>
              </a:defRPr>
            </a:pPr>
            <a:r>
              <a:rPr sz="2100" b="0">
                <a:solidFill>
                  <a:srgbClr val="183D34"/>
                </a:solidFill>
                <a:latin typeface="Arial"/>
                <a:ea typeface="Arial"/>
                <a:cs typeface="Arial"/>
              </a:rPr>
              <a:t>Macro-F1 at least 0.80</a:t>
            </a:r>
          </a:p>
          <a:p xmlns:a="http://schemas.openxmlformats.org/drawingml/2006/main">
            <a:pPr>
              <a:defRPr sz="2100" b="0">
                <a:solidFill>
                  <a:srgbClr val="183D34"/>
                </a:solidFill>
                <a:latin typeface="Arial"/>
                <a:ea typeface="Arial"/>
                <a:cs typeface="Arial"/>
              </a:defRPr>
            </a:pPr>
            <a:r>
              <a:rPr sz="2100" b="0">
                <a:solidFill>
                  <a:srgbClr val="183D34"/>
                </a:solidFill>
                <a:latin typeface="Arial"/>
                <a:ea typeface="Arial"/>
                <a:cs typeface="Arial"/>
              </a:rPr>
              <a:t>At least 0.05 above keyword rules</a:t>
            </a:r>
          </a:p>
          <a:p xmlns:a="http://schemas.openxmlformats.org/drawingml/2006/main">
            <a:pPr>
              <a:defRPr sz="2100" b="0">
                <a:solidFill>
                  <a:srgbClr val="183D34"/>
                </a:solidFill>
                <a:latin typeface="Arial"/>
                <a:ea typeface="Arial"/>
                <a:cs typeface="Arial"/>
              </a:defRPr>
            </a:pPr>
            <a:r>
              <a:rPr sz="2100" b="0">
                <a:solidFill>
                  <a:srgbClr val="183D34"/>
                </a:solidFill>
                <a:latin typeface="Arial"/>
                <a:ea typeface="Arial"/>
                <a:cs typeface="Arial"/>
              </a:rPr>
              <a:t>Per-language macro-F1 at least 0.70</a:t>
            </a:r>
          </a:p>
          <a:p xmlns:a="http://schemas.openxmlformats.org/drawingml/2006/main">
            <a:pPr>
              <a:defRPr sz="2100" b="0">
                <a:solidFill>
                  <a:srgbClr val="183D34"/>
                </a:solidFill>
                <a:latin typeface="Arial"/>
                <a:ea typeface="Arial"/>
                <a:cs typeface="Arial"/>
              </a:defRPr>
            </a:pPr>
            <a:r>
              <a:rPr sz="2100" b="0">
                <a:solidFill>
                  <a:srgbClr val="183D34"/>
                </a:solidFill>
                <a:latin typeface="Arial"/>
                <a:ea typeface="Arial"/>
                <a:cs typeface="Arial"/>
              </a:rPr>
              <a:t>Warm CPU p95 at most 1 second</a:t>
            </a:r>
          </a:p>
        </p:txBody>
      </p:sp>
      <p:sp>
        <p:nvSpPr>
          <p:cNvPr id="7" name="">
            <a:extLst xmlns:a="http://schemas.openxmlformats.org/drawingml/2006/main">
              <a:ext uri="{FF2B5EF4-FFF2-40B4-BE49-F238E27FC236}">
                <a16:creationId xmlns:a16="http://schemas.microsoft.com/office/drawing/2014/main" id="{B6F3F0FD-BA60-4086-9528-0036B8EF2937}"/>
              </a:ext>
            </a:extLst>
          </p:cNvPr>
          <p:cNvSpPr>
            <a:spLocks xmlns:a="http://schemas.openxmlformats.org/drawingml/2006/main" noGrp="1"/>
          </p:cNvSpPr>
          <p:nvPr/>
        </p:nvSpPr>
        <p:spPr>
          <a:xfrm xmlns:a="http://schemas.openxmlformats.org/drawingml/2006/main">
            <a:off x="628650" y="5743575"/>
            <a:ext cx="10810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D34"/>
                </a:solidFill>
                <a:latin typeface="Arial"/>
                <a:ea typeface="Arial"/>
                <a:cs typeface="Arial"/>
              </a:defRPr>
            </a:pPr>
            <a:r>
              <a:rPr sz="1800" b="1">
                <a:solidFill>
                  <a:srgbClr val="183D34"/>
                </a:solidFill>
                <a:latin typeface="Arial"/>
                <a:ea typeface="Arial"/>
                <a:cs typeface="Arial"/>
              </a:rPr>
              <a:t>Targets are proposed, not measured. Report abstention coverage and keep manual category choice.</a:t>
            </a:r>
          </a:p>
        </p:txBody>
      </p:sp>
    </p:spTree>
    <p:extLst>
      <p:ext uri="{BB962C8B-B14F-4D97-AF65-F5344CB8AC3E}">
        <p14:creationId xmlns:p14="http://schemas.microsoft.com/office/powerpoint/2010/main" val="53629425"/>
      </p:ext>
    </p:extLst>
  </p:cSld>
</p:sld>
</file>

<file path=ppt/slides/slide17.xml><?xml version="1.0" encoding="utf-8"?>
<p:sld xmlns:p="http://schemas.openxmlformats.org/presentationml/2006/main">
  <p:cSld>
    <p:bg>
      <p:bgPr>
        <a:solidFill xmlns:a="http://schemas.openxmlformats.org/drawingml/2006/main">
          <a:srgbClr val="FAFC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326CC36-632E-44CE-B2D5-2F79D12A8AB7}"/>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D34"/>
                </a:solidFill>
                <a:latin typeface="Arial"/>
                <a:ea typeface="Arial"/>
                <a:cs typeface="Arial"/>
              </a:defRPr>
            </a:pPr>
            <a:r>
              <a:rPr sz="3150" b="1">
                <a:solidFill>
                  <a:srgbClr val="183D34"/>
                </a:solidFill>
                <a:latin typeface="Arial"/>
                <a:ea typeface="Arial"/>
                <a:cs typeface="Arial"/>
              </a:rPr>
              <a:t>Verification and outcome evaluation</a:t>
            </a:r>
          </a:p>
        </p:txBody>
      </p:sp>
      <p:sp>
        <p:nvSpPr>
          <p:cNvPr id="2" name="">
            <a:extLst xmlns:a="http://schemas.openxmlformats.org/drawingml/2006/main">
              <a:ext uri="{FF2B5EF4-FFF2-40B4-BE49-F238E27FC236}">
                <a16:creationId xmlns:a16="http://schemas.microsoft.com/office/drawing/2014/main" id="{08C3E6F9-7188-4621-A8BC-F846EB8FABE9}"/>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D7167"/>
                </a:solidFill>
                <a:latin typeface="Arial"/>
                <a:ea typeface="Arial"/>
                <a:cs typeface="Arial"/>
              </a:defRPr>
            </a:pPr>
            <a:r>
              <a:rPr sz="1125" b="0">
                <a:solidFill>
                  <a:srgbClr val="5D7167"/>
                </a:solidFill>
                <a:latin typeface="Arial"/>
                <a:ea typeface="Arial"/>
                <a:cs typeface="Arial"/>
              </a:rPr>
              <a:t>17</a:t>
            </a:r>
          </a:p>
        </p:txBody>
      </p:sp>
      <p:graphicFrame>
        <p:nvGraphicFramePr>
          <p:cNvPr id="7" name=""/>
          <p:cNvGraphicFramePr/>
          <p:nvPr/>
        </p:nvGraphicFramePr>
        <p:xfrm>
          <a:off xmlns:a="http://schemas.openxmlformats.org/drawingml/2006/main" x="609600" y="1476375"/>
          <a:ext xmlns:a="http://schemas.openxmlformats.org/drawingml/2006/main" cx="10972800" cy="3619500"/>
        </p:xfrm>
        <a:graphic xmlns:a="http://schemas.openxmlformats.org/drawingml/2006/main">
          <a:graphicData uri="http://schemas.openxmlformats.org/drawingml/2006/table">
            <a:tbl>
              <a:tblPr/>
              <a:tblGrid>
                <a:gridCol w="2857500"/>
                <a:gridCol w="8115300"/>
              </a:tblGrid>
              <a:tr h="603250">
                <a:tc>
                  <a:txBody>
                    <a:bodyPr>
                      <a:noAutofit/>
                    </a:bodyPr>
                    <a:lstStyle/>
                    <a:p>
                      <a:r>
                        <a:rPr sz="1800" b="1">
                          <a:solidFill>
                            <a:srgbClr val="FFFFFF"/>
                          </a:solidFill>
                          <a:latin typeface="Arial"/>
                          <a:ea typeface="Arial"/>
                          <a:cs typeface="Arial"/>
                        </a:rPr>
                        <a:t>Layer</a:t>
                      </a:r>
                    </a:p>
                  </a:txBody>
                  <a:tcPr marL="91440" marR="91440" marT="45720" marB="45720">
                    <a:solidFill>
                      <a:srgbClr val="2B5F4C"/>
                    </a:solidFill>
                  </a:tcPr>
                </a:tc>
                <a:tc>
                  <a:txBody>
                    <a:bodyPr>
                      <a:noAutofit/>
                    </a:bodyPr>
                    <a:lstStyle/>
                    <a:p>
                      <a:r>
                        <a:rPr sz="1800" b="1">
                          <a:solidFill>
                            <a:srgbClr val="FFFFFF"/>
                          </a:solidFill>
                          <a:latin typeface="Arial"/>
                          <a:ea typeface="Arial"/>
                          <a:cs typeface="Arial"/>
                        </a:rPr>
                        <a:t>Method and comparison</a:t>
                      </a:r>
                    </a:p>
                  </a:txBody>
                  <a:tcPr marL="91440" marR="91440" marT="45720" marB="45720">
                    <a:solidFill>
                      <a:srgbClr val="2B5F4C"/>
                    </a:solidFill>
                  </a:tcPr>
                </a:tc>
              </a:tr>
              <a:tr h="603250">
                <a:tc>
                  <a:txBody>
                    <a:bodyPr>
                      <a:noAutofit/>
                    </a:bodyPr>
                    <a:lstStyle/>
                    <a:p>
                      <a:r>
                        <a:rPr sz="1800" b="0">
                          <a:solidFill>
                            <a:srgbClr val="183D34"/>
                          </a:solidFill>
                          <a:latin typeface="Arial"/>
                          <a:ea typeface="Arial"/>
                          <a:cs typeface="Arial"/>
                        </a:rPr>
                        <a:t>Correctness</a:t>
                      </a:r>
                    </a:p>
                  </a:txBody>
                  <a:tcPr marL="91440" marR="91440" marT="45720" marB="45720">
                    <a:solidFill>
                      <a:srgbClr val="FFFFFF"/>
                    </a:solidFill>
                  </a:tcPr>
                </a:tc>
                <a:tc>
                  <a:txBody>
                    <a:bodyPr>
                      <a:noAutofit/>
                    </a:bodyPr>
                    <a:lstStyle/>
                    <a:p>
                      <a:r>
                        <a:rPr sz="1800" b="0">
                          <a:solidFill>
                            <a:srgbClr val="183D34"/>
                          </a:solidFill>
                          <a:latin typeface="Arial"/>
                          <a:ea typeface="Arial"/>
                          <a:cs typeface="Arial"/>
                        </a:rPr>
                        <a:t>Positive and negative acceptance tests, including concurrent selection</a:t>
                      </a:r>
                    </a:p>
                  </a:txBody>
                  <a:tcPr marL="91440" marR="91440" marT="45720" marB="45720">
                    <a:solidFill>
                      <a:srgbClr val="FFFFFF"/>
                    </a:solidFill>
                  </a:tcPr>
                </a:tc>
              </a:tr>
              <a:tr h="603250">
                <a:tc>
                  <a:txBody>
                    <a:bodyPr>
                      <a:noAutofit/>
                    </a:bodyPr>
                    <a:lstStyle/>
                    <a:p>
                      <a:r>
                        <a:rPr sz="1800" b="0">
                          <a:solidFill>
                            <a:srgbClr val="183D34"/>
                          </a:solidFill>
                          <a:latin typeface="Arial"/>
                          <a:ea typeface="Arial"/>
                          <a:cs typeface="Arial"/>
                        </a:rPr>
                        <a:t>Usability</a:t>
                      </a:r>
                    </a:p>
                  </a:txBody>
                  <a:tcPr marL="91440" marR="91440" marT="45720" marB="45720">
                    <a:solidFill>
                      <a:srgbClr val="EDF3E5"/>
                    </a:solidFill>
                  </a:tcPr>
                </a:tc>
                <a:tc>
                  <a:txBody>
                    <a:bodyPr>
                      <a:noAutofit/>
                    </a:bodyPr>
                    <a:lstStyle/>
                    <a:p>
                      <a:r>
                        <a:rPr sz="1800" b="0">
                          <a:solidFill>
                            <a:srgbClr val="183D34"/>
                          </a:solidFill>
                          <a:latin typeface="Arial"/>
                          <a:ea typeface="Arial"/>
                          <a:cs typeface="Arial"/>
                        </a:rPr>
                        <a:t>UyCare versus a prepared manual message workflow, 5–8 users</a:t>
                      </a:r>
                    </a:p>
                  </a:txBody>
                  <a:tcPr marL="91440" marR="91440" marT="45720" marB="45720">
                    <a:solidFill>
                      <a:srgbClr val="EDF3E5"/>
                    </a:solidFill>
                  </a:tcPr>
                </a:tc>
              </a:tr>
              <a:tr h="603250">
                <a:tc>
                  <a:txBody>
                    <a:bodyPr>
                      <a:noAutofit/>
                    </a:bodyPr>
                    <a:lstStyle/>
                    <a:p>
                      <a:r>
                        <a:rPr sz="1800" b="0">
                          <a:solidFill>
                            <a:srgbClr val="183D34"/>
                          </a:solidFill>
                          <a:latin typeface="Arial"/>
                          <a:ea typeface="Arial"/>
                          <a:cs typeface="Arial"/>
                        </a:rPr>
                        <a:t>Performance</a:t>
                      </a:r>
                    </a:p>
                  </a:txBody>
                  <a:tcPr marL="91440" marR="91440" marT="45720" marB="45720">
                    <a:solidFill>
                      <a:srgbClr val="FFFFFF"/>
                    </a:solidFill>
                  </a:tcPr>
                </a:tc>
                <a:tc>
                  <a:txBody>
                    <a:bodyPr>
                      <a:noAutofit/>
                    </a:bodyPr>
                    <a:lstStyle/>
                    <a:p>
                      <a:r>
                        <a:rPr sz="1800" b="0">
                          <a:solidFill>
                            <a:srgbClr val="183D34"/>
                          </a:solidFill>
                          <a:latin typeface="Arial"/>
                          <a:ea typeface="Arial"/>
                          <a:cs typeface="Arial"/>
                        </a:rPr>
                        <a:t>25 concurrent clients, 10,000 requests, documented test host</a:t>
                      </a:r>
                    </a:p>
                  </a:txBody>
                  <a:tcPr marL="91440" marR="91440" marT="45720" marB="45720">
                    <a:solidFill>
                      <a:srgbClr val="FFFFFF"/>
                    </a:solidFill>
                  </a:tcPr>
                </a:tc>
              </a:tr>
              <a:tr h="603250">
                <a:tc>
                  <a:txBody>
                    <a:bodyPr>
                      <a:noAutofit/>
                    </a:bodyPr>
                    <a:lstStyle/>
                    <a:p>
                      <a:r>
                        <a:rPr sz="1800" b="0">
                          <a:solidFill>
                            <a:srgbClr val="183D34"/>
                          </a:solidFill>
                          <a:latin typeface="Arial"/>
                          <a:ea typeface="Arial"/>
                          <a:cs typeface="Arial"/>
                        </a:rPr>
                        <a:t>ML</a:t>
                      </a:r>
                    </a:p>
                  </a:txBody>
                  <a:tcPr marL="91440" marR="91440" marT="45720" marB="45720">
                    <a:solidFill>
                      <a:srgbClr val="EDF3E5"/>
                    </a:solidFill>
                  </a:tcPr>
                </a:tc>
                <a:tc>
                  <a:txBody>
                    <a:bodyPr>
                      <a:noAutofit/>
                    </a:bodyPr>
                    <a:lstStyle/>
                    <a:p>
                      <a:r>
                        <a:rPr sz="1800" b="0">
                          <a:solidFill>
                            <a:srgbClr val="183D34"/>
                          </a:solidFill>
                          <a:latin typeface="Arial"/>
                          <a:ea typeface="Arial"/>
                          <a:cs typeface="Arial"/>
                        </a:rPr>
                        <a:t>Same frozen test set for all models, class/language breakdown</a:t>
                      </a:r>
                    </a:p>
                  </a:txBody>
                  <a:tcPr marL="91440" marR="91440" marT="45720" marB="45720">
                    <a:solidFill>
                      <a:srgbClr val="EDF3E5"/>
                    </a:solidFill>
                  </a:tcPr>
                </a:tc>
              </a:tr>
              <a:tr h="603250">
                <a:tc>
                  <a:txBody>
                    <a:bodyPr>
                      <a:noAutofit/>
                    </a:bodyPr>
                    <a:lstStyle/>
                    <a:p>
                      <a:r>
                        <a:rPr sz="1800" b="0">
                          <a:solidFill>
                            <a:srgbClr val="183D34"/>
                          </a:solidFill>
                          <a:latin typeface="Arial"/>
                          <a:ea typeface="Arial"/>
                          <a:cs typeface="Arial"/>
                        </a:rPr>
                        <a:t>Recovery</a:t>
                      </a:r>
                    </a:p>
                  </a:txBody>
                  <a:tcPr marL="91440" marR="91440" marT="45720" marB="45720">
                    <a:solidFill>
                      <a:srgbClr val="FFFFFF"/>
                    </a:solidFill>
                  </a:tcPr>
                </a:tc>
                <a:tc>
                  <a:txBody>
                    <a:bodyPr>
                      <a:noAutofit/>
                    </a:bodyPr>
                    <a:lstStyle/>
                    <a:p>
                      <a:r>
                        <a:rPr sz="1800" b="0">
                          <a:solidFill>
                            <a:srgbClr val="183D34"/>
                          </a:solidFill>
                          <a:latin typeface="Arial"/>
                          <a:ea typeface="Arial"/>
                          <a:cs typeface="Arial"/>
                        </a:rPr>
                        <a:t>Restore a backup and inspect records and media references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B224792-61B2-4209-9AFF-7A18BD6C818D}"/>
              </a:ext>
            </a:extLst>
          </p:cNvPr>
          <p:cNvSpPr>
            <a:spLocks xmlns:a="http://schemas.openxmlformats.org/drawingml/2006/main" noGrp="1"/>
          </p:cNvSpPr>
          <p:nvPr/>
        </p:nvSpPr>
        <p:spPr>
          <a:xfrm xmlns:a="http://schemas.openxmlformats.org/drawingml/2006/main">
            <a:off x="628650" y="561975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D7167"/>
                </a:solidFill>
                <a:latin typeface="Arial"/>
                <a:ea typeface="Arial"/>
                <a:cs typeface="Arial"/>
              </a:defRPr>
            </a:pPr>
            <a:r>
              <a:rPr sz="1800" b="0">
                <a:solidFill>
                  <a:srgbClr val="5D7167"/>
                </a:solidFill>
                <a:latin typeface="Arial"/>
                <a:ea typeface="Arial"/>
                <a:cs typeface="Arial"/>
              </a:rPr>
              <a:t>Proposed usability targets: 80% independent completion and 20% lower median task time, without more errors.</a:t>
            </a:r>
          </a:p>
        </p:txBody>
      </p:sp>
    </p:spTree>
    <p:extLst>
      <p:ext uri="{BB962C8B-B14F-4D97-AF65-F5344CB8AC3E}">
        <p14:creationId xmlns:p14="http://schemas.microsoft.com/office/powerpoint/2010/main" val="963651133"/>
      </p:ext>
    </p:extLst>
  </p:cSld>
</p:sld>
</file>

<file path=ppt/slides/slide18.xml><?xml version="1.0" encoding="utf-8"?>
<p:sld xmlns:p="http://schemas.openxmlformats.org/presentationml/2006/main">
  <p:cSld>
    <p:bg>
      <p:bgPr>
        <a:solidFill xmlns:a="http://schemas.openxmlformats.org/drawingml/2006/main">
          <a:srgbClr val="FAFC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2F3BFAD-1E41-4D4F-B869-462CBBD1B297}"/>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D34"/>
                </a:solidFill>
                <a:latin typeface="Arial"/>
                <a:ea typeface="Arial"/>
                <a:cs typeface="Arial"/>
              </a:defRPr>
            </a:pPr>
            <a:r>
              <a:rPr sz="3150" b="1">
                <a:solidFill>
                  <a:srgbClr val="183D34"/>
                </a:solidFill>
                <a:latin typeface="Arial"/>
                <a:ea typeface="Arial"/>
                <a:cs typeface="Arial"/>
              </a:rPr>
              <a:t>Team ownership and milestones</a:t>
            </a:r>
          </a:p>
        </p:txBody>
      </p:sp>
      <p:sp>
        <p:nvSpPr>
          <p:cNvPr id="2" name="">
            <a:extLst xmlns:a="http://schemas.openxmlformats.org/drawingml/2006/main">
              <a:ext uri="{FF2B5EF4-FFF2-40B4-BE49-F238E27FC236}">
                <a16:creationId xmlns:a16="http://schemas.microsoft.com/office/drawing/2014/main" id="{296F13CC-C5AA-47F2-B3D8-0694BA3AB9A3}"/>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D7167"/>
                </a:solidFill>
                <a:latin typeface="Arial"/>
                <a:ea typeface="Arial"/>
                <a:cs typeface="Arial"/>
              </a:defRPr>
            </a:pPr>
            <a:r>
              <a:rPr sz="1125" b="0">
                <a:solidFill>
                  <a:srgbClr val="5D7167"/>
                </a:solidFill>
                <a:latin typeface="Arial"/>
                <a:ea typeface="Arial"/>
                <a:cs typeface="Arial"/>
              </a:rPr>
              <a:t>18</a:t>
            </a:r>
          </a:p>
        </p:txBody>
      </p:sp>
      <p:graphicFrame>
        <p:nvGraphicFramePr>
          <p:cNvPr id="7" name=""/>
          <p:cNvGraphicFramePr/>
          <p:nvPr/>
        </p:nvGraphicFramePr>
        <p:xfrm>
          <a:off xmlns:a="http://schemas.openxmlformats.org/drawingml/2006/main" x="609600" y="1476375"/>
          <a:ext xmlns:a="http://schemas.openxmlformats.org/drawingml/2006/main" cx="10972800" cy="2571750"/>
        </p:xfrm>
        <a:graphic xmlns:a="http://schemas.openxmlformats.org/drawingml/2006/main">
          <a:graphicData uri="http://schemas.openxmlformats.org/drawingml/2006/table">
            <a:tbl>
              <a:tblPr/>
              <a:tblGrid>
                <a:gridCol w="3810000"/>
                <a:gridCol w="7162800"/>
              </a:tblGrid>
              <a:tr h="642938">
                <a:tc>
                  <a:txBody>
                    <a:bodyPr>
                      <a:noAutofit/>
                    </a:bodyPr>
                    <a:lstStyle/>
                    <a:p>
                      <a:r>
                        <a:rPr sz="1875" b="1">
                          <a:solidFill>
                            <a:srgbClr val="FFFFFF"/>
                          </a:solidFill>
                          <a:latin typeface="Arial"/>
                          <a:ea typeface="Arial"/>
                          <a:cs typeface="Arial"/>
                        </a:rPr>
                        <a:t>Member</a:t>
                      </a:r>
                    </a:p>
                  </a:txBody>
                  <a:tcPr marL="91440" marR="91440" marT="45720" marB="45720">
                    <a:solidFill>
                      <a:srgbClr val="2B5F4C"/>
                    </a:solidFill>
                  </a:tcPr>
                </a:tc>
                <a:tc>
                  <a:txBody>
                    <a:bodyPr>
                      <a:noAutofit/>
                    </a:bodyPr>
                    <a:lstStyle/>
                    <a:p>
                      <a:r>
                        <a:rPr sz="1875" b="1">
                          <a:solidFill>
                            <a:srgbClr val="FFFFFF"/>
                          </a:solidFill>
                          <a:latin typeface="Arial"/>
                          <a:ea typeface="Arial"/>
                          <a:cs typeface="Arial"/>
                        </a:rPr>
                        <a:t>Primary contribution</a:t>
                      </a:r>
                    </a:p>
                  </a:txBody>
                  <a:tcPr marL="91440" marR="91440" marT="45720" marB="45720">
                    <a:solidFill>
                      <a:srgbClr val="2B5F4C"/>
                    </a:solidFill>
                  </a:tcPr>
                </a:tc>
              </a:tr>
              <a:tr h="642938">
                <a:tc>
                  <a:txBody>
                    <a:bodyPr>
                      <a:noAutofit/>
                    </a:bodyPr>
                    <a:lstStyle/>
                    <a:p>
                      <a:r>
                        <a:rPr sz="1875" b="0">
                          <a:solidFill>
                            <a:srgbClr val="183D34"/>
                          </a:solidFill>
                          <a:latin typeface="Arial"/>
                          <a:ea typeface="Arial"/>
                          <a:cs typeface="Arial"/>
                        </a:rPr>
                        <a:t>Akhmetov Kazbek</a:t>
                      </a:r>
                    </a:p>
                  </a:txBody>
                  <a:tcPr marL="91440" marR="91440" marT="45720" marB="45720">
                    <a:solidFill>
                      <a:srgbClr val="FFFFFF"/>
                    </a:solidFill>
                  </a:tcPr>
                </a:tc>
                <a:tc>
                  <a:txBody>
                    <a:bodyPr>
                      <a:noAutofit/>
                    </a:bodyPr>
                    <a:lstStyle/>
                    <a:p>
                      <a:r>
                        <a:rPr sz="1875" b="0">
                          <a:solidFill>
                            <a:srgbClr val="183D34"/>
                          </a:solidFill>
                          <a:latin typeface="Arial"/>
                          <a:ea typeface="Arial"/>
                          <a:cs typeface="Arial"/>
                        </a:rPr>
                        <a:t>Web/Flutter journeys, request/profile APIs and integration</a:t>
                      </a:r>
                    </a:p>
                  </a:txBody>
                  <a:tcPr marL="91440" marR="91440" marT="45720" marB="45720">
                    <a:solidFill>
                      <a:srgbClr val="FFFFFF"/>
                    </a:solidFill>
                  </a:tcPr>
                </a:tc>
              </a:tr>
              <a:tr h="642938">
                <a:tc>
                  <a:txBody>
                    <a:bodyPr>
                      <a:noAutofit/>
                    </a:bodyPr>
                    <a:lstStyle/>
                    <a:p>
                      <a:r>
                        <a:rPr sz="1875" b="0">
                          <a:solidFill>
                            <a:srgbClr val="183D34"/>
                          </a:solidFill>
                          <a:latin typeface="Arial"/>
                          <a:ea typeface="Arial"/>
                          <a:cs typeface="Arial"/>
                        </a:rPr>
                        <a:t>Uranov Daryn</a:t>
                      </a:r>
                    </a:p>
                  </a:txBody>
                  <a:tcPr marL="91440" marR="91440" marT="45720" marB="45720">
                    <a:solidFill>
                      <a:srgbClr val="EDF3E5"/>
                    </a:solidFill>
                  </a:tcPr>
                </a:tc>
                <a:tc>
                  <a:txBody>
                    <a:bodyPr>
                      <a:noAutofit/>
                    </a:bodyPr>
                    <a:lstStyle/>
                    <a:p>
                      <a:r>
                        <a:rPr sz="1875" b="0">
                          <a:solidFill>
                            <a:srgbClr val="183D34"/>
                          </a:solidFill>
                          <a:latin typeface="Arial"/>
                          <a:ea typeface="Arial"/>
                          <a:cs typeface="Arial"/>
                        </a:rPr>
                        <a:t>Orders backend, data preparation and category experiments</a:t>
                      </a:r>
                    </a:p>
                  </a:txBody>
                  <a:tcPr marL="91440" marR="91440" marT="45720" marB="45720">
                    <a:solidFill>
                      <a:srgbClr val="EDF3E5"/>
                    </a:solidFill>
                  </a:tcPr>
                </a:tc>
              </a:tr>
              <a:tr h="642938">
                <a:tc>
                  <a:txBody>
                    <a:bodyPr>
                      <a:noAutofit/>
                    </a:bodyPr>
                    <a:lstStyle/>
                    <a:p>
                      <a:r>
                        <a:rPr sz="1875" b="0">
                          <a:solidFill>
                            <a:srgbClr val="183D34"/>
                          </a:solidFill>
                          <a:latin typeface="Arial"/>
                          <a:ea typeface="Arial"/>
                          <a:cs typeface="Arial"/>
                        </a:rPr>
                        <a:t>Tazhibayev Marsel</a:t>
                      </a:r>
                    </a:p>
                  </a:txBody>
                  <a:tcPr marL="91440" marR="91440" marT="45720" marB="45720">
                    <a:solidFill>
                      <a:srgbClr val="FFFFFF"/>
                    </a:solidFill>
                  </a:tcPr>
                </a:tc>
                <a:tc>
                  <a:txBody>
                    <a:bodyPr>
                      <a:noAutofit/>
                    </a:bodyPr>
                    <a:lstStyle/>
                    <a:p>
                      <a:r>
                        <a:rPr sz="1875" b="0">
                          <a:solidFill>
                            <a:srgbClr val="183D34"/>
                          </a:solidFill>
                          <a:latin typeface="Arial"/>
                          <a:ea typeface="Arial"/>
                          <a:cs typeface="Arial"/>
                        </a:rPr>
                        <a:t>Requirements, moderation/audit integration, QA and releases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46F6768-E709-42A8-9258-7FBB1BCDFBB6}"/>
              </a:ext>
            </a:extLst>
          </p:cNvPr>
          <p:cNvSpPr>
            <a:spLocks xmlns:a="http://schemas.openxmlformats.org/drawingml/2006/main" noGrp="1"/>
          </p:cNvSpPr>
          <p:nvPr/>
        </p:nvSpPr>
        <p:spPr>
          <a:xfrm xmlns:a="http://schemas.openxmlformats.org/drawingml/2006/main">
            <a:off x="628650" y="4572000"/>
            <a:ext cx="108108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D34"/>
                </a:solidFill>
                <a:latin typeface="Arial"/>
                <a:ea typeface="Arial"/>
                <a:cs typeface="Arial"/>
              </a:defRPr>
            </a:pPr>
            <a:r>
              <a:rPr sz="2025" b="0">
                <a:solidFill>
                  <a:srgbClr val="183D34"/>
                </a:solidFill>
                <a:latin typeface="Arial"/>
                <a:ea typeface="Arial"/>
                <a:cs typeface="Arial"/>
              </a:rPr>
              <a:t>24 October: analysis and design submission</a:t>
            </a:r>
          </a:p>
          <a:p xmlns:a="http://schemas.openxmlformats.org/drawingml/2006/main">
            <a:pPr>
              <a:defRPr sz="2025" b="0">
                <a:solidFill>
                  <a:srgbClr val="183D34"/>
                </a:solidFill>
                <a:latin typeface="Arial"/>
                <a:ea typeface="Arial"/>
                <a:cs typeface="Arial"/>
              </a:defRPr>
            </a:pPr>
            <a:r>
              <a:rPr sz="2025" b="0">
                <a:solidFill>
                  <a:srgbClr val="183D34"/>
                </a:solidFill>
                <a:latin typeface="Arial"/>
                <a:ea typeface="Arial"/>
                <a:cs typeface="Arial"/>
              </a:rPr>
              <a:t>November–December: backend, web and classification experiments</a:t>
            </a:r>
          </a:p>
          <a:p xmlns:a="http://schemas.openxmlformats.org/drawingml/2006/main">
            <a:pPr>
              <a:defRPr sz="2025" b="0">
                <a:solidFill>
                  <a:srgbClr val="183D34"/>
                </a:solidFill>
                <a:latin typeface="Arial"/>
                <a:ea typeface="Arial"/>
                <a:cs typeface="Arial"/>
              </a:defRPr>
            </a:pPr>
            <a:r>
              <a:rPr sz="2025" b="0">
                <a:solidFill>
                  <a:srgbClr val="183D34"/>
                </a:solidFill>
                <a:latin typeface="Arial"/>
                <a:ea typeface="Arial"/>
                <a:cs typeface="Arial"/>
              </a:rPr>
              <a:t>January: mobile integration and evaluation, subject to the academic calendar</a:t>
            </a:r>
          </a:p>
        </p:txBody>
      </p:sp>
    </p:spTree>
    <p:extLst>
      <p:ext uri="{BB962C8B-B14F-4D97-AF65-F5344CB8AC3E}">
        <p14:creationId xmlns:p14="http://schemas.microsoft.com/office/powerpoint/2010/main" val="1366597333"/>
      </p:ext>
    </p:extLst>
  </p:cSld>
</p:sld>
</file>

<file path=ppt/slides/slide19.xml><?xml version="1.0" encoding="utf-8"?>
<p:sld xmlns:p="http://schemas.openxmlformats.org/presentationml/2006/main">
  <p:cSld>
    <p:bg>
      <p:bgPr>
        <a:solidFill xmlns:a="http://schemas.openxmlformats.org/drawingml/2006/main">
          <a:srgbClr val="FAFCF6"/>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989EA7B-2011-4C09-991D-BFE14E8BE737}"/>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D34"/>
                </a:solidFill>
                <a:latin typeface="Arial"/>
                <a:ea typeface="Arial"/>
                <a:cs typeface="Arial"/>
              </a:defRPr>
            </a:pPr>
            <a:r>
              <a:rPr sz="3150" b="1">
                <a:solidFill>
                  <a:srgbClr val="183D34"/>
                </a:solidFill>
                <a:latin typeface="Arial"/>
                <a:ea typeface="Arial"/>
                <a:cs typeface="Arial"/>
              </a:rPr>
              <a:t>Risks and dependencies</a:t>
            </a:r>
          </a:p>
        </p:txBody>
      </p:sp>
      <p:sp>
        <p:nvSpPr>
          <p:cNvPr id="2" name="">
            <a:extLst xmlns:a="http://schemas.openxmlformats.org/drawingml/2006/main">
              <a:ext uri="{FF2B5EF4-FFF2-40B4-BE49-F238E27FC236}">
                <a16:creationId xmlns:a16="http://schemas.microsoft.com/office/drawing/2014/main" id="{B3A123D4-6A34-4E82-8E05-6D7D68E4074D}"/>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D7167"/>
                </a:solidFill>
                <a:latin typeface="Arial"/>
                <a:ea typeface="Arial"/>
                <a:cs typeface="Arial"/>
              </a:defRPr>
            </a:pPr>
            <a:r>
              <a:rPr sz="1125" b="0">
                <a:solidFill>
                  <a:srgbClr val="5D7167"/>
                </a:solidFill>
                <a:latin typeface="Arial"/>
                <a:ea typeface="Arial"/>
                <a:cs typeface="Arial"/>
              </a:rPr>
              <a:t>19</a:t>
            </a:r>
          </a:p>
        </p:txBody>
      </p:sp>
      <p:graphicFrame>
        <p:nvGraphicFramePr>
          <p:cNvPr id="6" name=""/>
          <p:cNvGraphicFramePr/>
          <p:nvPr/>
        </p:nvGraphicFramePr>
        <p:xfrm>
          <a:off xmlns:a="http://schemas.openxmlformats.org/drawingml/2006/main" x="609600" y="1476375"/>
          <a:ext xmlns:a="http://schemas.openxmlformats.org/drawingml/2006/main" cx="10972800" cy="4000500"/>
        </p:xfrm>
        <a:graphic xmlns:a="http://schemas.openxmlformats.org/drawingml/2006/main">
          <a:graphicData uri="http://schemas.openxmlformats.org/drawingml/2006/table">
            <a:tbl>
              <a:tblPr/>
              <a:tblGrid>
                <a:gridCol w="3905250"/>
                <a:gridCol w="1619250"/>
                <a:gridCol w="5448300"/>
              </a:tblGrid>
              <a:tr h="666750">
                <a:tc>
                  <a:txBody>
                    <a:bodyPr>
                      <a:noAutofit/>
                    </a:bodyPr>
                    <a:lstStyle/>
                    <a:p>
                      <a:r>
                        <a:rPr sz="1800" b="1">
                          <a:solidFill>
                            <a:srgbClr val="FFFFFF"/>
                          </a:solidFill>
                          <a:latin typeface="Arial"/>
                          <a:ea typeface="Arial"/>
                          <a:cs typeface="Arial"/>
                        </a:rPr>
                        <a:t>Risk</a:t>
                      </a:r>
                    </a:p>
                  </a:txBody>
                  <a:tcPr marL="91440" marR="91440" marT="45720" marB="45720">
                    <a:solidFill>
                      <a:srgbClr val="2B5F4C"/>
                    </a:solidFill>
                  </a:tcPr>
                </a:tc>
                <a:tc>
                  <a:txBody>
                    <a:bodyPr>
                      <a:noAutofit/>
                    </a:bodyPr>
                    <a:lstStyle/>
                    <a:p>
                      <a:r>
                        <a:rPr sz="1800" b="1">
                          <a:solidFill>
                            <a:srgbClr val="FFFFFF"/>
                          </a:solidFill>
                          <a:latin typeface="Arial"/>
                          <a:ea typeface="Arial"/>
                          <a:cs typeface="Arial"/>
                        </a:rPr>
                        <a:t>Owner</a:t>
                      </a:r>
                    </a:p>
                  </a:txBody>
                  <a:tcPr marL="91440" marR="91440" marT="45720" marB="45720">
                    <a:solidFill>
                      <a:srgbClr val="2B5F4C"/>
                    </a:solidFill>
                  </a:tcPr>
                </a:tc>
                <a:tc>
                  <a:txBody>
                    <a:bodyPr>
                      <a:noAutofit/>
                    </a:bodyPr>
                    <a:lstStyle/>
                    <a:p>
                      <a:r>
                        <a:rPr sz="1800" b="1">
                          <a:solidFill>
                            <a:srgbClr val="FFFFFF"/>
                          </a:solidFill>
                          <a:latin typeface="Arial"/>
                          <a:ea typeface="Arial"/>
                          <a:cs typeface="Arial"/>
                        </a:rPr>
                        <a:t>Response</a:t>
                      </a:r>
                    </a:p>
                  </a:txBody>
                  <a:tcPr marL="91440" marR="91440" marT="45720" marB="45720">
                    <a:solidFill>
                      <a:srgbClr val="2B5F4C"/>
                    </a:solidFill>
                  </a:tcPr>
                </a:tc>
              </a:tr>
              <a:tr h="666750">
                <a:tc>
                  <a:txBody>
                    <a:bodyPr>
                      <a:noAutofit/>
                    </a:bodyPr>
                    <a:lstStyle/>
                    <a:p>
                      <a:r>
                        <a:rPr sz="1800" b="0">
                          <a:solidFill>
                            <a:srgbClr val="183D34"/>
                          </a:solidFill>
                          <a:latin typeface="Arial"/>
                          <a:ea typeface="Arial"/>
                          <a:cs typeface="Arial"/>
                        </a:rPr>
                        <a:t>Missing user evidence</a:t>
                      </a:r>
                    </a:p>
                  </a:txBody>
                  <a:tcPr marL="91440" marR="91440" marT="45720" marB="45720">
                    <a:solidFill>
                      <a:srgbClr val="FFFFFF"/>
                    </a:solidFill>
                  </a:tcPr>
                </a:tc>
                <a:tc>
                  <a:txBody>
                    <a:bodyPr>
                      <a:noAutofit/>
                    </a:bodyPr>
                    <a:lstStyle/>
                    <a:p>
                      <a:r>
                        <a:rPr sz="1800" b="0">
                          <a:solidFill>
                            <a:srgbClr val="183D34"/>
                          </a:solidFill>
                          <a:latin typeface="Arial"/>
                          <a:ea typeface="Arial"/>
                          <a:cs typeface="Arial"/>
                        </a:rPr>
                        <a:t>Marsel</a:t>
                      </a:r>
                    </a:p>
                  </a:txBody>
                  <a:tcPr marL="91440" marR="91440" marT="45720" marB="45720">
                    <a:solidFill>
                      <a:srgbClr val="FFFFFF"/>
                    </a:solidFill>
                  </a:tcPr>
                </a:tc>
                <a:tc>
                  <a:txBody>
                    <a:bodyPr>
                      <a:noAutofit/>
                    </a:bodyPr>
                    <a:lstStyle/>
                    <a:p>
                      <a:r>
                        <a:rPr sz="1800" b="0">
                          <a:solidFill>
                            <a:srgbClr val="183D34"/>
                          </a:solidFill>
                          <a:latin typeface="Arial"/>
                          <a:ea typeface="Arial"/>
                          <a:cs typeface="Arial"/>
                        </a:rPr>
                        <a:t>Recruit now and mark any unmet requirement</a:t>
                      </a:r>
                    </a:p>
                  </a:txBody>
                  <a:tcPr marL="91440" marR="91440" marT="45720" marB="45720">
                    <a:solidFill>
                      <a:srgbClr val="FFFFFF"/>
                    </a:solidFill>
                  </a:tcPr>
                </a:tc>
              </a:tr>
              <a:tr h="666750">
                <a:tc>
                  <a:txBody>
                    <a:bodyPr>
                      <a:noAutofit/>
                    </a:bodyPr>
                    <a:lstStyle/>
                    <a:p>
                      <a:r>
                        <a:rPr sz="1800" b="0">
                          <a:solidFill>
                            <a:srgbClr val="183D34"/>
                          </a:solidFill>
                          <a:latin typeface="Arial"/>
                          <a:ea typeface="Arial"/>
                          <a:cs typeface="Arial"/>
                        </a:rPr>
                        <a:t>Scope across web, mobile and ML</a:t>
                      </a:r>
                    </a:p>
                  </a:txBody>
                  <a:tcPr marL="91440" marR="91440" marT="45720" marB="45720">
                    <a:solidFill>
                      <a:srgbClr val="EDF3E5"/>
                    </a:solidFill>
                  </a:tcPr>
                </a:tc>
                <a:tc>
                  <a:txBody>
                    <a:bodyPr>
                      <a:noAutofit/>
                    </a:bodyPr>
                    <a:lstStyle/>
                    <a:p>
                      <a:r>
                        <a:rPr sz="1800" b="0">
                          <a:solidFill>
                            <a:srgbClr val="183D34"/>
                          </a:solidFill>
                          <a:latin typeface="Arial"/>
                          <a:ea typeface="Arial"/>
                          <a:cs typeface="Arial"/>
                        </a:rPr>
                        <a:t>Kazbek</a:t>
                      </a:r>
                    </a:p>
                  </a:txBody>
                  <a:tcPr marL="91440" marR="91440" marT="45720" marB="45720">
                    <a:solidFill>
                      <a:srgbClr val="EDF3E5"/>
                    </a:solidFill>
                  </a:tcPr>
                </a:tc>
                <a:tc>
                  <a:txBody>
                    <a:bodyPr>
                      <a:noAutofit/>
                    </a:bodyPr>
                    <a:lstStyle/>
                    <a:p>
                      <a:r>
                        <a:rPr sz="1800" b="0">
                          <a:solidFill>
                            <a:srgbClr val="183D34"/>
                          </a:solidFill>
                          <a:latin typeface="Arial"/>
                          <a:ea typeface="Arial"/>
                          <a:cs typeface="Arial"/>
                        </a:rPr>
                        <a:t>Share backend and Flutter code, defer payments</a:t>
                      </a:r>
                    </a:p>
                  </a:txBody>
                  <a:tcPr marL="91440" marR="91440" marT="45720" marB="45720">
                    <a:solidFill>
                      <a:srgbClr val="EDF3E5"/>
                    </a:solidFill>
                  </a:tcPr>
                </a:tc>
              </a:tr>
              <a:tr h="666750">
                <a:tc>
                  <a:txBody>
                    <a:bodyPr>
                      <a:noAutofit/>
                    </a:bodyPr>
                    <a:lstStyle/>
                    <a:p>
                      <a:r>
                        <a:rPr sz="1800" b="0">
                          <a:solidFill>
                            <a:srgbClr val="183D34"/>
                          </a:solidFill>
                          <a:latin typeface="Arial"/>
                          <a:ea typeface="Arial"/>
                          <a:cs typeface="Arial"/>
                        </a:rPr>
                        <a:t>Insufficient domain labels</a:t>
                      </a:r>
                    </a:p>
                  </a:txBody>
                  <a:tcPr marL="91440" marR="91440" marT="45720" marB="45720">
                    <a:solidFill>
                      <a:srgbClr val="FFFFFF"/>
                    </a:solidFill>
                  </a:tcPr>
                </a:tc>
                <a:tc>
                  <a:txBody>
                    <a:bodyPr>
                      <a:noAutofit/>
                    </a:bodyPr>
                    <a:lstStyle/>
                    <a:p>
                      <a:r>
                        <a:rPr sz="1800" b="0">
                          <a:solidFill>
                            <a:srgbClr val="183D34"/>
                          </a:solidFill>
                          <a:latin typeface="Arial"/>
                          <a:ea typeface="Arial"/>
                          <a:cs typeface="Arial"/>
                        </a:rPr>
                        <a:t>Daryn</a:t>
                      </a:r>
                    </a:p>
                  </a:txBody>
                  <a:tcPr marL="91440" marR="91440" marT="45720" marB="45720">
                    <a:solidFill>
                      <a:srgbClr val="FFFFFF"/>
                    </a:solidFill>
                  </a:tcPr>
                </a:tc>
                <a:tc>
                  <a:txBody>
                    <a:bodyPr>
                      <a:noAutofit/>
                    </a:bodyPr>
                    <a:lstStyle/>
                    <a:p>
                      <a:r>
                        <a:rPr sz="1800" b="0">
                          <a:solidFill>
                            <a:srgbClr val="183D34"/>
                          </a:solidFill>
                          <a:latin typeface="Arial"/>
                          <a:ea typeface="Arial"/>
                          <a:cs typeface="Arial"/>
                        </a:rPr>
                        <a:t>Track coverage and retain manual selection</a:t>
                      </a:r>
                    </a:p>
                  </a:txBody>
                  <a:tcPr marL="91440" marR="91440" marT="45720" marB="45720">
                    <a:solidFill>
                      <a:srgbClr val="FFFFFF"/>
                    </a:solidFill>
                  </a:tcPr>
                </a:tc>
              </a:tr>
              <a:tr h="666750">
                <a:tc>
                  <a:txBody>
                    <a:bodyPr>
                      <a:noAutofit/>
                    </a:bodyPr>
                    <a:lstStyle/>
                    <a:p>
                      <a:r>
                        <a:rPr sz="1800" b="0">
                          <a:solidFill>
                            <a:srgbClr val="183D34"/>
                          </a:solidFill>
                          <a:latin typeface="Arial"/>
                          <a:ea typeface="Arial"/>
                          <a:cs typeface="Arial"/>
                        </a:rPr>
                        <a:t>Incorrect assignment or access</a:t>
                      </a:r>
                    </a:p>
                  </a:txBody>
                  <a:tcPr marL="91440" marR="91440" marT="45720" marB="45720">
                    <a:solidFill>
                      <a:srgbClr val="EDF3E5"/>
                    </a:solidFill>
                  </a:tcPr>
                </a:tc>
                <a:tc>
                  <a:txBody>
                    <a:bodyPr>
                      <a:noAutofit/>
                    </a:bodyPr>
                    <a:lstStyle/>
                    <a:p>
                      <a:r>
                        <a:rPr sz="1800" b="0">
                          <a:solidFill>
                            <a:srgbClr val="183D34"/>
                          </a:solidFill>
                          <a:latin typeface="Arial"/>
                          <a:ea typeface="Arial"/>
                          <a:cs typeface="Arial"/>
                        </a:rPr>
                        <a:t>Daryn</a:t>
                      </a:r>
                    </a:p>
                  </a:txBody>
                  <a:tcPr marL="91440" marR="91440" marT="45720" marB="45720">
                    <a:solidFill>
                      <a:srgbClr val="EDF3E5"/>
                    </a:solidFill>
                  </a:tcPr>
                </a:tc>
                <a:tc>
                  <a:txBody>
                    <a:bodyPr>
                      <a:noAutofit/>
                    </a:bodyPr>
                    <a:lstStyle/>
                    <a:p>
                      <a:r>
                        <a:rPr sz="1800" b="0">
                          <a:solidFill>
                            <a:srgbClr val="183D34"/>
                          </a:solidFill>
                          <a:latin typeface="Arial"/>
                          <a:ea typeface="Arial"/>
                          <a:cs typeface="Arial"/>
                        </a:rPr>
                        <a:t>Transactions, constraints and negative tests</a:t>
                      </a:r>
                    </a:p>
                  </a:txBody>
                  <a:tcPr marL="91440" marR="91440" marT="45720" marB="45720">
                    <a:solidFill>
                      <a:srgbClr val="EDF3E5"/>
                    </a:solidFill>
                  </a:tcPr>
                </a:tc>
              </a:tr>
              <a:tr h="666750">
                <a:tc>
                  <a:txBody>
                    <a:bodyPr>
                      <a:noAutofit/>
                    </a:bodyPr>
                    <a:lstStyle/>
                    <a:p>
                      <a:r>
                        <a:rPr sz="1800" b="0">
                          <a:solidFill>
                            <a:srgbClr val="183D34"/>
                          </a:solidFill>
                          <a:latin typeface="Arial"/>
                          <a:ea typeface="Arial"/>
                          <a:cs typeface="Arial"/>
                        </a:rPr>
                        <a:t>Late review or tracker setup</a:t>
                      </a:r>
                    </a:p>
                  </a:txBody>
                  <a:tcPr marL="91440" marR="91440" marT="45720" marB="45720">
                    <a:solidFill>
                      <a:srgbClr val="FFFFFF"/>
                    </a:solidFill>
                  </a:tcPr>
                </a:tc>
                <a:tc>
                  <a:txBody>
                    <a:bodyPr>
                      <a:noAutofit/>
                    </a:bodyPr>
                    <a:lstStyle/>
                    <a:p>
                      <a:r>
                        <a:rPr sz="1800" b="0">
                          <a:solidFill>
                            <a:srgbClr val="183D34"/>
                          </a:solidFill>
                          <a:latin typeface="Arial"/>
                          <a:ea typeface="Arial"/>
                          <a:cs typeface="Arial"/>
                        </a:rPr>
                        <a:t>Marsel</a:t>
                      </a:r>
                    </a:p>
                  </a:txBody>
                  <a:tcPr marL="91440" marR="91440" marT="45720" marB="45720">
                    <a:solidFill>
                      <a:srgbClr val="FFFFFF"/>
                    </a:solidFill>
                  </a:tcPr>
                </a:tc>
                <a:tc>
                  <a:txBody>
                    <a:bodyPr>
                      <a:noAutofit/>
                    </a:bodyPr>
                    <a:lstStyle/>
                    <a:p>
                      <a:r>
                        <a:rPr sz="1800" b="0">
                          <a:solidFill>
                            <a:srgbClr val="183D34"/>
                          </a:solidFill>
                          <a:latin typeface="Arial"/>
                          <a:ea typeface="Arial"/>
                          <a:cs typeface="Arial"/>
                        </a:rPr>
                        <a:t>Provide actual artifacts early and record decisions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463464934"/>
      </p:ext>
    </p:extLst>
  </p:cSld>
</p:sld>
</file>

<file path=ppt/slides/slide20.xml><?xml version="1.0" encoding="utf-8"?>
<p:sld xmlns:p="http://schemas.openxmlformats.org/presentationml/2006/main">
  <p:cSld>
    <p:bg>
      <p:bgPr>
        <a:solidFill xmlns:a="http://schemas.openxmlformats.org/drawingml/2006/main">
          <a:srgbClr val="FAFCF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92A8DC5-9A31-4E38-AC02-82D8EA389C92}"/>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D34"/>
                </a:solidFill>
                <a:latin typeface="Arial"/>
                <a:ea typeface="Arial"/>
                <a:cs typeface="Arial"/>
              </a:defRPr>
            </a:pPr>
            <a:r>
              <a:rPr sz="3150" b="1">
                <a:solidFill>
                  <a:srgbClr val="183D34"/>
                </a:solidFill>
                <a:latin typeface="Arial"/>
                <a:ea typeface="Arial"/>
                <a:cs typeface="Arial"/>
              </a:rPr>
              <a:t>Repository and review workflow</a:t>
            </a:r>
          </a:p>
        </p:txBody>
      </p:sp>
      <p:sp>
        <p:nvSpPr>
          <p:cNvPr id="2" name="">
            <a:extLst xmlns:a="http://schemas.openxmlformats.org/drawingml/2006/main">
              <a:ext uri="{FF2B5EF4-FFF2-40B4-BE49-F238E27FC236}">
                <a16:creationId xmlns:a16="http://schemas.microsoft.com/office/drawing/2014/main" id="{03624208-33D9-4A05-9B60-EB1B8F5A261B}"/>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D7167"/>
                </a:solidFill>
                <a:latin typeface="Arial"/>
                <a:ea typeface="Arial"/>
                <a:cs typeface="Arial"/>
              </a:defRPr>
            </a:pPr>
            <a:r>
              <a:rPr sz="1125" b="0">
                <a:solidFill>
                  <a:srgbClr val="5D7167"/>
                </a:solidFill>
                <a:latin typeface="Arial"/>
                <a:ea typeface="Arial"/>
                <a:cs typeface="Arial"/>
              </a:rPr>
              <a:t>20</a:t>
            </a:r>
          </a:p>
        </p:txBody>
      </p:sp>
      <p:sp>
        <p:nvSpPr>
          <p:cNvPr id="3" name="">
            <a:extLst xmlns:a="http://schemas.openxmlformats.org/drawingml/2006/main">
              <a:ext uri="{FF2B5EF4-FFF2-40B4-BE49-F238E27FC236}">
                <a16:creationId xmlns:a16="http://schemas.microsoft.com/office/drawing/2014/main" id="{884B6A6B-9652-441B-B39A-F435383CCA14}"/>
              </a:ext>
            </a:extLst>
          </p:cNvPr>
          <p:cNvSpPr>
            <a:spLocks xmlns:a="http://schemas.openxmlformats.org/drawingml/2006/main" noGrp="1"/>
          </p:cNvSpPr>
          <p:nvPr/>
        </p:nvSpPr>
        <p:spPr>
          <a:xfrm xmlns:a="http://schemas.openxmlformats.org/drawingml/2006/main">
            <a:off x="628650" y="15716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D34"/>
                </a:solidFill>
                <a:latin typeface="Arial"/>
                <a:ea typeface="Arial"/>
                <a:cs typeface="Arial"/>
              </a:defRPr>
            </a:pPr>
            <a:r>
              <a:rPr sz="2175" b="1">
                <a:solidFill>
                  <a:srgbClr val="183D34"/>
                </a:solidFill>
                <a:latin typeface="Arial"/>
                <a:ea typeface="Arial"/>
                <a:cs typeface="Arial"/>
              </a:rPr>
              <a:t>One traceable chain</a:t>
            </a:r>
          </a:p>
        </p:txBody>
      </p:sp>
      <p:sp>
        <p:nvSpPr>
          <p:cNvPr id="4" name="">
            <a:extLst xmlns:a="http://schemas.openxmlformats.org/drawingml/2006/main">
              <a:ext uri="{FF2B5EF4-FFF2-40B4-BE49-F238E27FC236}">
                <a16:creationId xmlns:a16="http://schemas.microsoft.com/office/drawing/2014/main" id="{A159E496-DDF2-4700-AEE9-5E3399E56985}"/>
              </a:ext>
            </a:extLst>
          </p:cNvPr>
          <p:cNvSpPr>
            <a:spLocks xmlns:a="http://schemas.openxmlformats.org/drawingml/2006/main" noGrp="1"/>
          </p:cNvSpPr>
          <p:nvPr/>
        </p:nvSpPr>
        <p:spPr>
          <a:xfrm xmlns:a="http://schemas.openxmlformats.org/drawingml/2006/main">
            <a:off x="628650" y="2124075"/>
            <a:ext cx="1066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D7167"/>
                </a:solidFill>
                <a:latin typeface="Arial"/>
                <a:ea typeface="Arial"/>
                <a:cs typeface="Arial"/>
              </a:defRPr>
            </a:pPr>
            <a:r>
              <a:rPr sz="2025" b="0">
                <a:solidFill>
                  <a:srgbClr val="5D7167"/>
                </a:solidFill>
                <a:latin typeface="Arial"/>
                <a:ea typeface="Arial"/>
                <a:cs typeface="Arial"/>
              </a:rPr>
              <a:t>Real YouTrack issue, named owner, acceptance criteria, task branch, PR, peer review, verified artifact and linked completion.</a:t>
            </a:r>
          </a:p>
        </p:txBody>
      </p:sp>
      <p:sp>
        <p:nvSpPr>
          <p:cNvPr id="5" name="">
            <a:extLst xmlns:a="http://schemas.openxmlformats.org/drawingml/2006/main">
              <a:ext uri="{FF2B5EF4-FFF2-40B4-BE49-F238E27FC236}">
                <a16:creationId xmlns:a16="http://schemas.microsoft.com/office/drawing/2014/main" id="{678783AC-0FE0-4F48-9218-8C1E9843DB18}"/>
              </a:ext>
            </a:extLst>
          </p:cNvPr>
          <p:cNvSpPr>
            <a:spLocks xmlns:a="http://schemas.openxmlformats.org/drawingml/2006/main" noGrp="1"/>
          </p:cNvSpPr>
          <p:nvPr/>
        </p:nvSpPr>
        <p:spPr>
          <a:xfrm xmlns:a="http://schemas.openxmlformats.org/drawingml/2006/main">
            <a:off x="628650" y="38100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D34"/>
                </a:solidFill>
                <a:latin typeface="Arial"/>
                <a:ea typeface="Arial"/>
                <a:cs typeface="Arial"/>
              </a:defRPr>
            </a:pPr>
            <a:r>
              <a:rPr sz="2175" b="1">
                <a:solidFill>
                  <a:srgbClr val="183D34"/>
                </a:solidFill>
                <a:latin typeface="Arial"/>
                <a:ea typeface="Arial"/>
                <a:cs typeface="Arial"/>
              </a:rPr>
              <a:t>Exact submission versions</a:t>
            </a:r>
          </a:p>
        </p:txBody>
      </p:sp>
      <p:sp>
        <p:nvSpPr>
          <p:cNvPr id="6" name="">
            <a:extLst xmlns:a="http://schemas.openxmlformats.org/drawingml/2006/main">
              <a:ext uri="{FF2B5EF4-FFF2-40B4-BE49-F238E27FC236}">
                <a16:creationId xmlns:a16="http://schemas.microsoft.com/office/drawing/2014/main" id="{9704E5F1-CECD-4416-9B13-F8EA5D41A1A9}"/>
              </a:ext>
            </a:extLst>
          </p:cNvPr>
          <p:cNvSpPr>
            <a:spLocks xmlns:a="http://schemas.openxmlformats.org/drawingml/2006/main" noGrp="1"/>
          </p:cNvSpPr>
          <p:nvPr/>
        </p:nvSpPr>
        <p:spPr>
          <a:xfrm xmlns:a="http://schemas.openxmlformats.org/drawingml/2006/main">
            <a:off x="628650" y="4362450"/>
            <a:ext cx="1066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D7167"/>
                </a:solidFill>
                <a:latin typeface="Arial"/>
                <a:ea typeface="Arial"/>
                <a:cs typeface="Arial"/>
              </a:defRPr>
            </a:pPr>
            <a:r>
              <a:rPr sz="2025" b="0">
                <a:solidFill>
                  <a:srgbClr val="5D7167"/>
                </a:solidFill>
                <a:latin typeface="Arial"/>
                <a:ea typeface="Arial"/>
                <a:cs typeface="Arial"/>
              </a:rPr>
              <a:t>Tag the actual reviewed commit as pre-defense-1, pre-defense-2 and final-pre-defense. Keep previous tags unchanged.</a:t>
            </a:r>
          </a:p>
        </p:txBody>
      </p:sp>
    </p:spTree>
    <p:extLst>
      <p:ext uri="{BB962C8B-B14F-4D97-AF65-F5344CB8AC3E}">
        <p14:creationId xmlns:p14="http://schemas.microsoft.com/office/powerpoint/2010/main" val="552136403"/>
      </p:ext>
    </p:extLst>
  </p:cSld>
</p:sld>
</file>

<file path=ppt/slides/slide21.xml><?xml version="1.0" encoding="utf-8"?>
<p:sld xmlns:p="http://schemas.openxmlformats.org/presentationml/2006/main">
  <p:cSld>
    <p:bg>
      <p:bgPr>
        <a:solidFill xmlns:a="http://schemas.openxmlformats.org/drawingml/2006/main">
          <a:srgbClr val="FAFC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F749E09-92B4-41B0-B026-EBB385FB8D60}"/>
              </a:ext>
            </a:extLst>
          </p:cNvPr>
          <p:cNvSpPr>
            <a:spLocks xmlns:a="http://schemas.openxmlformats.org/drawingml/2006/main" noGrp="1"/>
          </p:cNvSpPr>
          <p:nvPr/>
        </p:nvSpPr>
        <p:spPr>
          <a:xfrm xmlns:a="http://schemas.openxmlformats.org/drawingml/2006/main">
            <a:off x="609600" y="400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D34"/>
                </a:solidFill>
                <a:latin typeface="Arial"/>
                <a:ea typeface="Arial"/>
                <a:cs typeface="Arial"/>
              </a:defRPr>
            </a:pPr>
            <a:r>
              <a:rPr sz="3150" b="1">
                <a:solidFill>
                  <a:srgbClr val="183D34"/>
                </a:solidFill>
                <a:latin typeface="Arial"/>
                <a:ea typeface="Arial"/>
                <a:cs typeface="Arial"/>
              </a:rPr>
              <a:t>Supervisor review and submission readiness</a:t>
            </a:r>
          </a:p>
        </p:txBody>
      </p:sp>
      <p:sp>
        <p:nvSpPr>
          <p:cNvPr id="2" name="">
            <a:extLst xmlns:a="http://schemas.openxmlformats.org/drawingml/2006/main">
              <a:ext uri="{FF2B5EF4-FFF2-40B4-BE49-F238E27FC236}">
                <a16:creationId xmlns:a16="http://schemas.microsoft.com/office/drawing/2014/main" id="{D3FD4352-C8AC-4E43-A922-A6CB38D6E5A6}"/>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D7167"/>
                </a:solidFill>
                <a:latin typeface="Arial"/>
                <a:ea typeface="Arial"/>
                <a:cs typeface="Arial"/>
              </a:defRPr>
            </a:pPr>
            <a:r>
              <a:rPr sz="1125" b="0">
                <a:solidFill>
                  <a:srgbClr val="5D7167"/>
                </a:solidFill>
                <a:latin typeface="Arial"/>
                <a:ea typeface="Arial"/>
                <a:cs typeface="Arial"/>
              </a:rPr>
              <a:t>21</a:t>
            </a:r>
          </a:p>
        </p:txBody>
      </p:sp>
      <p:sp>
        <p:nvSpPr>
          <p:cNvPr id="3" name="">
            <a:extLst xmlns:a="http://schemas.openxmlformats.org/drawingml/2006/main">
              <a:ext uri="{FF2B5EF4-FFF2-40B4-BE49-F238E27FC236}">
                <a16:creationId xmlns:a16="http://schemas.microsoft.com/office/drawing/2014/main" id="{551DE8DE-C75F-488F-A6E6-9BBA737D4AD7}"/>
              </a:ext>
            </a:extLst>
          </p:cNvPr>
          <p:cNvSpPr>
            <a:spLocks xmlns:a="http://schemas.openxmlformats.org/drawingml/2006/main" noGrp="1"/>
          </p:cNvSpPr>
          <p:nvPr/>
        </p:nvSpPr>
        <p:spPr>
          <a:xfrm xmlns:a="http://schemas.openxmlformats.org/drawingml/2006/main">
            <a:off x="628650" y="1619250"/>
            <a:ext cx="5000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3D34"/>
                </a:solidFill>
                <a:latin typeface="Arial"/>
                <a:ea typeface="Arial"/>
                <a:cs typeface="Arial"/>
              </a:defRPr>
            </a:pPr>
            <a:r>
              <a:rPr sz="2250" b="1">
                <a:solidFill>
                  <a:srgbClr val="183D34"/>
                </a:solidFill>
                <a:latin typeface="Arial"/>
                <a:ea typeface="Arial"/>
                <a:cs typeface="Arial"/>
              </a:rPr>
              <a:t>Prepared for review</a:t>
            </a:r>
          </a:p>
        </p:txBody>
      </p:sp>
      <p:sp>
        <p:nvSpPr>
          <p:cNvPr id="4" name="">
            <a:extLst xmlns:a="http://schemas.openxmlformats.org/drawingml/2006/main">
              <a:ext uri="{FF2B5EF4-FFF2-40B4-BE49-F238E27FC236}">
                <a16:creationId xmlns:a16="http://schemas.microsoft.com/office/drawing/2014/main" id="{71691641-6514-4C3C-BE51-6FFB68E272DF}"/>
              </a:ext>
            </a:extLst>
          </p:cNvPr>
          <p:cNvSpPr>
            <a:spLocks xmlns:a="http://schemas.openxmlformats.org/drawingml/2006/main" noGrp="1"/>
          </p:cNvSpPr>
          <p:nvPr/>
        </p:nvSpPr>
        <p:spPr>
          <a:xfrm xmlns:a="http://schemas.openxmlformats.org/drawingml/2006/main">
            <a:off x="628650" y="2257425"/>
            <a:ext cx="4953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D34"/>
                </a:solidFill>
                <a:latin typeface="Arial"/>
                <a:ea typeface="Arial"/>
                <a:cs typeface="Arial"/>
              </a:defRPr>
            </a:pPr>
            <a:r>
              <a:rPr sz="2100" b="0">
                <a:solidFill>
                  <a:srgbClr val="183D34"/>
                </a:solidFill>
                <a:latin typeface="Arial"/>
                <a:ea typeface="Arial"/>
                <a:cs typeface="Arial"/>
              </a:rPr>
              <a:t>Proposal and literature analysis</a:t>
            </a:r>
          </a:p>
          <a:p xmlns:a="http://schemas.openxmlformats.org/drawingml/2006/main">
            <a:pPr>
              <a:defRPr sz="2100" b="0">
                <a:solidFill>
                  <a:srgbClr val="183D34"/>
                </a:solidFill>
                <a:latin typeface="Arial"/>
                <a:ea typeface="Arial"/>
                <a:cs typeface="Arial"/>
              </a:defRPr>
            </a:pPr>
            <a:r>
              <a:rPr sz="2100" b="0">
                <a:solidFill>
                  <a:srgbClr val="183D34"/>
                </a:solidFill>
                <a:latin typeface="Arial"/>
                <a:ea typeface="Arial"/>
                <a:cs typeface="Arial"/>
              </a:rPr>
              <a:t>Comparisons and requirements</a:t>
            </a:r>
          </a:p>
          <a:p xmlns:a="http://schemas.openxmlformats.org/drawingml/2006/main">
            <a:pPr>
              <a:defRPr sz="2100" b="0">
                <a:solidFill>
                  <a:srgbClr val="183D34"/>
                </a:solidFill>
                <a:latin typeface="Arial"/>
                <a:ea typeface="Arial"/>
                <a:cs typeface="Arial"/>
              </a:defRPr>
            </a:pPr>
            <a:r>
              <a:rPr sz="2100" b="0">
                <a:solidFill>
                  <a:srgbClr val="183D34"/>
                </a:solidFill>
                <a:latin typeface="Arial"/>
                <a:ea typeface="Arial"/>
                <a:cs typeface="Arial"/>
              </a:rPr>
              <a:t>Editable diagrams and prototype</a:t>
            </a:r>
          </a:p>
          <a:p xmlns:a="http://schemas.openxmlformats.org/drawingml/2006/main">
            <a:pPr>
              <a:defRPr sz="2100" b="0">
                <a:solidFill>
                  <a:srgbClr val="183D34"/>
                </a:solidFill>
                <a:latin typeface="Arial"/>
                <a:ea typeface="Arial"/>
                <a:cs typeface="Arial"/>
              </a:defRPr>
            </a:pPr>
            <a:r>
              <a:rPr sz="2100" b="0">
                <a:solidFill>
                  <a:srgbClr val="183D34"/>
                </a:solidFill>
                <a:latin typeface="Arial"/>
                <a:ea typeface="Arial"/>
                <a:cs typeface="Arial"/>
              </a:rPr>
              <a:t>Verification plan and task backlog</a:t>
            </a:r>
          </a:p>
        </p:txBody>
      </p:sp>
      <p:sp>
        <p:nvSpPr>
          <p:cNvPr id="5" name="">
            <a:extLst xmlns:a="http://schemas.openxmlformats.org/drawingml/2006/main">
              <a:ext uri="{FF2B5EF4-FFF2-40B4-BE49-F238E27FC236}">
                <a16:creationId xmlns:a16="http://schemas.microsoft.com/office/drawing/2014/main" id="{0F70206D-0301-4A4C-8BA8-509592CE90D9}"/>
              </a:ext>
            </a:extLst>
          </p:cNvPr>
          <p:cNvSpPr>
            <a:spLocks xmlns:a="http://schemas.openxmlformats.org/drawingml/2006/main" noGrp="1"/>
          </p:cNvSpPr>
          <p:nvPr/>
        </p:nvSpPr>
        <p:spPr>
          <a:xfrm xmlns:a="http://schemas.openxmlformats.org/drawingml/2006/main">
            <a:off x="6477000" y="1619250"/>
            <a:ext cx="5000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3D34"/>
                </a:solidFill>
                <a:latin typeface="Arial"/>
                <a:ea typeface="Arial"/>
                <a:cs typeface="Arial"/>
              </a:defRPr>
            </a:pPr>
            <a:r>
              <a:rPr sz="2250" b="1">
                <a:solidFill>
                  <a:srgbClr val="183D34"/>
                </a:solidFill>
                <a:latin typeface="Arial"/>
                <a:ea typeface="Arial"/>
                <a:cs typeface="Arial"/>
              </a:rPr>
              <a:t>Still requiring real evidence</a:t>
            </a:r>
          </a:p>
        </p:txBody>
      </p:sp>
      <p:sp>
        <p:nvSpPr>
          <p:cNvPr id="6" name="">
            <a:extLst xmlns:a="http://schemas.openxmlformats.org/drawingml/2006/main">
              <a:ext uri="{FF2B5EF4-FFF2-40B4-BE49-F238E27FC236}">
                <a16:creationId xmlns:a16="http://schemas.microsoft.com/office/drawing/2014/main" id="{BA547496-ED8A-4A01-90AE-DDD376B7AB63}"/>
              </a:ext>
            </a:extLst>
          </p:cNvPr>
          <p:cNvSpPr>
            <a:spLocks xmlns:a="http://schemas.openxmlformats.org/drawingml/2006/main" noGrp="1"/>
          </p:cNvSpPr>
          <p:nvPr/>
        </p:nvSpPr>
        <p:spPr>
          <a:xfrm xmlns:a="http://schemas.openxmlformats.org/drawingml/2006/main">
            <a:off x="6477000" y="2257425"/>
            <a:ext cx="4953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D34"/>
                </a:solidFill>
                <a:latin typeface="Arial"/>
                <a:ea typeface="Arial"/>
                <a:cs typeface="Arial"/>
              </a:defRPr>
            </a:pPr>
            <a:r>
              <a:rPr sz="2100" b="0">
                <a:solidFill>
                  <a:srgbClr val="183D34"/>
                </a:solidFill>
                <a:latin typeface="Arial"/>
                <a:ea typeface="Arial"/>
                <a:cs typeface="Arial"/>
              </a:rPr>
              <a:t>3–5 user discussions or client agreement</a:t>
            </a:r>
          </a:p>
          <a:p xmlns:a="http://schemas.openxmlformats.org/drawingml/2006/main">
            <a:pPr>
              <a:defRPr sz="2100" b="0">
                <a:solidFill>
                  <a:srgbClr val="183D34"/>
                </a:solidFill>
                <a:latin typeface="Arial"/>
                <a:ea typeface="Arial"/>
                <a:cs typeface="Arial"/>
              </a:defRPr>
            </a:pPr>
            <a:r>
              <a:rPr sz="2100" b="0">
                <a:solidFill>
                  <a:srgbClr val="183D34"/>
                </a:solidFill>
                <a:latin typeface="Arial"/>
                <a:ea typeface="Arial"/>
                <a:cs typeface="Arial"/>
              </a:rPr>
              <a:t>Supervisor comments and revisions</a:t>
            </a:r>
          </a:p>
          <a:p xmlns:a="http://schemas.openxmlformats.org/drawingml/2006/main">
            <a:pPr>
              <a:defRPr sz="2100" b="0">
                <a:solidFill>
                  <a:srgbClr val="183D34"/>
                </a:solidFill>
                <a:latin typeface="Arial"/>
                <a:ea typeface="Arial"/>
                <a:cs typeface="Arial"/>
              </a:defRPr>
            </a:pPr>
            <a:r>
              <a:rPr sz="2100" b="0">
                <a:solidFill>
                  <a:srgbClr val="183D34"/>
                </a:solidFill>
                <a:latin typeface="Arial"/>
                <a:ea typeface="Arial"/>
                <a:cs typeface="Arial"/>
              </a:rPr>
              <a:t>Live YouTrack with assigned tasks</a:t>
            </a:r>
          </a:p>
          <a:p xmlns:a="http://schemas.openxmlformats.org/drawingml/2006/main">
            <a:pPr>
              <a:defRPr sz="2100" b="0">
                <a:solidFill>
                  <a:srgbClr val="183D34"/>
                </a:solidFill>
                <a:latin typeface="Arial"/>
                <a:ea typeface="Arial"/>
                <a:cs typeface="Arial"/>
              </a:defRPr>
            </a:pPr>
            <a:r>
              <a:rPr sz="2100" b="0">
                <a:solidFill>
                  <a:srgbClr val="183D34"/>
                </a:solidFill>
                <a:latin typeface="Arial"/>
                <a:ea typeface="Arial"/>
                <a:cs typeface="Arial"/>
              </a:rPr>
              <a:t>Individual contributions and peer reviews</a:t>
            </a:r>
          </a:p>
        </p:txBody>
      </p:sp>
      <p:sp>
        <p:nvSpPr>
          <p:cNvPr id="7" name="">
            <a:extLst xmlns:a="http://schemas.openxmlformats.org/drawingml/2006/main">
              <a:ext uri="{FF2B5EF4-FFF2-40B4-BE49-F238E27FC236}">
                <a16:creationId xmlns:a16="http://schemas.microsoft.com/office/drawing/2014/main" id="{DFBECE2E-AFE7-4527-952C-5C7C13B2B676}"/>
              </a:ext>
            </a:extLst>
          </p:cNvPr>
          <p:cNvSpPr>
            <a:spLocks xmlns:a="http://schemas.openxmlformats.org/drawingml/2006/main" noGrp="1"/>
          </p:cNvSpPr>
          <p:nvPr/>
        </p:nvSpPr>
        <p:spPr>
          <a:xfrm xmlns:a="http://schemas.openxmlformats.org/drawingml/2006/main">
            <a:off x="628650" y="5810250"/>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83D34"/>
                </a:solidFill>
                <a:latin typeface="Arial"/>
                <a:ea typeface="Arial"/>
                <a:cs typeface="Arial"/>
              </a:defRPr>
            </a:pPr>
            <a:r>
              <a:rPr sz="1950" b="1">
                <a:solidFill>
                  <a:srgbClr val="183D34"/>
                </a:solidFill>
                <a:latin typeface="Arial"/>
                <a:ea typeface="Arial"/>
                <a:cs typeface="Arial"/>
              </a:rPr>
              <a:t>Supervisor: Elvira Aitmukhambetovna</a:t>
            </a:r>
          </a:p>
        </p:txBody>
      </p:sp>
    </p:spTree>
    <p:extLst>
      <p:ext uri="{BB962C8B-B14F-4D97-AF65-F5344CB8AC3E}">
        <p14:creationId xmlns:p14="http://schemas.microsoft.com/office/powerpoint/2010/main" val="10934433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2026-10-21T09:18:10.6190000Z</dcterms:created>
  <dcterms:modified xsi:type="dcterms:W3CDTF">2026-10-21T09:18:10.6200000Z</dcterms:modified>
</coreProperties>
</file>